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Calibri (MS)" panose="020B0604020202020204" charset="0"/>
      <p:regular r:id="rId26"/>
    </p:embeddedFont>
    <p:embeddedFont>
      <p:font typeface="Calibri (MS) Bold" panose="020B0604020202020204" charset="0"/>
      <p:regular r:id="rId27"/>
    </p:embeddedFont>
    <p:embeddedFont>
      <p:font typeface="Calibri (MS) Bold Italics" panose="020B0604020202020204" charset="0"/>
      <p:regular r:id="rId28"/>
    </p:embeddedFont>
    <p:embeddedFont>
      <p:font typeface="Calibri (MS)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92275" y="-2752725"/>
            <a:ext cx="8248650" cy="8248650"/>
            <a:chOff x="0" y="0"/>
            <a:chExt cx="10998200" cy="109982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563EB">
                <a:alpha val="5882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998200" cy="10998200"/>
            </a:xfrm>
            <a:custGeom>
              <a:avLst/>
              <a:gdLst/>
              <a:ahLst/>
              <a:cxnLst/>
              <a:rect l="l" t="t" r="r" b="b"/>
              <a:pathLst>
                <a:path w="10998200" h="10998200">
                  <a:moveTo>
                    <a:pt x="0" y="5499100"/>
                  </a:moveTo>
                  <a:cubicBezTo>
                    <a:pt x="0" y="2462022"/>
                    <a:pt x="2462022" y="0"/>
                    <a:pt x="5499100" y="0"/>
                  </a:cubicBezTo>
                  <a:lnTo>
                    <a:pt x="5499100" y="12700"/>
                  </a:lnTo>
                  <a:lnTo>
                    <a:pt x="5499100" y="0"/>
                  </a:lnTo>
                  <a:cubicBezTo>
                    <a:pt x="8536178" y="0"/>
                    <a:pt x="10998200" y="2462022"/>
                    <a:pt x="10998200" y="5499100"/>
                  </a:cubicBezTo>
                  <a:lnTo>
                    <a:pt x="10985500" y="5499100"/>
                  </a:lnTo>
                  <a:lnTo>
                    <a:pt x="10998200" y="5499100"/>
                  </a:lnTo>
                  <a:cubicBezTo>
                    <a:pt x="10998200" y="8536178"/>
                    <a:pt x="8536178" y="10998200"/>
                    <a:pt x="5499100" y="10998200"/>
                  </a:cubicBezTo>
                  <a:lnTo>
                    <a:pt x="5499100" y="10985500"/>
                  </a:lnTo>
                  <a:lnTo>
                    <a:pt x="5499100" y="10998200"/>
                  </a:lnTo>
                  <a:cubicBezTo>
                    <a:pt x="2462022" y="10998200"/>
                    <a:pt x="0" y="8536178"/>
                    <a:pt x="0" y="5499100"/>
                  </a:cubicBezTo>
                  <a:lnTo>
                    <a:pt x="12700" y="5499100"/>
                  </a:lnTo>
                  <a:lnTo>
                    <a:pt x="25400" y="5499100"/>
                  </a:lnTo>
                  <a:lnTo>
                    <a:pt x="12700" y="5499100"/>
                  </a:lnTo>
                  <a:lnTo>
                    <a:pt x="0" y="5499100"/>
                  </a:lnTo>
                  <a:moveTo>
                    <a:pt x="25400" y="5499100"/>
                  </a:moveTo>
                  <a:cubicBezTo>
                    <a:pt x="25400" y="5506085"/>
                    <a:pt x="19685" y="5511800"/>
                    <a:pt x="12700" y="5511800"/>
                  </a:cubicBezTo>
                  <a:cubicBezTo>
                    <a:pt x="5715" y="5511800"/>
                    <a:pt x="0" y="5506085"/>
                    <a:pt x="0" y="5499100"/>
                  </a:cubicBezTo>
                  <a:cubicBezTo>
                    <a:pt x="0" y="5492115"/>
                    <a:pt x="5715" y="5486400"/>
                    <a:pt x="12700" y="5486400"/>
                  </a:cubicBezTo>
                  <a:cubicBezTo>
                    <a:pt x="19685" y="5486400"/>
                    <a:pt x="25400" y="5492115"/>
                    <a:pt x="25400" y="5499100"/>
                  </a:cubicBezTo>
                  <a:cubicBezTo>
                    <a:pt x="25400" y="8522081"/>
                    <a:pt x="2476119" y="10972800"/>
                    <a:pt x="5499100" y="10972800"/>
                  </a:cubicBezTo>
                  <a:cubicBezTo>
                    <a:pt x="8522081" y="10972800"/>
                    <a:pt x="10972800" y="8522081"/>
                    <a:pt x="10972800" y="5499100"/>
                  </a:cubicBezTo>
                  <a:cubicBezTo>
                    <a:pt x="10972800" y="2476119"/>
                    <a:pt x="8522081" y="25400"/>
                    <a:pt x="5499100" y="25400"/>
                  </a:cubicBezTo>
                  <a:lnTo>
                    <a:pt x="5499100" y="12700"/>
                  </a:lnTo>
                  <a:lnTo>
                    <a:pt x="5499100" y="25400"/>
                  </a:lnTo>
                  <a:cubicBezTo>
                    <a:pt x="2476119" y="25400"/>
                    <a:pt x="25400" y="2476119"/>
                    <a:pt x="25400" y="5499100"/>
                  </a:cubicBezTo>
                  <a:close/>
                </a:path>
              </a:pathLst>
            </a:custGeom>
            <a:solidFill>
              <a:srgbClr val="DBEAFE">
                <a:alpha val="5882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2752725" y="6162675"/>
            <a:ext cx="6877050" cy="6877050"/>
            <a:chOff x="0" y="0"/>
            <a:chExt cx="9169400" cy="9169400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9144000" cy="9144000"/>
            </a:xfrm>
            <a:custGeom>
              <a:avLst/>
              <a:gdLst/>
              <a:ahLst/>
              <a:cxnLst/>
              <a:rect l="l" t="t" r="r" b="b"/>
              <a:pathLst>
                <a:path w="9144000" h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9169400" cy="9169400"/>
            </a:xfrm>
            <a:custGeom>
              <a:avLst/>
              <a:gdLst/>
              <a:ahLst/>
              <a:cxnLst/>
              <a:rect l="l" t="t" r="r" b="b"/>
              <a:pathLst>
                <a:path w="9169400" h="9169400">
                  <a:moveTo>
                    <a:pt x="0" y="4584700"/>
                  </a:moveTo>
                  <a:cubicBezTo>
                    <a:pt x="0" y="2052701"/>
                    <a:pt x="2052701" y="0"/>
                    <a:pt x="4584700" y="0"/>
                  </a:cubicBezTo>
                  <a:lnTo>
                    <a:pt x="4584700" y="12700"/>
                  </a:lnTo>
                  <a:lnTo>
                    <a:pt x="4584700" y="0"/>
                  </a:lnTo>
                  <a:cubicBezTo>
                    <a:pt x="7116699" y="0"/>
                    <a:pt x="9169400" y="2052701"/>
                    <a:pt x="9169400" y="4584700"/>
                  </a:cubicBezTo>
                  <a:lnTo>
                    <a:pt x="9156700" y="4584700"/>
                  </a:lnTo>
                  <a:lnTo>
                    <a:pt x="9169400" y="4584700"/>
                  </a:lnTo>
                  <a:cubicBezTo>
                    <a:pt x="9169400" y="7116699"/>
                    <a:pt x="7116699" y="9169400"/>
                    <a:pt x="4584700" y="9169400"/>
                  </a:cubicBezTo>
                  <a:lnTo>
                    <a:pt x="4584700" y="9156700"/>
                  </a:lnTo>
                  <a:lnTo>
                    <a:pt x="4584700" y="9169400"/>
                  </a:lnTo>
                  <a:cubicBezTo>
                    <a:pt x="2052701" y="9169400"/>
                    <a:pt x="0" y="7116699"/>
                    <a:pt x="0" y="4584700"/>
                  </a:cubicBezTo>
                  <a:lnTo>
                    <a:pt x="12700" y="4584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0" y="4584700"/>
                  </a:lnTo>
                  <a:moveTo>
                    <a:pt x="25400" y="4584700"/>
                  </a:moveTo>
                  <a:cubicBezTo>
                    <a:pt x="25400" y="4591685"/>
                    <a:pt x="19685" y="4597400"/>
                    <a:pt x="12700" y="4597400"/>
                  </a:cubicBezTo>
                  <a:cubicBezTo>
                    <a:pt x="5715" y="4597400"/>
                    <a:pt x="0" y="4591685"/>
                    <a:pt x="0" y="4584700"/>
                  </a:cubicBezTo>
                  <a:cubicBezTo>
                    <a:pt x="0" y="4577715"/>
                    <a:pt x="5715" y="4572000"/>
                    <a:pt x="12700" y="4572000"/>
                  </a:cubicBezTo>
                  <a:cubicBezTo>
                    <a:pt x="19685" y="4572000"/>
                    <a:pt x="25400" y="4577715"/>
                    <a:pt x="25400" y="4584700"/>
                  </a:cubicBezTo>
                  <a:cubicBezTo>
                    <a:pt x="25400" y="7102729"/>
                    <a:pt x="2066671" y="9144000"/>
                    <a:pt x="4584700" y="9144000"/>
                  </a:cubicBezTo>
                  <a:cubicBezTo>
                    <a:pt x="7102729" y="9144000"/>
                    <a:pt x="9144000" y="7102729"/>
                    <a:pt x="9144000" y="4584700"/>
                  </a:cubicBezTo>
                  <a:cubicBezTo>
                    <a:pt x="9144000" y="2066671"/>
                    <a:pt x="7102729" y="25400"/>
                    <a:pt x="4584700" y="25400"/>
                  </a:cubicBezTo>
                  <a:lnTo>
                    <a:pt x="4584700" y="12700"/>
                  </a:lnTo>
                  <a:lnTo>
                    <a:pt x="4584700" y="25400"/>
                  </a:lnTo>
                  <a:cubicBezTo>
                    <a:pt x="2066671" y="25400"/>
                    <a:pt x="25400" y="2066671"/>
                    <a:pt x="25400" y="4584700"/>
                  </a:cubicBezTo>
                  <a:close/>
                </a:path>
              </a:pathLst>
            </a:custGeom>
            <a:solidFill>
              <a:srgbClr val="DBEAFE">
                <a:alpha val="1176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1672609"/>
            <a:ext cx="919438" cy="919438"/>
            <a:chOff x="0" y="0"/>
            <a:chExt cx="100584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224088" y="1471505"/>
            <a:ext cx="5540947" cy="1394222"/>
            <a:chOff x="-72729" y="-23053"/>
            <a:chExt cx="7387929" cy="18589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15200" cy="1716087"/>
            </a:xfrm>
            <a:custGeom>
              <a:avLst/>
              <a:gdLst/>
              <a:ahLst/>
              <a:cxnLst/>
              <a:rect l="l" t="t" r="r" b="b"/>
              <a:pathLst>
                <a:path w="7315200" h="1716087">
                  <a:moveTo>
                    <a:pt x="0" y="0"/>
                  </a:moveTo>
                  <a:lnTo>
                    <a:pt x="7315200" y="0"/>
                  </a:lnTo>
                  <a:lnTo>
                    <a:pt x="7315200" y="1716087"/>
                  </a:lnTo>
                  <a:lnTo>
                    <a:pt x="0" y="17160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760" b="-2035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-72729" y="-23053"/>
              <a:ext cx="4959349" cy="1858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79"/>
                </a:lnSpc>
              </a:pPr>
              <a:r>
                <a:rPr lang="en-US" sz="7200" b="1" dirty="0">
                  <a:solidFill>
                    <a:schemeClr val="accent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MEDORA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629175"/>
            <a:ext cx="16459200" cy="1565635"/>
            <a:chOff x="0" y="0"/>
            <a:chExt cx="21945600" cy="20875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2087513"/>
            </a:xfrm>
            <a:custGeom>
              <a:avLst/>
              <a:gdLst/>
              <a:ahLst/>
              <a:cxnLst/>
              <a:rect l="l" t="t" r="r" b="b"/>
              <a:pathLst>
                <a:path w="21945600" h="2087513">
                  <a:moveTo>
                    <a:pt x="0" y="0"/>
                  </a:moveTo>
                  <a:lnTo>
                    <a:pt x="21945600" y="0"/>
                  </a:lnTo>
                  <a:lnTo>
                    <a:pt x="21945600" y="2087513"/>
                  </a:lnTo>
                  <a:lnTo>
                    <a:pt x="0" y="2087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229" b="-146455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61925"/>
              <a:ext cx="21945600" cy="224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360"/>
                </a:lnSpc>
              </a:pPr>
              <a:r>
                <a:rPr lang="en-US" sz="78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 AI-Native Healthcare Platform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4023635"/>
            <a:ext cx="16459200" cy="1565635"/>
            <a:chOff x="0" y="0"/>
            <a:chExt cx="21945600" cy="20875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45600" cy="2087513"/>
            </a:xfrm>
            <a:custGeom>
              <a:avLst/>
              <a:gdLst/>
              <a:ahLst/>
              <a:cxnLst/>
              <a:rect l="l" t="t" r="r" b="b"/>
              <a:pathLst>
                <a:path w="21945600" h="2087513">
                  <a:moveTo>
                    <a:pt x="0" y="0"/>
                  </a:moveTo>
                  <a:lnTo>
                    <a:pt x="21945600" y="0"/>
                  </a:lnTo>
                  <a:lnTo>
                    <a:pt x="21945600" y="2087513"/>
                  </a:lnTo>
                  <a:lnTo>
                    <a:pt x="0" y="2087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609" b="-14207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61925"/>
              <a:ext cx="21945600" cy="224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360"/>
                </a:lnSpc>
              </a:pPr>
              <a:r>
                <a:rPr lang="en-US" sz="7800" b="1" i="1">
                  <a:solidFill>
                    <a:srgbClr val="1A1A1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for Bangladesh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4509" y="5614035"/>
            <a:ext cx="16459200" cy="548640"/>
            <a:chOff x="0" y="0"/>
            <a:chExt cx="2194560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i="1">
                  <a:solidFill>
                    <a:srgbClr val="1A1A1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One platform. Three roles. Bilingual. Production-ready.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0595" y="7397115"/>
            <a:ext cx="73914" cy="2076450"/>
            <a:chOff x="0" y="0"/>
            <a:chExt cx="98552" cy="2768600"/>
          </a:xfrm>
        </p:grpSpPr>
        <p:sp>
          <p:nvSpPr>
            <p:cNvPr id="23" name="Freeform 23"/>
            <p:cNvSpPr/>
            <p:nvPr/>
          </p:nvSpPr>
          <p:spPr>
            <a:xfrm>
              <a:off x="12700" y="12700"/>
              <a:ext cx="73152" cy="2743200"/>
            </a:xfrm>
            <a:custGeom>
              <a:avLst/>
              <a:gdLst/>
              <a:ahLst/>
              <a:cxnLst/>
              <a:rect l="l" t="t" r="r" b="b"/>
              <a:pathLst>
                <a:path w="73152" h="2743200">
                  <a:moveTo>
                    <a:pt x="0" y="0"/>
                  </a:moveTo>
                  <a:lnTo>
                    <a:pt x="73152" y="0"/>
                  </a:lnTo>
                  <a:lnTo>
                    <a:pt x="73152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98552" cy="2768600"/>
            </a:xfrm>
            <a:custGeom>
              <a:avLst/>
              <a:gdLst/>
              <a:ahLst/>
              <a:cxnLst/>
              <a:rect l="l" t="t" r="r" b="b"/>
              <a:pathLst>
                <a:path w="98552" h="2768600">
                  <a:moveTo>
                    <a:pt x="12700" y="0"/>
                  </a:moveTo>
                  <a:lnTo>
                    <a:pt x="85852" y="0"/>
                  </a:lnTo>
                  <a:cubicBezTo>
                    <a:pt x="92837" y="0"/>
                    <a:pt x="98552" y="5715"/>
                    <a:pt x="98552" y="12700"/>
                  </a:cubicBezTo>
                  <a:lnTo>
                    <a:pt x="98552" y="2755900"/>
                  </a:lnTo>
                  <a:cubicBezTo>
                    <a:pt x="98552" y="2762885"/>
                    <a:pt x="92837" y="2768600"/>
                    <a:pt x="85852" y="2768600"/>
                  </a:cubicBezTo>
                  <a:lnTo>
                    <a:pt x="12700" y="2768600"/>
                  </a:lnTo>
                  <a:cubicBezTo>
                    <a:pt x="5715" y="2768600"/>
                    <a:pt x="0" y="2762885"/>
                    <a:pt x="0" y="2755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755900"/>
                  </a:lnTo>
                  <a:lnTo>
                    <a:pt x="12700" y="2755900"/>
                  </a:lnTo>
                  <a:lnTo>
                    <a:pt x="12700" y="2743200"/>
                  </a:lnTo>
                  <a:lnTo>
                    <a:pt x="85852" y="2743200"/>
                  </a:lnTo>
                  <a:lnTo>
                    <a:pt x="85852" y="2755900"/>
                  </a:lnTo>
                  <a:lnTo>
                    <a:pt x="73152" y="2755900"/>
                  </a:lnTo>
                  <a:lnTo>
                    <a:pt x="73152" y="12700"/>
                  </a:lnTo>
                  <a:lnTo>
                    <a:pt x="85852" y="12700"/>
                  </a:lnTo>
                  <a:lnTo>
                    <a:pt x="858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303020" y="7354737"/>
            <a:ext cx="5486400" cy="720403"/>
            <a:chOff x="0" y="0"/>
            <a:chExt cx="7315200" cy="960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15200" cy="960537"/>
            </a:xfrm>
            <a:custGeom>
              <a:avLst/>
              <a:gdLst/>
              <a:ahLst/>
              <a:cxnLst/>
              <a:rect l="l" t="t" r="r" b="b"/>
              <a:pathLst>
                <a:path w="7315200" h="960537">
                  <a:moveTo>
                    <a:pt x="0" y="0"/>
                  </a:moveTo>
                  <a:lnTo>
                    <a:pt x="7315200" y="0"/>
                  </a:lnTo>
                  <a:lnTo>
                    <a:pt x="7315200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930" b="-7885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7315200" cy="1027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Sarwad Hasan Siddiqui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03020" y="7878202"/>
            <a:ext cx="5486400" cy="557138"/>
            <a:chOff x="0" y="0"/>
            <a:chExt cx="7315200" cy="74285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412" b="-12634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Roll: 2107006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03020" y="8298180"/>
            <a:ext cx="5486400" cy="720403"/>
            <a:chOff x="0" y="0"/>
            <a:chExt cx="7315200" cy="9605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15200" cy="960537"/>
            </a:xfrm>
            <a:custGeom>
              <a:avLst/>
              <a:gdLst/>
              <a:ahLst/>
              <a:cxnLst/>
              <a:rect l="l" t="t" r="r" b="b"/>
              <a:pathLst>
                <a:path w="7315200" h="960537">
                  <a:moveTo>
                    <a:pt x="0" y="0"/>
                  </a:moveTo>
                  <a:lnTo>
                    <a:pt x="7315200" y="0"/>
                  </a:lnTo>
                  <a:lnTo>
                    <a:pt x="7315200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930" b="-7885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7315200" cy="1027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Adiba Tahsin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03020" y="8838322"/>
            <a:ext cx="5486400" cy="557138"/>
            <a:chOff x="0" y="0"/>
            <a:chExt cx="7315200" cy="74285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412" b="-12634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Roll: 2107031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649075" y="7162361"/>
            <a:ext cx="5486400" cy="557138"/>
            <a:chOff x="0" y="0"/>
            <a:chExt cx="7315200" cy="74285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412" b="-12634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spc="763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649075" y="7714939"/>
            <a:ext cx="5760720" cy="720401"/>
            <a:chOff x="0" y="0"/>
            <a:chExt cx="7680960" cy="96053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680960" cy="960535"/>
            </a:xfrm>
            <a:custGeom>
              <a:avLst/>
              <a:gdLst/>
              <a:ahLst/>
              <a:cxnLst/>
              <a:rect l="l" t="t" r="r" b="b"/>
              <a:pathLst>
                <a:path w="7680960" h="960535">
                  <a:moveTo>
                    <a:pt x="0" y="0"/>
                  </a:moveTo>
                  <a:lnTo>
                    <a:pt x="7680960" y="0"/>
                  </a:lnTo>
                  <a:lnTo>
                    <a:pt x="7680960" y="960535"/>
                  </a:lnTo>
                  <a:lnTo>
                    <a:pt x="0" y="9605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49" b="-8627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7680960" cy="1046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9"/>
                </a:lnSpc>
              </a:pPr>
              <a:r>
                <a:rPr lang="en-US" sz="35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Kazi Saeed Alam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649075" y="8329099"/>
            <a:ext cx="5486400" cy="557138"/>
            <a:chOff x="0" y="0"/>
            <a:chExt cx="7315200" cy="74285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412" b="-12634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Assistant Professor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649075" y="8838322"/>
            <a:ext cx="5486400" cy="557138"/>
            <a:chOff x="0" y="0"/>
            <a:chExt cx="7315200" cy="74285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412" b="-12634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Dept. of CSE, KUET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Outlines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97280" y="2255030"/>
            <a:ext cx="6282534" cy="6798170"/>
            <a:chOff x="0" y="0"/>
            <a:chExt cx="8376711" cy="906422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175604"/>
              <a:ext cx="1133074" cy="987773"/>
              <a:chOff x="0" y="0"/>
              <a:chExt cx="1133074" cy="98777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0" y="100347"/>
              <a:ext cx="1133074" cy="1063030"/>
              <a:chOff x="0" y="0"/>
              <a:chExt cx="1133074" cy="10630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510765" y="0"/>
              <a:ext cx="4624683" cy="2360662"/>
              <a:chOff x="0" y="0"/>
              <a:chExt cx="4624683" cy="23606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624683" cy="2360662"/>
              </a:xfrm>
              <a:custGeom>
                <a:avLst/>
                <a:gdLst/>
                <a:ahLst/>
                <a:cxnLst/>
                <a:rect l="l" t="t" r="r" b="b"/>
                <a:pathLst>
                  <a:path w="4624683" h="2360662">
                    <a:moveTo>
                      <a:pt x="0" y="0"/>
                    </a:moveTo>
                    <a:lnTo>
                      <a:pt x="4624683" y="0"/>
                    </a:lnTo>
                    <a:lnTo>
                      <a:pt x="4624683" y="2360662"/>
                    </a:lnTo>
                    <a:lnTo>
                      <a:pt x="0" y="236066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36063" r="-337623" b="-98039"/>
                </a:stretch>
              </a:blip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14300"/>
                <a:ext cx="4624683" cy="247496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Motivation</a:t>
                </a:r>
              </a:p>
              <a:p>
                <a:pPr algn="l">
                  <a:lnSpc>
                    <a:spcPts val="6000"/>
                  </a:lnSpc>
                </a:pPr>
                <a:endParaRPr lang="en-US" sz="5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2041397"/>
              <a:ext cx="1133074" cy="987773"/>
              <a:chOff x="0" y="0"/>
              <a:chExt cx="1133074" cy="98777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0" y="1966140"/>
              <a:ext cx="1133074" cy="1063030"/>
              <a:chOff x="0" y="0"/>
              <a:chExt cx="1133074" cy="10630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510765" y="1862952"/>
              <a:ext cx="6865946" cy="1344662"/>
              <a:chOff x="0" y="0"/>
              <a:chExt cx="6865946" cy="13446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865946" cy="1344662"/>
              </a:xfrm>
              <a:custGeom>
                <a:avLst/>
                <a:gdLst/>
                <a:ahLst/>
                <a:cxnLst/>
                <a:rect l="l" t="t" r="r" b="b"/>
                <a:pathLst>
                  <a:path w="6865946" h="1344662">
                    <a:moveTo>
                      <a:pt x="0" y="0"/>
                    </a:moveTo>
                    <a:lnTo>
                      <a:pt x="6865946" y="0"/>
                    </a:lnTo>
                    <a:lnTo>
                      <a:pt x="6865946" y="1344662"/>
                    </a:lnTo>
                    <a:lnTo>
                      <a:pt x="0" y="134466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38870" r="-194769" b="-247674"/>
                </a:stretch>
              </a:blip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14300"/>
                <a:ext cx="6865946" cy="145896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Proposed Solution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3907190"/>
              <a:ext cx="1133074" cy="987773"/>
              <a:chOff x="0" y="0"/>
              <a:chExt cx="1133074" cy="98777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0" y="3831933"/>
              <a:ext cx="1133074" cy="1063030"/>
              <a:chOff x="0" y="0"/>
              <a:chExt cx="1133074" cy="106303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510765" y="3731586"/>
              <a:ext cx="4624683" cy="1344662"/>
              <a:chOff x="0" y="0"/>
              <a:chExt cx="4624683" cy="134466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624683" cy="1344662"/>
              </a:xfrm>
              <a:custGeom>
                <a:avLst/>
                <a:gdLst/>
                <a:ahLst/>
                <a:cxnLst/>
                <a:rect l="l" t="t" r="r" b="b"/>
                <a:pathLst>
                  <a:path w="4624683" h="1344662">
                    <a:moveTo>
                      <a:pt x="0" y="0"/>
                    </a:moveTo>
                    <a:lnTo>
                      <a:pt x="4624683" y="0"/>
                    </a:lnTo>
                    <a:lnTo>
                      <a:pt x="4624683" y="1344662"/>
                    </a:lnTo>
                    <a:lnTo>
                      <a:pt x="0" y="134466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38870" r="-337623" b="-247674"/>
                </a:stretch>
              </a:blip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114300"/>
                <a:ext cx="4624683" cy="145896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Objectives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5772983"/>
              <a:ext cx="1133074" cy="987773"/>
              <a:chOff x="0" y="0"/>
              <a:chExt cx="1133074" cy="98777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0" y="5697726"/>
              <a:ext cx="1133074" cy="1063030"/>
              <a:chOff x="0" y="0"/>
              <a:chExt cx="1133074" cy="106303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510765" y="5597379"/>
              <a:ext cx="5382277" cy="1344662"/>
              <a:chOff x="0" y="0"/>
              <a:chExt cx="5382277" cy="134466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382277" cy="1344662"/>
              </a:xfrm>
              <a:custGeom>
                <a:avLst/>
                <a:gdLst/>
                <a:ahLst/>
                <a:cxnLst/>
                <a:rect l="l" t="t" r="r" b="b"/>
                <a:pathLst>
                  <a:path w="5382277" h="1344662">
                    <a:moveTo>
                      <a:pt x="0" y="0"/>
                    </a:moveTo>
                    <a:lnTo>
                      <a:pt x="5382277" y="0"/>
                    </a:lnTo>
                    <a:lnTo>
                      <a:pt x="5382277" y="1344662"/>
                    </a:lnTo>
                    <a:lnTo>
                      <a:pt x="0" y="134466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38870" r="-276025" b="-247674"/>
                </a:stretch>
              </a:blip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114300"/>
                <a:ext cx="5382277" cy="145896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Related Works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7638775"/>
              <a:ext cx="1133074" cy="987773"/>
              <a:chOff x="0" y="0"/>
              <a:chExt cx="1133074" cy="98777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0" y="7563518"/>
              <a:ext cx="1133074" cy="1063030"/>
              <a:chOff x="0" y="0"/>
              <a:chExt cx="1133074" cy="106303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510765" y="7201097"/>
              <a:ext cx="6865946" cy="1863130"/>
              <a:chOff x="0" y="0"/>
              <a:chExt cx="6865946" cy="186313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865946" cy="1863130"/>
              </a:xfrm>
              <a:custGeom>
                <a:avLst/>
                <a:gdLst/>
                <a:ahLst/>
                <a:cxnLst/>
                <a:rect l="l" t="t" r="r" b="b"/>
                <a:pathLst>
                  <a:path w="6865946" h="1863130">
                    <a:moveTo>
                      <a:pt x="0" y="0"/>
                    </a:moveTo>
                    <a:lnTo>
                      <a:pt x="6865946" y="0"/>
                    </a:lnTo>
                    <a:lnTo>
                      <a:pt x="6865946" y="1863130"/>
                    </a:lnTo>
                    <a:lnTo>
                      <a:pt x="0" y="18631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2398" r="-194769" b="-150924"/>
                </a:stretch>
              </a:blip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114300"/>
                <a:ext cx="6865946" cy="19774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Methodology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10363888" y="2386733"/>
            <a:ext cx="849806" cy="740830"/>
            <a:chOff x="0" y="0"/>
            <a:chExt cx="1133074" cy="98777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33074" cy="987773"/>
            </a:xfrm>
            <a:custGeom>
              <a:avLst/>
              <a:gdLst/>
              <a:ahLst/>
              <a:cxnLst/>
              <a:rect l="l" t="t" r="r" b="b"/>
              <a:pathLst>
                <a:path w="1133074" h="987773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0363888" y="2330290"/>
            <a:ext cx="849806" cy="797272"/>
            <a:chOff x="0" y="0"/>
            <a:chExt cx="1133074" cy="106303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33074" cy="1063030"/>
            </a:xfrm>
            <a:custGeom>
              <a:avLst/>
              <a:gdLst/>
              <a:ahLst/>
              <a:cxnLst/>
              <a:rect l="l" t="t" r="r" b="b"/>
              <a:pathLst>
                <a:path w="1133074" h="1063030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r="-72670" b="-322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363888" y="3786077"/>
            <a:ext cx="849806" cy="740830"/>
            <a:chOff x="0" y="0"/>
            <a:chExt cx="1133074" cy="98777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33074" cy="987773"/>
            </a:xfrm>
            <a:custGeom>
              <a:avLst/>
              <a:gdLst/>
              <a:ahLst/>
              <a:cxnLst/>
              <a:rect l="l" t="t" r="r" b="b"/>
              <a:pathLst>
                <a:path w="1133074" h="987773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0363888" y="3729634"/>
            <a:ext cx="849806" cy="797272"/>
            <a:chOff x="0" y="0"/>
            <a:chExt cx="1133074" cy="106303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33074" cy="1063030"/>
            </a:xfrm>
            <a:custGeom>
              <a:avLst/>
              <a:gdLst/>
              <a:ahLst/>
              <a:cxnLst/>
              <a:rect l="l" t="t" r="r" b="b"/>
              <a:pathLst>
                <a:path w="1133074" h="1063030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r="-72670" b="-3221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496962" y="3729634"/>
            <a:ext cx="4415504" cy="1008497"/>
            <a:chOff x="0" y="0"/>
            <a:chExt cx="5887339" cy="134466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887339" cy="1344662"/>
            </a:xfrm>
            <a:custGeom>
              <a:avLst/>
              <a:gdLst/>
              <a:ahLst/>
              <a:cxnLst/>
              <a:rect l="l" t="t" r="r" b="b"/>
              <a:pathLst>
                <a:path w="5887339" h="1344662">
                  <a:moveTo>
                    <a:pt x="0" y="0"/>
                  </a:moveTo>
                  <a:lnTo>
                    <a:pt x="5887339" y="0"/>
                  </a:lnTo>
                  <a:lnTo>
                    <a:pt x="5887339" y="1344662"/>
                  </a:lnTo>
                  <a:lnTo>
                    <a:pt x="0" y="1344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8870" r="-243766" b="-247674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14300"/>
              <a:ext cx="5887339" cy="1458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363888" y="5185422"/>
            <a:ext cx="849806" cy="740830"/>
            <a:chOff x="0" y="0"/>
            <a:chExt cx="1133074" cy="987773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33074" cy="987773"/>
            </a:xfrm>
            <a:custGeom>
              <a:avLst/>
              <a:gdLst/>
              <a:ahLst/>
              <a:cxnLst/>
              <a:rect l="l" t="t" r="r" b="b"/>
              <a:pathLst>
                <a:path w="1133074" h="987773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0363888" y="5128979"/>
            <a:ext cx="849806" cy="797272"/>
            <a:chOff x="0" y="0"/>
            <a:chExt cx="1133074" cy="106303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133074" cy="1063030"/>
            </a:xfrm>
            <a:custGeom>
              <a:avLst/>
              <a:gdLst/>
              <a:ahLst/>
              <a:cxnLst/>
              <a:rect l="l" t="t" r="r" b="b"/>
              <a:pathLst>
                <a:path w="1133074" h="1063030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r="-72670" b="-3221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496962" y="5051588"/>
            <a:ext cx="3468512" cy="1008497"/>
            <a:chOff x="0" y="0"/>
            <a:chExt cx="4624683" cy="134466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624683" cy="1344662"/>
            </a:xfrm>
            <a:custGeom>
              <a:avLst/>
              <a:gdLst/>
              <a:ahLst/>
              <a:cxnLst/>
              <a:rect l="l" t="t" r="r" b="b"/>
              <a:pathLst>
                <a:path w="4624683" h="1344662">
                  <a:moveTo>
                    <a:pt x="0" y="0"/>
                  </a:moveTo>
                  <a:lnTo>
                    <a:pt x="4624683" y="0"/>
                  </a:lnTo>
                  <a:lnTo>
                    <a:pt x="4624683" y="1344662"/>
                  </a:lnTo>
                  <a:lnTo>
                    <a:pt x="0" y="1344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8870" r="-337623" b="-24767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14300"/>
              <a:ext cx="4624683" cy="1458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363888" y="6584767"/>
            <a:ext cx="849806" cy="740830"/>
            <a:chOff x="0" y="0"/>
            <a:chExt cx="1133074" cy="987773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133074" cy="987773"/>
            </a:xfrm>
            <a:custGeom>
              <a:avLst/>
              <a:gdLst/>
              <a:ahLst/>
              <a:cxnLst/>
              <a:rect l="l" t="t" r="r" b="b"/>
              <a:pathLst>
                <a:path w="1133074" h="987773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0363888" y="6528324"/>
            <a:ext cx="849806" cy="797272"/>
            <a:chOff x="0" y="0"/>
            <a:chExt cx="1133074" cy="106303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133074" cy="1063030"/>
            </a:xfrm>
            <a:custGeom>
              <a:avLst/>
              <a:gdLst/>
              <a:ahLst/>
              <a:cxnLst/>
              <a:rect l="l" t="t" r="r" b="b"/>
              <a:pathLst>
                <a:path w="1133074" h="1063030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r="-72670" b="-322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1496962" y="6479185"/>
            <a:ext cx="5762338" cy="1008497"/>
            <a:chOff x="0" y="0"/>
            <a:chExt cx="7683117" cy="134466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7683117" cy="1344662"/>
            </a:xfrm>
            <a:custGeom>
              <a:avLst/>
              <a:gdLst/>
              <a:ahLst/>
              <a:cxnLst/>
              <a:rect l="l" t="t" r="r" b="b"/>
              <a:pathLst>
                <a:path w="7683117" h="1344662">
                  <a:moveTo>
                    <a:pt x="0" y="0"/>
                  </a:moveTo>
                  <a:lnTo>
                    <a:pt x="7683117" y="0"/>
                  </a:lnTo>
                  <a:lnTo>
                    <a:pt x="7683117" y="1344662"/>
                  </a:lnTo>
                  <a:lnTo>
                    <a:pt x="0" y="1344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8870" r="-163418" b="-247674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114300"/>
              <a:ext cx="7683117" cy="1458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Future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363888" y="7984111"/>
            <a:ext cx="849806" cy="740830"/>
            <a:chOff x="0" y="0"/>
            <a:chExt cx="1133074" cy="987773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133074" cy="987773"/>
            </a:xfrm>
            <a:custGeom>
              <a:avLst/>
              <a:gdLst/>
              <a:ahLst/>
              <a:cxnLst/>
              <a:rect l="l" t="t" r="r" b="b"/>
              <a:pathLst>
                <a:path w="1133074" h="987773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10363888" y="7927668"/>
            <a:ext cx="849806" cy="797272"/>
            <a:chOff x="0" y="0"/>
            <a:chExt cx="1133074" cy="106303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33074" cy="1063030"/>
            </a:xfrm>
            <a:custGeom>
              <a:avLst/>
              <a:gdLst/>
              <a:ahLst/>
              <a:cxnLst/>
              <a:rect l="l" t="t" r="r" b="b"/>
              <a:pathLst>
                <a:path w="1133074" h="1063030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r="-72670" b="-3221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1496962" y="7655852"/>
            <a:ext cx="3826265" cy="1397347"/>
            <a:chOff x="0" y="0"/>
            <a:chExt cx="5101686" cy="186313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101686" cy="1863130"/>
            </a:xfrm>
            <a:custGeom>
              <a:avLst/>
              <a:gdLst/>
              <a:ahLst/>
              <a:cxnLst/>
              <a:rect l="l" t="t" r="r" b="b"/>
              <a:pathLst>
                <a:path w="5101686" h="1863130">
                  <a:moveTo>
                    <a:pt x="0" y="0"/>
                  </a:moveTo>
                  <a:lnTo>
                    <a:pt x="5101686" y="0"/>
                  </a:lnTo>
                  <a:lnTo>
                    <a:pt x="5101686" y="1863130"/>
                  </a:lnTo>
                  <a:lnTo>
                    <a:pt x="0" y="18631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398" r="-296706" b="-150924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114300"/>
              <a:ext cx="5101686" cy="1977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1496962" y="1266625"/>
            <a:ext cx="4308098" cy="1830790"/>
            <a:chOff x="0" y="0"/>
            <a:chExt cx="5690926" cy="236066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690926" cy="2360662"/>
            </a:xfrm>
            <a:custGeom>
              <a:avLst/>
              <a:gdLst/>
              <a:ahLst/>
              <a:cxnLst/>
              <a:rect l="l" t="t" r="r" b="b"/>
              <a:pathLst>
                <a:path w="5690926" h="2360662">
                  <a:moveTo>
                    <a:pt x="0" y="0"/>
                  </a:moveTo>
                  <a:lnTo>
                    <a:pt x="5690926" y="0"/>
                  </a:lnTo>
                  <a:lnTo>
                    <a:pt x="5690926" y="2360662"/>
                  </a:lnTo>
                  <a:lnTo>
                    <a:pt x="0" y="2360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063" r="-255631" b="-98039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1372888"/>
              <a:ext cx="5400510" cy="987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Workflow</a:t>
              </a:r>
            </a:p>
          </p:txBody>
        </p:sp>
      </p:grpSp>
      <p:sp>
        <p:nvSpPr>
          <p:cNvPr id="88" name="Freeform 88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9" name="Group 89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90" name="Group 90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93" name="TextBox 93"/>
            <p:cNvSpPr txBox="1"/>
            <p:nvPr/>
          </p:nvSpPr>
          <p:spPr>
            <a:xfrm>
              <a:off x="395815" y="189916"/>
              <a:ext cx="223203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Motivation — The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190343" y="3495120"/>
            <a:ext cx="366532" cy="549798"/>
            <a:chOff x="0" y="0"/>
            <a:chExt cx="487680" cy="7315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7680" cy="731520"/>
            </a:xfrm>
            <a:custGeom>
              <a:avLst/>
              <a:gdLst/>
              <a:ahLst/>
              <a:cxnLst/>
              <a:rect l="l" t="t" r="r" b="b"/>
              <a:pathLst>
                <a:path w="487680" h="73152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1425" y="2145150"/>
            <a:ext cx="6799420" cy="885533"/>
            <a:chOff x="0" y="0"/>
            <a:chExt cx="10485120" cy="11782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85120" cy="1178223"/>
            </a:xfrm>
            <a:custGeom>
              <a:avLst/>
              <a:gdLst/>
              <a:ahLst/>
              <a:cxnLst/>
              <a:rect l="l" t="t" r="r" b="b"/>
              <a:pathLst>
                <a:path w="10485120" h="1178223">
                  <a:moveTo>
                    <a:pt x="0" y="0"/>
                  </a:moveTo>
                  <a:lnTo>
                    <a:pt x="10485120" y="0"/>
                  </a:lnTo>
                  <a:lnTo>
                    <a:pt x="1048512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08" b="-11479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10485120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State in Bangladesh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11177" y="5242600"/>
            <a:ext cx="2975311" cy="1494959"/>
            <a:chOff x="0" y="0"/>
            <a:chExt cx="3967081" cy="1993279"/>
          </a:xfrm>
        </p:grpSpPr>
        <p:grpSp>
          <p:nvGrpSpPr>
            <p:cNvPr id="14" name="Group 14"/>
            <p:cNvGrpSpPr/>
            <p:nvPr/>
          </p:nvGrpSpPr>
          <p:grpSpPr>
            <a:xfrm>
              <a:off x="7833" y="0"/>
              <a:ext cx="3959249" cy="1993279"/>
              <a:chOff x="0" y="0"/>
              <a:chExt cx="4910671" cy="247227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6891" y="16891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id="16" name="Freeform 16"/>
              <p:cNvSpPr/>
              <p:nvPr/>
            </p:nvSpPr>
            <p:spPr>
              <a:xfrm>
                <a:off x="0" y="0"/>
                <a:ext cx="4910582" cy="2472182"/>
              </a:xfrm>
              <a:custGeom>
                <a:avLst/>
                <a:gdLst/>
                <a:ahLst/>
                <a:cxnLst/>
                <a:rect l="l" t="t" r="r" b="b"/>
                <a:pathLst>
                  <a:path w="4910582" h="24721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2455291"/>
                    </a:lnTo>
                    <a:cubicBezTo>
                      <a:pt x="4910582" y="2464689"/>
                      <a:pt x="4902962" y="2472182"/>
                      <a:pt x="489369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4893691" y="2438400"/>
                    </a:lnTo>
                    <a:lnTo>
                      <a:pt x="4893691" y="2455291"/>
                    </a:lnTo>
                    <a:lnTo>
                      <a:pt x="4876800" y="245529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19491"/>
              <a:ext cx="3947576" cy="1973788"/>
              <a:chOff x="0" y="0"/>
              <a:chExt cx="4876800" cy="2438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/>
                </a:stretch>
              </a:blip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shared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records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1049865" y="3030683"/>
            <a:ext cx="2954146" cy="1509967"/>
            <a:chOff x="0" y="0"/>
            <a:chExt cx="3938861" cy="201329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938861" cy="1983015"/>
              <a:chOff x="0" y="0"/>
              <a:chExt cx="4910671" cy="247227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6891" y="16891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id="23" name="Freeform 23"/>
              <p:cNvSpPr/>
              <p:nvPr/>
            </p:nvSpPr>
            <p:spPr>
              <a:xfrm>
                <a:off x="0" y="0"/>
                <a:ext cx="4910582" cy="2472182"/>
              </a:xfrm>
              <a:custGeom>
                <a:avLst/>
                <a:gdLst/>
                <a:ahLst/>
                <a:cxnLst/>
                <a:rect l="l" t="t" r="r" b="b"/>
                <a:pathLst>
                  <a:path w="4910582" h="24721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2455291"/>
                    </a:lnTo>
                    <a:cubicBezTo>
                      <a:pt x="4910582" y="2464689"/>
                      <a:pt x="4902962" y="2472182"/>
                      <a:pt x="489369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4893691" y="2438400"/>
                    </a:lnTo>
                    <a:lnTo>
                      <a:pt x="4893691" y="2455291"/>
                    </a:lnTo>
                    <a:lnTo>
                      <a:pt x="4876800" y="245529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0" y="58692"/>
              <a:ext cx="3909196" cy="1954598"/>
              <a:chOff x="0" y="0"/>
              <a:chExt cx="4876800" cy="2438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/>
                </a:stretch>
              </a:blip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Search engines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 doctors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4911177" y="3030683"/>
            <a:ext cx="2937086" cy="1478672"/>
            <a:chOff x="0" y="0"/>
            <a:chExt cx="3916115" cy="1971563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3916115" cy="1971563"/>
              <a:chOff x="0" y="0"/>
              <a:chExt cx="4910671" cy="247227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6891" y="16891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id="30" name="Freeform 30"/>
              <p:cNvSpPr/>
              <p:nvPr/>
            </p:nvSpPr>
            <p:spPr>
              <a:xfrm>
                <a:off x="0" y="0"/>
                <a:ext cx="4910582" cy="2472182"/>
              </a:xfrm>
              <a:custGeom>
                <a:avLst/>
                <a:gdLst/>
                <a:ahLst/>
                <a:cxnLst/>
                <a:rect l="l" t="t" r="r" b="b"/>
                <a:pathLst>
                  <a:path w="4910582" h="24721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2455291"/>
                    </a:lnTo>
                    <a:cubicBezTo>
                      <a:pt x="4910582" y="2464689"/>
                      <a:pt x="4902962" y="2472182"/>
                      <a:pt x="489369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4893691" y="2438400"/>
                    </a:lnTo>
                    <a:lnTo>
                      <a:pt x="4893691" y="2455291"/>
                    </a:lnTo>
                    <a:lnTo>
                      <a:pt x="4876800" y="245529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0" y="0"/>
              <a:ext cx="3916115" cy="1971563"/>
              <a:chOff x="0" y="0"/>
              <a:chExt cx="4891125" cy="246243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891125" cy="2462431"/>
              </a:xfrm>
              <a:custGeom>
                <a:avLst/>
                <a:gdLst/>
                <a:ahLst/>
                <a:cxnLst/>
                <a:rect l="l" t="t" r="r" b="b"/>
                <a:pathLst>
                  <a:path w="4891125" h="2462431">
                    <a:moveTo>
                      <a:pt x="0" y="0"/>
                    </a:moveTo>
                    <a:lnTo>
                      <a:pt x="4891125" y="0"/>
                    </a:lnTo>
                    <a:lnTo>
                      <a:pt x="4891125" y="2462431"/>
                    </a:lnTo>
                    <a:lnTo>
                      <a:pt x="0" y="246243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10" r="-13817" b="975"/>
                </a:stretch>
              </a:blip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66675"/>
                <a:ext cx="4891125" cy="25291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Separate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booking apps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1028700" y="5311043"/>
            <a:ext cx="2996476" cy="1505433"/>
            <a:chOff x="0" y="0"/>
            <a:chExt cx="3995302" cy="2007245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3986989" cy="2007245"/>
              <a:chOff x="0" y="0"/>
              <a:chExt cx="4910671" cy="247227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6891" y="16891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id="37" name="Freeform 37"/>
              <p:cNvSpPr/>
              <p:nvPr/>
            </p:nvSpPr>
            <p:spPr>
              <a:xfrm>
                <a:off x="0" y="0"/>
                <a:ext cx="4910582" cy="2472182"/>
              </a:xfrm>
              <a:custGeom>
                <a:avLst/>
                <a:gdLst/>
                <a:ahLst/>
                <a:cxnLst/>
                <a:rect l="l" t="t" r="r" b="b"/>
                <a:pathLst>
                  <a:path w="4910582" h="24721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2455291"/>
                    </a:lnTo>
                    <a:cubicBezTo>
                      <a:pt x="4910582" y="2464689"/>
                      <a:pt x="4902962" y="2472182"/>
                      <a:pt x="489369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4893691" y="2438400"/>
                    </a:lnTo>
                    <a:lnTo>
                      <a:pt x="4893691" y="2455291"/>
                    </a:lnTo>
                    <a:lnTo>
                      <a:pt x="4876800" y="245529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19188" y="19188"/>
              <a:ext cx="3976114" cy="1988057"/>
              <a:chOff x="0" y="0"/>
              <a:chExt cx="4876800" cy="24384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/>
                </a:stretch>
              </a:blip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Paper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prescriptions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4190343" y="5759001"/>
            <a:ext cx="366532" cy="549798"/>
            <a:chOff x="0" y="0"/>
            <a:chExt cx="48768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680" cy="731520"/>
            </a:xfrm>
            <a:custGeom>
              <a:avLst/>
              <a:gdLst/>
              <a:ahLst/>
              <a:cxnLst/>
              <a:rect l="l" t="t" r="r" b="b"/>
              <a:pathLst>
                <a:path w="487680" h="73152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472143" y="5508197"/>
            <a:ext cx="916331" cy="916331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42875"/>
              <a:ext cx="1219200" cy="136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➡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006266" y="2147016"/>
            <a:ext cx="7863840" cy="883667"/>
            <a:chOff x="0" y="0"/>
            <a:chExt cx="10485120" cy="117822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485120" cy="1178223"/>
            </a:xfrm>
            <a:custGeom>
              <a:avLst/>
              <a:gdLst/>
              <a:ahLst/>
              <a:cxnLst/>
              <a:rect l="l" t="t" r="r" b="b"/>
              <a:pathLst>
                <a:path w="10485120" h="1178223">
                  <a:moveTo>
                    <a:pt x="0" y="0"/>
                  </a:moveTo>
                  <a:lnTo>
                    <a:pt x="10485120" y="0"/>
                  </a:lnTo>
                  <a:lnTo>
                    <a:pt x="1048512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08" b="-11479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76200"/>
              <a:ext cx="10485120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dirty="0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01698" y="1695202"/>
            <a:ext cx="16484603" cy="25403"/>
            <a:chOff x="0" y="0"/>
            <a:chExt cx="21979471" cy="33871"/>
          </a:xfrm>
        </p:grpSpPr>
        <p:sp>
          <p:nvSpPr>
            <p:cNvPr id="51" name="Freeform 51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sp>
        <p:nvSpPr>
          <p:cNvPr id="52" name="Freeform 52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3" name="Group 53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57" name="AutoShape 57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95" name="AutoShape 95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07" name="Group 107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10" name="TextBox 110"/>
            <p:cNvSpPr txBox="1"/>
            <p:nvPr/>
          </p:nvSpPr>
          <p:spPr>
            <a:xfrm>
              <a:off x="395815" y="189916"/>
              <a:ext cx="223203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2371782" y="4692801"/>
            <a:ext cx="366532" cy="549798"/>
            <a:chOff x="0" y="0"/>
            <a:chExt cx="487680" cy="73152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487680" cy="731520"/>
            </a:xfrm>
            <a:custGeom>
              <a:avLst/>
              <a:gdLst/>
              <a:ahLst/>
              <a:cxnLst/>
              <a:rect l="l" t="t" r="r" b="b"/>
              <a:pathLst>
                <a:path w="487680" h="73152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5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6215567" y="4601078"/>
            <a:ext cx="366532" cy="549798"/>
            <a:chOff x="0" y="0"/>
            <a:chExt cx="487680" cy="73152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487680" cy="731520"/>
            </a:xfrm>
            <a:custGeom>
              <a:avLst/>
              <a:gdLst/>
              <a:ahLst/>
              <a:cxnLst/>
              <a:rect l="l" t="t" r="r" b="b"/>
              <a:pathLst>
                <a:path w="487680" h="73152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5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049865" y="6997451"/>
            <a:ext cx="7880443" cy="885533"/>
            <a:chOff x="0" y="0"/>
            <a:chExt cx="10485120" cy="1178223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0485120" cy="1178223"/>
            </a:xfrm>
            <a:custGeom>
              <a:avLst/>
              <a:gdLst/>
              <a:ahLst/>
              <a:cxnLst/>
              <a:rect l="l" t="t" r="r" b="b"/>
              <a:pathLst>
                <a:path w="10485120" h="1178223">
                  <a:moveTo>
                    <a:pt x="0" y="0"/>
                  </a:moveTo>
                  <a:lnTo>
                    <a:pt x="10485120" y="0"/>
                  </a:lnTo>
                  <a:lnTo>
                    <a:pt x="1048512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008" b="-114790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76200"/>
              <a:ext cx="10485120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Disconnected Compounds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3547987" y="7861509"/>
            <a:ext cx="2017776" cy="1509967"/>
            <a:chOff x="0" y="0"/>
            <a:chExt cx="2690368" cy="2013290"/>
          </a:xfrm>
        </p:grpSpPr>
        <p:grpSp>
          <p:nvGrpSpPr>
            <p:cNvPr id="122" name="Group 122"/>
            <p:cNvGrpSpPr/>
            <p:nvPr/>
          </p:nvGrpSpPr>
          <p:grpSpPr>
            <a:xfrm>
              <a:off x="0" y="0"/>
              <a:ext cx="2690368" cy="1983015"/>
              <a:chOff x="0" y="0"/>
              <a:chExt cx="3354145" cy="2472271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11537" y="16891"/>
                <a:ext cx="333101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3331010" h="2438400">
                    <a:moveTo>
                      <a:pt x="0" y="0"/>
                    </a:moveTo>
                    <a:lnTo>
                      <a:pt x="3331010" y="0"/>
                    </a:lnTo>
                    <a:lnTo>
                      <a:pt x="333101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0" y="0"/>
                <a:ext cx="3354084" cy="2472182"/>
              </a:xfrm>
              <a:custGeom>
                <a:avLst/>
                <a:gdLst/>
                <a:ahLst/>
                <a:cxnLst/>
                <a:rect l="l" t="t" r="r" b="b"/>
                <a:pathLst>
                  <a:path w="3354084" h="2472182">
                    <a:moveTo>
                      <a:pt x="11537" y="0"/>
                    </a:moveTo>
                    <a:lnTo>
                      <a:pt x="3342547" y="0"/>
                    </a:lnTo>
                    <a:cubicBezTo>
                      <a:pt x="3348967" y="0"/>
                      <a:pt x="3354084" y="7620"/>
                      <a:pt x="3354084" y="16891"/>
                    </a:cubicBezTo>
                    <a:lnTo>
                      <a:pt x="3354084" y="2455291"/>
                    </a:lnTo>
                    <a:cubicBezTo>
                      <a:pt x="3354084" y="2464689"/>
                      <a:pt x="3348880" y="2472182"/>
                      <a:pt x="3342547" y="2472182"/>
                    </a:cubicBezTo>
                    <a:lnTo>
                      <a:pt x="11537" y="2472182"/>
                    </a:lnTo>
                    <a:cubicBezTo>
                      <a:pt x="5118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5205" y="0"/>
                      <a:pt x="11537" y="0"/>
                    </a:cubicBezTo>
                    <a:moveTo>
                      <a:pt x="11537" y="33909"/>
                    </a:moveTo>
                    <a:lnTo>
                      <a:pt x="11537" y="16891"/>
                    </a:lnTo>
                    <a:lnTo>
                      <a:pt x="23161" y="16891"/>
                    </a:lnTo>
                    <a:lnTo>
                      <a:pt x="23161" y="2455291"/>
                    </a:lnTo>
                    <a:lnTo>
                      <a:pt x="11537" y="2455291"/>
                    </a:lnTo>
                    <a:lnTo>
                      <a:pt x="11537" y="2438400"/>
                    </a:lnTo>
                    <a:lnTo>
                      <a:pt x="3342547" y="2438400"/>
                    </a:lnTo>
                    <a:lnTo>
                      <a:pt x="3342547" y="2455291"/>
                    </a:lnTo>
                    <a:lnTo>
                      <a:pt x="3331010" y="2455291"/>
                    </a:lnTo>
                    <a:lnTo>
                      <a:pt x="3331010" y="16891"/>
                    </a:lnTo>
                    <a:lnTo>
                      <a:pt x="3342547" y="16891"/>
                    </a:lnTo>
                    <a:lnTo>
                      <a:pt x="3342547" y="33909"/>
                    </a:lnTo>
                    <a:lnTo>
                      <a:pt x="11537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id="125" name="Group 125"/>
            <p:cNvGrpSpPr/>
            <p:nvPr/>
          </p:nvGrpSpPr>
          <p:grpSpPr>
            <a:xfrm>
              <a:off x="0" y="58692"/>
              <a:ext cx="2670106" cy="1954598"/>
              <a:chOff x="0" y="0"/>
              <a:chExt cx="3331010" cy="243840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333101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3331010" h="2438400">
                    <a:moveTo>
                      <a:pt x="0" y="0"/>
                    </a:moveTo>
                    <a:lnTo>
                      <a:pt x="3331010" y="0"/>
                    </a:lnTo>
                    <a:lnTo>
                      <a:pt x="333101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0719" r="-67125"/>
                </a:stretch>
              </a:blipFill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0" y="-66675"/>
                <a:ext cx="3331010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Reminders</a:t>
                </a:r>
              </a:p>
            </p:txBody>
          </p:sp>
        </p:grpSp>
      </p:grpSp>
      <p:grpSp>
        <p:nvGrpSpPr>
          <p:cNvPr id="128" name="Group 128"/>
          <p:cNvGrpSpPr/>
          <p:nvPr/>
        </p:nvGrpSpPr>
        <p:grpSpPr>
          <a:xfrm>
            <a:off x="1049865" y="7861509"/>
            <a:ext cx="1941854" cy="1509967"/>
            <a:chOff x="0" y="0"/>
            <a:chExt cx="2589139" cy="2013290"/>
          </a:xfrm>
        </p:grpSpPr>
        <p:grpSp>
          <p:nvGrpSpPr>
            <p:cNvPr id="129" name="Group 129"/>
            <p:cNvGrpSpPr/>
            <p:nvPr/>
          </p:nvGrpSpPr>
          <p:grpSpPr>
            <a:xfrm>
              <a:off x="0" y="0"/>
              <a:ext cx="2589139" cy="1983015"/>
              <a:chOff x="0" y="0"/>
              <a:chExt cx="3227940" cy="2472271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11103" y="16891"/>
                <a:ext cx="320567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3205676" h="2438400">
                    <a:moveTo>
                      <a:pt x="0" y="0"/>
                    </a:moveTo>
                    <a:lnTo>
                      <a:pt x="3205676" y="0"/>
                    </a:lnTo>
                    <a:lnTo>
                      <a:pt x="320567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0" y="0"/>
                <a:ext cx="3227882" cy="2472182"/>
              </a:xfrm>
              <a:custGeom>
                <a:avLst/>
                <a:gdLst/>
                <a:ahLst/>
                <a:cxnLst/>
                <a:rect l="l" t="t" r="r" b="b"/>
                <a:pathLst>
                  <a:path w="3227882" h="2472182">
                    <a:moveTo>
                      <a:pt x="11103" y="0"/>
                    </a:moveTo>
                    <a:lnTo>
                      <a:pt x="3216779" y="0"/>
                    </a:lnTo>
                    <a:cubicBezTo>
                      <a:pt x="3222957" y="0"/>
                      <a:pt x="3227882" y="7620"/>
                      <a:pt x="3227882" y="16891"/>
                    </a:cubicBezTo>
                    <a:lnTo>
                      <a:pt x="3227882" y="2455291"/>
                    </a:lnTo>
                    <a:cubicBezTo>
                      <a:pt x="3227882" y="2464689"/>
                      <a:pt x="3222873" y="2472182"/>
                      <a:pt x="3216779" y="2472182"/>
                    </a:cubicBezTo>
                    <a:lnTo>
                      <a:pt x="11103" y="2472182"/>
                    </a:lnTo>
                    <a:cubicBezTo>
                      <a:pt x="4925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5009" y="0"/>
                      <a:pt x="11103" y="0"/>
                    </a:cubicBezTo>
                    <a:moveTo>
                      <a:pt x="11103" y="33909"/>
                    </a:moveTo>
                    <a:lnTo>
                      <a:pt x="11103" y="16891"/>
                    </a:lnTo>
                    <a:lnTo>
                      <a:pt x="22289" y="16891"/>
                    </a:lnTo>
                    <a:lnTo>
                      <a:pt x="22289" y="2455291"/>
                    </a:lnTo>
                    <a:lnTo>
                      <a:pt x="11103" y="2455291"/>
                    </a:lnTo>
                    <a:lnTo>
                      <a:pt x="11103" y="2438400"/>
                    </a:lnTo>
                    <a:lnTo>
                      <a:pt x="3216779" y="2438400"/>
                    </a:lnTo>
                    <a:lnTo>
                      <a:pt x="3216779" y="2455291"/>
                    </a:lnTo>
                    <a:lnTo>
                      <a:pt x="3205676" y="2455291"/>
                    </a:lnTo>
                    <a:lnTo>
                      <a:pt x="3205676" y="16891"/>
                    </a:lnTo>
                    <a:lnTo>
                      <a:pt x="3216779" y="16891"/>
                    </a:lnTo>
                    <a:lnTo>
                      <a:pt x="3216779" y="33909"/>
                    </a:lnTo>
                    <a:lnTo>
                      <a:pt x="11103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id="132" name="Group 132"/>
            <p:cNvGrpSpPr/>
            <p:nvPr/>
          </p:nvGrpSpPr>
          <p:grpSpPr>
            <a:xfrm>
              <a:off x="0" y="58692"/>
              <a:ext cx="2569639" cy="1954598"/>
              <a:chOff x="0" y="0"/>
              <a:chExt cx="3205676" cy="24384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320567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3205676" h="2438400">
                    <a:moveTo>
                      <a:pt x="0" y="0"/>
                    </a:moveTo>
                    <a:lnTo>
                      <a:pt x="3205676" y="0"/>
                    </a:lnTo>
                    <a:lnTo>
                      <a:pt x="320567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1529" r="-73659"/>
                </a:stretch>
              </a:blipFill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0" y="-66675"/>
                <a:ext cx="3205676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History</a:t>
                </a:r>
              </a:p>
            </p:txBody>
          </p:sp>
        </p:grpSp>
      </p:grpSp>
      <p:grpSp>
        <p:nvGrpSpPr>
          <p:cNvPr id="135" name="Group 135"/>
          <p:cNvGrpSpPr/>
          <p:nvPr/>
        </p:nvGrpSpPr>
        <p:grpSpPr>
          <a:xfrm>
            <a:off x="6215567" y="7838802"/>
            <a:ext cx="1941854" cy="1487261"/>
            <a:chOff x="0" y="0"/>
            <a:chExt cx="2589139" cy="1983015"/>
          </a:xfrm>
        </p:grpSpPr>
        <p:grpSp>
          <p:nvGrpSpPr>
            <p:cNvPr id="136" name="Group 136"/>
            <p:cNvGrpSpPr/>
            <p:nvPr/>
          </p:nvGrpSpPr>
          <p:grpSpPr>
            <a:xfrm>
              <a:off x="0" y="0"/>
              <a:ext cx="2589139" cy="1983015"/>
              <a:chOff x="0" y="0"/>
              <a:chExt cx="3227940" cy="2472271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11103" y="16891"/>
                <a:ext cx="320567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3205676" h="2438400">
                    <a:moveTo>
                      <a:pt x="0" y="0"/>
                    </a:moveTo>
                    <a:lnTo>
                      <a:pt x="3205676" y="0"/>
                    </a:lnTo>
                    <a:lnTo>
                      <a:pt x="320567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0" y="0"/>
                <a:ext cx="3227882" cy="2472182"/>
              </a:xfrm>
              <a:custGeom>
                <a:avLst/>
                <a:gdLst/>
                <a:ahLst/>
                <a:cxnLst/>
                <a:rect l="l" t="t" r="r" b="b"/>
                <a:pathLst>
                  <a:path w="3227882" h="2472182">
                    <a:moveTo>
                      <a:pt x="11103" y="0"/>
                    </a:moveTo>
                    <a:lnTo>
                      <a:pt x="3216779" y="0"/>
                    </a:lnTo>
                    <a:cubicBezTo>
                      <a:pt x="3222957" y="0"/>
                      <a:pt x="3227882" y="7620"/>
                      <a:pt x="3227882" y="16891"/>
                    </a:cubicBezTo>
                    <a:lnTo>
                      <a:pt x="3227882" y="2455291"/>
                    </a:lnTo>
                    <a:cubicBezTo>
                      <a:pt x="3227882" y="2464689"/>
                      <a:pt x="3222873" y="2472182"/>
                      <a:pt x="3216779" y="2472182"/>
                    </a:cubicBezTo>
                    <a:lnTo>
                      <a:pt x="11103" y="2472182"/>
                    </a:lnTo>
                    <a:cubicBezTo>
                      <a:pt x="4925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5009" y="0"/>
                      <a:pt x="11103" y="0"/>
                    </a:cubicBezTo>
                    <a:moveTo>
                      <a:pt x="11103" y="33909"/>
                    </a:moveTo>
                    <a:lnTo>
                      <a:pt x="11103" y="16891"/>
                    </a:lnTo>
                    <a:lnTo>
                      <a:pt x="22289" y="16891"/>
                    </a:lnTo>
                    <a:lnTo>
                      <a:pt x="22289" y="2455291"/>
                    </a:lnTo>
                    <a:lnTo>
                      <a:pt x="11103" y="2455291"/>
                    </a:lnTo>
                    <a:lnTo>
                      <a:pt x="11103" y="2438400"/>
                    </a:lnTo>
                    <a:lnTo>
                      <a:pt x="3216779" y="2438400"/>
                    </a:lnTo>
                    <a:lnTo>
                      <a:pt x="3216779" y="2455291"/>
                    </a:lnTo>
                    <a:lnTo>
                      <a:pt x="3205676" y="2455291"/>
                    </a:lnTo>
                    <a:lnTo>
                      <a:pt x="3205676" y="16891"/>
                    </a:lnTo>
                    <a:lnTo>
                      <a:pt x="3216779" y="16891"/>
                    </a:lnTo>
                    <a:lnTo>
                      <a:pt x="3216779" y="33909"/>
                    </a:lnTo>
                    <a:lnTo>
                      <a:pt x="11103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2589139" cy="1954598"/>
              <a:chOff x="0" y="0"/>
              <a:chExt cx="3230002" cy="24384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3230002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3230002" h="2438400">
                    <a:moveTo>
                      <a:pt x="0" y="0"/>
                    </a:moveTo>
                    <a:lnTo>
                      <a:pt x="3230002" y="0"/>
                    </a:lnTo>
                    <a:lnTo>
                      <a:pt x="3230002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1366" r="-72351"/>
                </a:stretch>
              </a:blip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0" y="-66675"/>
                <a:ext cx="3230002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Continuity</a:t>
                </a:r>
              </a:p>
            </p:txBody>
          </p:sp>
        </p:grpSp>
      </p:grpSp>
      <p:grpSp>
        <p:nvGrpSpPr>
          <p:cNvPr id="142" name="Group 142"/>
          <p:cNvGrpSpPr/>
          <p:nvPr/>
        </p:nvGrpSpPr>
        <p:grpSpPr>
          <a:xfrm>
            <a:off x="2991719" y="8311609"/>
            <a:ext cx="366532" cy="549798"/>
            <a:chOff x="0" y="0"/>
            <a:chExt cx="487680" cy="731520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487680" cy="731520"/>
            </a:xfrm>
            <a:custGeom>
              <a:avLst/>
              <a:gdLst/>
              <a:ahLst/>
              <a:cxnLst/>
              <a:rect l="l" t="t" r="r" b="b"/>
              <a:pathLst>
                <a:path w="487680" h="73152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5"/>
              </a:stretch>
            </a:blipFill>
          </p:spPr>
        </p:sp>
        <p:sp>
          <p:nvSpPr>
            <p:cNvPr id="144" name="TextBox 144"/>
            <p:cNvSpPr txBox="1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5677078" y="8311609"/>
            <a:ext cx="366532" cy="549798"/>
            <a:chOff x="0" y="0"/>
            <a:chExt cx="487680" cy="731520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487680" cy="731520"/>
            </a:xfrm>
            <a:custGeom>
              <a:avLst/>
              <a:gdLst/>
              <a:ahLst/>
              <a:cxnLst/>
              <a:rect l="l" t="t" r="r" b="b"/>
              <a:pathLst>
                <a:path w="487680" h="73152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r="-142455"/>
              </a:stretch>
            </a:blipFill>
          </p:spPr>
        </p:sp>
        <p:sp>
          <p:nvSpPr>
            <p:cNvPr id="147" name="TextBox 147"/>
            <p:cNvSpPr txBox="1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9910244" y="2962270"/>
            <a:ext cx="7349056" cy="6563605"/>
            <a:chOff x="0" y="0"/>
            <a:chExt cx="9798741" cy="8751473"/>
          </a:xfrm>
        </p:grpSpPr>
        <p:grpSp>
          <p:nvGrpSpPr>
            <p:cNvPr id="149" name="Group 149"/>
            <p:cNvGrpSpPr/>
            <p:nvPr/>
          </p:nvGrpSpPr>
          <p:grpSpPr>
            <a:xfrm>
              <a:off x="0" y="0"/>
              <a:ext cx="9798741" cy="8751473"/>
              <a:chOff x="0" y="0"/>
              <a:chExt cx="10266680" cy="9169400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12700" y="12700"/>
                <a:ext cx="10241280" cy="9144000"/>
              </a:xfrm>
              <a:custGeom>
                <a:avLst/>
                <a:gdLst/>
                <a:ahLst/>
                <a:cxnLst/>
                <a:rect l="l" t="t" r="r" b="b"/>
                <a:pathLst>
                  <a:path w="10241280" h="9144000">
                    <a:moveTo>
                      <a:pt x="0" y="0"/>
                    </a:moveTo>
                    <a:lnTo>
                      <a:pt x="10241280" y="0"/>
                    </a:lnTo>
                    <a:lnTo>
                      <a:pt x="10241280" y="9144000"/>
                    </a:lnTo>
                    <a:lnTo>
                      <a:pt x="0" y="914400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151" name="Freeform 151"/>
              <p:cNvSpPr/>
              <p:nvPr/>
            </p:nvSpPr>
            <p:spPr>
              <a:xfrm>
                <a:off x="0" y="0"/>
                <a:ext cx="10266680" cy="9169400"/>
              </a:xfrm>
              <a:custGeom>
                <a:avLst/>
                <a:gdLst/>
                <a:ahLst/>
                <a:cxnLst/>
                <a:rect l="l" t="t" r="r" b="b"/>
                <a:pathLst>
                  <a:path w="10266680" h="9169400">
                    <a:moveTo>
                      <a:pt x="12700" y="0"/>
                    </a:moveTo>
                    <a:lnTo>
                      <a:pt x="10253980" y="0"/>
                    </a:lnTo>
                    <a:cubicBezTo>
                      <a:pt x="10260965" y="0"/>
                      <a:pt x="10266680" y="5715"/>
                      <a:pt x="10266680" y="12700"/>
                    </a:cubicBezTo>
                    <a:lnTo>
                      <a:pt x="10266680" y="9156700"/>
                    </a:lnTo>
                    <a:cubicBezTo>
                      <a:pt x="10266680" y="9163685"/>
                      <a:pt x="10260965" y="9169400"/>
                      <a:pt x="10253980" y="9169400"/>
                    </a:cubicBezTo>
                    <a:lnTo>
                      <a:pt x="12700" y="9169400"/>
                    </a:lnTo>
                    <a:cubicBezTo>
                      <a:pt x="5715" y="9169400"/>
                      <a:pt x="0" y="9163685"/>
                      <a:pt x="0" y="91567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9156700"/>
                    </a:lnTo>
                    <a:lnTo>
                      <a:pt x="12700" y="9156700"/>
                    </a:lnTo>
                    <a:lnTo>
                      <a:pt x="12700" y="9144000"/>
                    </a:lnTo>
                    <a:lnTo>
                      <a:pt x="10253980" y="9144000"/>
                    </a:lnTo>
                    <a:lnTo>
                      <a:pt x="10253980" y="9156700"/>
                    </a:lnTo>
                    <a:lnTo>
                      <a:pt x="10241280" y="9156700"/>
                    </a:lnTo>
                    <a:lnTo>
                      <a:pt x="10241280" y="12700"/>
                    </a:lnTo>
                    <a:lnTo>
                      <a:pt x="10253980" y="12700"/>
                    </a:lnTo>
                    <a:lnTo>
                      <a:pt x="1025398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004BF0"/>
              </a:solidFill>
            </p:spPr>
          </p:sp>
        </p:grpSp>
        <p:grpSp>
          <p:nvGrpSpPr>
            <p:cNvPr id="152" name="Group 152"/>
            <p:cNvGrpSpPr/>
            <p:nvPr/>
          </p:nvGrpSpPr>
          <p:grpSpPr>
            <a:xfrm>
              <a:off x="710300" y="1932112"/>
              <a:ext cx="8378142" cy="2443625"/>
              <a:chOff x="0" y="0"/>
              <a:chExt cx="8778240" cy="2560320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0" y="0"/>
                <a:ext cx="8778240" cy="2560320"/>
              </a:xfrm>
              <a:custGeom>
                <a:avLst/>
                <a:gdLst/>
                <a:ahLst/>
                <a:cxnLst/>
                <a:rect l="l" t="t" r="r" b="b"/>
                <a:pathLst>
                  <a:path w="8778240" h="2560320">
                    <a:moveTo>
                      <a:pt x="0" y="0"/>
                    </a:moveTo>
                    <a:lnTo>
                      <a:pt x="8778240" y="0"/>
                    </a:lnTo>
                    <a:lnTo>
                      <a:pt x="8778240" y="2560320"/>
                    </a:lnTo>
                    <a:lnTo>
                      <a:pt x="0" y="25603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805" b="-16805"/>
                </a:stretch>
              </a:blipFill>
            </p:spPr>
          </p:sp>
          <p:sp>
            <p:nvSpPr>
              <p:cNvPr id="154" name="TextBox 154"/>
              <p:cNvSpPr txBox="1"/>
              <p:nvPr/>
            </p:nvSpPr>
            <p:spPr>
              <a:xfrm>
                <a:off x="0" y="-66675"/>
                <a:ext cx="8778240" cy="262699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959"/>
                  </a:lnSpc>
                </a:pPr>
                <a:r>
                  <a:rPr lang="en-US" sz="32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AI-native, consent-aware,</a:t>
                </a:r>
              </a:p>
              <a:p>
                <a:pPr algn="ctr">
                  <a:lnSpc>
                    <a:spcPts val="3959"/>
                  </a:lnSpc>
                </a:pPr>
                <a:r>
                  <a:rPr lang="en-US" sz="32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bilingual healthcare for everyone.</a:t>
                </a:r>
              </a:p>
            </p:txBody>
          </p:sp>
        </p:grpSp>
        <p:grpSp>
          <p:nvGrpSpPr>
            <p:cNvPr id="155" name="Group 155"/>
            <p:cNvGrpSpPr/>
            <p:nvPr/>
          </p:nvGrpSpPr>
          <p:grpSpPr>
            <a:xfrm>
              <a:off x="448483" y="4506645"/>
              <a:ext cx="959995" cy="959995"/>
              <a:chOff x="0" y="0"/>
              <a:chExt cx="548640" cy="548640"/>
            </a:xfrm>
          </p:grpSpPr>
          <p:sp>
            <p:nvSpPr>
              <p:cNvPr id="156" name="Freeform 156" descr="preencoded.png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</p:sp>
        </p:grpSp>
        <p:grpSp>
          <p:nvGrpSpPr>
            <p:cNvPr id="157" name="Group 157"/>
            <p:cNvGrpSpPr/>
            <p:nvPr/>
          </p:nvGrpSpPr>
          <p:grpSpPr>
            <a:xfrm>
              <a:off x="535755" y="5466641"/>
              <a:ext cx="785451" cy="785451"/>
              <a:chOff x="0" y="0"/>
              <a:chExt cx="548640" cy="548640"/>
            </a:xfrm>
          </p:grpSpPr>
          <p:sp>
            <p:nvSpPr>
              <p:cNvPr id="158" name="Freeform 158" descr="preencoded.png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</p:sp>
        </p:grpSp>
        <p:grpSp>
          <p:nvGrpSpPr>
            <p:cNvPr id="159" name="Group 159"/>
            <p:cNvGrpSpPr/>
            <p:nvPr/>
          </p:nvGrpSpPr>
          <p:grpSpPr>
            <a:xfrm>
              <a:off x="579391" y="6622999"/>
              <a:ext cx="698178" cy="698178"/>
              <a:chOff x="0" y="0"/>
              <a:chExt cx="548640" cy="548640"/>
            </a:xfrm>
          </p:grpSpPr>
          <p:sp>
            <p:nvSpPr>
              <p:cNvPr id="160" name="Freeform 160" descr="preencoded.png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</p:spPr>
          </p:sp>
        </p:grpSp>
        <p:grpSp>
          <p:nvGrpSpPr>
            <p:cNvPr id="161" name="Group 161"/>
            <p:cNvGrpSpPr/>
            <p:nvPr/>
          </p:nvGrpSpPr>
          <p:grpSpPr>
            <a:xfrm>
              <a:off x="579391" y="7696933"/>
              <a:ext cx="610906" cy="610906"/>
              <a:chOff x="0" y="0"/>
              <a:chExt cx="548640" cy="548640"/>
            </a:xfrm>
          </p:grpSpPr>
          <p:sp>
            <p:nvSpPr>
              <p:cNvPr id="162" name="Freeform 162" descr="preencoded.png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</p:grpSp>
      <p:grpSp>
        <p:nvGrpSpPr>
          <p:cNvPr id="163" name="Group 163"/>
          <p:cNvGrpSpPr/>
          <p:nvPr/>
        </p:nvGrpSpPr>
        <p:grpSpPr>
          <a:xfrm>
            <a:off x="11058200" y="7140037"/>
            <a:ext cx="5759973" cy="557138"/>
            <a:chOff x="0" y="0"/>
            <a:chExt cx="8046720" cy="778325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8046720" cy="778325"/>
            </a:xfrm>
            <a:custGeom>
              <a:avLst/>
              <a:gdLst/>
              <a:ahLst/>
              <a:cxnLst/>
              <a:rect l="l" t="t" r="r" b="b"/>
              <a:pathLst>
                <a:path w="8046720" h="778325">
                  <a:moveTo>
                    <a:pt x="0" y="0"/>
                  </a:moveTo>
                  <a:lnTo>
                    <a:pt x="8046720" y="0"/>
                  </a:lnTo>
                  <a:lnTo>
                    <a:pt x="8046720" y="778325"/>
                  </a:lnTo>
                  <a:lnTo>
                    <a:pt x="0" y="77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452" b="-148439"/>
              </a:stretch>
            </a:blipFill>
          </p:spPr>
        </p:sp>
        <p:sp>
          <p:nvSpPr>
            <p:cNvPr id="165" name="TextBox 165"/>
            <p:cNvSpPr txBox="1"/>
            <p:nvPr/>
          </p:nvSpPr>
          <p:spPr>
            <a:xfrm>
              <a:off x="0" y="-66675"/>
              <a:ext cx="8046720" cy="84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slots</a:t>
              </a:r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11058200" y="6424528"/>
            <a:ext cx="5759973" cy="557138"/>
            <a:chOff x="0" y="0"/>
            <a:chExt cx="8046720" cy="778325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8046720" cy="778325"/>
            </a:xfrm>
            <a:custGeom>
              <a:avLst/>
              <a:gdLst/>
              <a:ahLst/>
              <a:cxnLst/>
              <a:rect l="l" t="t" r="r" b="b"/>
              <a:pathLst>
                <a:path w="8046720" h="778325">
                  <a:moveTo>
                    <a:pt x="0" y="0"/>
                  </a:moveTo>
                  <a:lnTo>
                    <a:pt x="8046720" y="0"/>
                  </a:lnTo>
                  <a:lnTo>
                    <a:pt x="8046720" y="778325"/>
                  </a:lnTo>
                  <a:lnTo>
                    <a:pt x="0" y="77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452" b="-148439"/>
              </a:stretch>
            </a:blipFill>
          </p:spPr>
        </p:sp>
        <p:sp>
          <p:nvSpPr>
            <p:cNvPr id="168" name="TextBox 168"/>
            <p:cNvSpPr txBox="1"/>
            <p:nvPr/>
          </p:nvSpPr>
          <p:spPr>
            <a:xfrm>
              <a:off x="0" y="-66675"/>
              <a:ext cx="8046720" cy="84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English + বাংলা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11058200" y="7916250"/>
            <a:ext cx="5759973" cy="557138"/>
            <a:chOff x="0" y="0"/>
            <a:chExt cx="8046720" cy="778325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8046720" cy="778325"/>
            </a:xfrm>
            <a:custGeom>
              <a:avLst/>
              <a:gdLst/>
              <a:ahLst/>
              <a:cxnLst/>
              <a:rect l="l" t="t" r="r" b="b"/>
              <a:pathLst>
                <a:path w="8046720" h="778325">
                  <a:moveTo>
                    <a:pt x="0" y="0"/>
                  </a:moveTo>
                  <a:lnTo>
                    <a:pt x="8046720" y="0"/>
                  </a:lnTo>
                  <a:lnTo>
                    <a:pt x="8046720" y="778325"/>
                  </a:lnTo>
                  <a:lnTo>
                    <a:pt x="0" y="77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452" b="-148439"/>
              </a:stretch>
            </a:blipFill>
          </p:spPr>
        </p:sp>
        <p:sp>
          <p:nvSpPr>
            <p:cNvPr id="171" name="TextBox 171"/>
            <p:cNvSpPr txBox="1"/>
            <p:nvPr/>
          </p:nvSpPr>
          <p:spPr>
            <a:xfrm>
              <a:off x="0" y="-66675"/>
              <a:ext cx="8046720" cy="84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Consent-first AI</a:t>
              </a:r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11058200" y="8690800"/>
            <a:ext cx="5759973" cy="557138"/>
            <a:chOff x="0" y="0"/>
            <a:chExt cx="8046720" cy="778325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8046720" cy="778325"/>
            </a:xfrm>
            <a:custGeom>
              <a:avLst/>
              <a:gdLst/>
              <a:ahLst/>
              <a:cxnLst/>
              <a:rect l="l" t="t" r="r" b="b"/>
              <a:pathLst>
                <a:path w="8046720" h="778325">
                  <a:moveTo>
                    <a:pt x="0" y="0"/>
                  </a:moveTo>
                  <a:lnTo>
                    <a:pt x="8046720" y="0"/>
                  </a:lnTo>
                  <a:lnTo>
                    <a:pt x="8046720" y="778325"/>
                  </a:lnTo>
                  <a:lnTo>
                    <a:pt x="0" y="77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452" b="-148439"/>
              </a:stretch>
            </a:blipFill>
          </p:spPr>
        </p:sp>
        <p:sp>
          <p:nvSpPr>
            <p:cNvPr id="174" name="TextBox 174"/>
            <p:cNvSpPr txBox="1"/>
            <p:nvPr/>
          </p:nvSpPr>
          <p:spPr>
            <a:xfrm>
              <a:off x="0" y="-66675"/>
              <a:ext cx="8046720" cy="84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&amp; OCR</a:t>
              </a:r>
            </a:p>
          </p:txBody>
        </p:sp>
      </p:grpSp>
      <p:sp>
        <p:nvSpPr>
          <p:cNvPr id="175" name="TextBox 175"/>
          <p:cNvSpPr txBox="1"/>
          <p:nvPr/>
        </p:nvSpPr>
        <p:spPr>
          <a:xfrm>
            <a:off x="11848781" y="3232564"/>
            <a:ext cx="3471982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  <a:spcBef>
                <a:spcPct val="0"/>
              </a:spcBef>
            </a:pPr>
            <a:r>
              <a:rPr lang="en-US" sz="7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Medora </a:t>
            </a:r>
          </a:p>
        </p:txBody>
      </p:sp>
      <p:grpSp>
        <p:nvGrpSpPr>
          <p:cNvPr id="176" name="Group 176"/>
          <p:cNvGrpSpPr/>
          <p:nvPr/>
        </p:nvGrpSpPr>
        <p:grpSpPr>
          <a:xfrm>
            <a:off x="13795117" y="6280564"/>
            <a:ext cx="836567" cy="836567"/>
            <a:chOff x="0" y="0"/>
            <a:chExt cx="1115423" cy="1115423"/>
          </a:xfrm>
        </p:grpSpPr>
        <p:grpSp>
          <p:nvGrpSpPr>
            <p:cNvPr id="177" name="Group 177"/>
            <p:cNvGrpSpPr/>
            <p:nvPr/>
          </p:nvGrpSpPr>
          <p:grpSpPr>
            <a:xfrm>
              <a:off x="0" y="0"/>
              <a:ext cx="1115423" cy="1115423"/>
              <a:chOff x="0" y="0"/>
              <a:chExt cx="1579880" cy="1579880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12700" y="12700"/>
                <a:ext cx="1554480" cy="1554480"/>
              </a:xfrm>
              <a:custGeom>
                <a:avLst/>
                <a:gdLst/>
                <a:ahLst/>
                <a:cxnLst/>
                <a:rect l="l" t="t" r="r" b="b"/>
                <a:pathLst>
                  <a:path w="1554480" h="1554480">
                    <a:moveTo>
                      <a:pt x="0" y="777240"/>
                    </a:moveTo>
                    <a:cubicBezTo>
                      <a:pt x="0" y="347980"/>
                      <a:pt x="347980" y="0"/>
                      <a:pt x="777240" y="0"/>
                    </a:cubicBezTo>
                    <a:cubicBezTo>
                      <a:pt x="1206500" y="0"/>
                      <a:pt x="1554480" y="347980"/>
                      <a:pt x="1554480" y="777240"/>
                    </a:cubicBezTo>
                    <a:cubicBezTo>
                      <a:pt x="1554480" y="1206500"/>
                      <a:pt x="1206500" y="1554480"/>
                      <a:pt x="777240" y="1554480"/>
                    </a:cubicBezTo>
                    <a:cubicBezTo>
                      <a:pt x="347980" y="1554480"/>
                      <a:pt x="0" y="1206500"/>
                      <a:pt x="0" y="777240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id="179" name="Freeform 179"/>
              <p:cNvSpPr/>
              <p:nvPr/>
            </p:nvSpPr>
            <p:spPr>
              <a:xfrm>
                <a:off x="0" y="0"/>
                <a:ext cx="1579880" cy="1579880"/>
              </a:xfrm>
              <a:custGeom>
                <a:avLst/>
                <a:gdLst/>
                <a:ahLst/>
                <a:cxnLst/>
                <a:rect l="l" t="t" r="r" b="b"/>
                <a:pathLst>
                  <a:path w="1579880" h="1579880">
                    <a:moveTo>
                      <a:pt x="0" y="789940"/>
                    </a:moveTo>
                    <a:cubicBezTo>
                      <a:pt x="0" y="353695"/>
                      <a:pt x="353695" y="0"/>
                      <a:pt x="789940" y="0"/>
                    </a:cubicBezTo>
                    <a:lnTo>
                      <a:pt x="789940" y="12700"/>
                    </a:lnTo>
                    <a:lnTo>
                      <a:pt x="789940" y="0"/>
                    </a:lnTo>
                    <a:cubicBezTo>
                      <a:pt x="1226185" y="0"/>
                      <a:pt x="1579880" y="353695"/>
                      <a:pt x="1579880" y="789940"/>
                    </a:cubicBezTo>
                    <a:cubicBezTo>
                      <a:pt x="1579880" y="1226185"/>
                      <a:pt x="1226185" y="1579880"/>
                      <a:pt x="789940" y="1579880"/>
                    </a:cubicBezTo>
                    <a:lnTo>
                      <a:pt x="789940" y="1567180"/>
                    </a:lnTo>
                    <a:lnTo>
                      <a:pt x="789940" y="1579880"/>
                    </a:lnTo>
                    <a:cubicBezTo>
                      <a:pt x="353695" y="1579880"/>
                      <a:pt x="0" y="1226185"/>
                      <a:pt x="0" y="789940"/>
                    </a:cubicBezTo>
                    <a:lnTo>
                      <a:pt x="12700" y="789940"/>
                    </a:lnTo>
                    <a:lnTo>
                      <a:pt x="23495" y="796671"/>
                    </a:lnTo>
                    <a:cubicBezTo>
                      <a:pt x="20447" y="801497"/>
                      <a:pt x="14605" y="803656"/>
                      <a:pt x="9271" y="802132"/>
                    </a:cubicBezTo>
                    <a:cubicBezTo>
                      <a:pt x="3937" y="800608"/>
                      <a:pt x="0" y="795655"/>
                      <a:pt x="0" y="789940"/>
                    </a:cubicBezTo>
                    <a:moveTo>
                      <a:pt x="25400" y="789940"/>
                    </a:moveTo>
                    <a:lnTo>
                      <a:pt x="12700" y="789940"/>
                    </a:lnTo>
                    <a:lnTo>
                      <a:pt x="1905" y="783209"/>
                    </a:lnTo>
                    <a:cubicBezTo>
                      <a:pt x="4953" y="778383"/>
                      <a:pt x="10795" y="776224"/>
                      <a:pt x="16129" y="777748"/>
                    </a:cubicBezTo>
                    <a:cubicBezTo>
                      <a:pt x="21463" y="779272"/>
                      <a:pt x="25273" y="784352"/>
                      <a:pt x="25273" y="789940"/>
                    </a:cubicBezTo>
                    <a:cubicBezTo>
                      <a:pt x="25273" y="1212215"/>
                      <a:pt x="367538" y="1554480"/>
                      <a:pt x="789813" y="1554480"/>
                    </a:cubicBezTo>
                    <a:cubicBezTo>
                      <a:pt x="1212088" y="1554480"/>
                      <a:pt x="1554353" y="1212215"/>
                      <a:pt x="1554353" y="789940"/>
                    </a:cubicBezTo>
                    <a:lnTo>
                      <a:pt x="1567053" y="789940"/>
                    </a:lnTo>
                    <a:lnTo>
                      <a:pt x="1554353" y="789940"/>
                    </a:lnTo>
                    <a:cubicBezTo>
                      <a:pt x="1554480" y="367665"/>
                      <a:pt x="1212215" y="25400"/>
                      <a:pt x="789940" y="25400"/>
                    </a:cubicBezTo>
                    <a:lnTo>
                      <a:pt x="789940" y="12700"/>
                    </a:lnTo>
                    <a:lnTo>
                      <a:pt x="789940" y="25400"/>
                    </a:lnTo>
                    <a:cubicBezTo>
                      <a:pt x="367665" y="25400"/>
                      <a:pt x="25400" y="367665"/>
                      <a:pt x="25400" y="789940"/>
                    </a:cubicBezTo>
                    <a:close/>
                  </a:path>
                </a:pathLst>
              </a:custGeom>
              <a:solidFill>
                <a:srgbClr val="DBEAFE"/>
              </a:solidFill>
            </p:spPr>
          </p:sp>
        </p:grpSp>
        <p:grpSp>
          <p:nvGrpSpPr>
            <p:cNvPr id="180" name="Group 180"/>
            <p:cNvGrpSpPr/>
            <p:nvPr/>
          </p:nvGrpSpPr>
          <p:grpSpPr>
            <a:xfrm>
              <a:off x="287020" y="287020"/>
              <a:ext cx="502920" cy="502920"/>
              <a:chOff x="0" y="0"/>
              <a:chExt cx="1005840" cy="1005840"/>
            </a:xfrm>
          </p:grpSpPr>
          <p:sp>
            <p:nvSpPr>
              <p:cNvPr id="181" name="Freeform 181" descr="preencoded.png"/>
              <p:cNvSpPr/>
              <p:nvPr/>
            </p:nvSpPr>
            <p:spPr>
              <a:xfrm>
                <a:off x="0" y="0"/>
                <a:ext cx="100584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1005840" h="1005840">
                    <a:moveTo>
                      <a:pt x="0" y="0"/>
                    </a:moveTo>
                    <a:lnTo>
                      <a:pt x="1005840" y="0"/>
                    </a:lnTo>
                    <a:lnTo>
                      <a:pt x="1005840" y="1005840"/>
                    </a:lnTo>
                    <a:lnTo>
                      <a:pt x="0" y="10058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</p:spPr>
          </p:sp>
        </p:grpSp>
      </p:grpSp>
      <p:grpSp>
        <p:nvGrpSpPr>
          <p:cNvPr id="182" name="Group 182"/>
          <p:cNvGrpSpPr/>
          <p:nvPr/>
        </p:nvGrpSpPr>
        <p:grpSpPr>
          <a:xfrm>
            <a:off x="14948535" y="6424528"/>
            <a:ext cx="6035040" cy="557138"/>
            <a:chOff x="0" y="0"/>
            <a:chExt cx="8046720" cy="742851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8046720" cy="742851"/>
            </a:xfrm>
            <a:custGeom>
              <a:avLst/>
              <a:gdLst/>
              <a:ahLst/>
              <a:cxnLst/>
              <a:rect l="l" t="t" r="r" b="b"/>
              <a:pathLst>
                <a:path w="8046720" h="742851">
                  <a:moveTo>
                    <a:pt x="0" y="0"/>
                  </a:moveTo>
                  <a:lnTo>
                    <a:pt x="8046720" y="0"/>
                  </a:lnTo>
                  <a:lnTo>
                    <a:pt x="804672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828" b="-160303"/>
              </a:stretch>
            </a:blipFill>
          </p:spPr>
        </p:sp>
        <p:sp>
          <p:nvSpPr>
            <p:cNvPr id="184" name="TextBox 184"/>
            <p:cNvSpPr txBox="1"/>
            <p:nvPr/>
          </p:nvSpPr>
          <p:spPr>
            <a:xfrm>
              <a:off x="0" y="-66675"/>
              <a:ext cx="804672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13776066" y="7365852"/>
            <a:ext cx="898771" cy="898771"/>
            <a:chOff x="0" y="0"/>
            <a:chExt cx="1198362" cy="1198362"/>
          </a:xfrm>
        </p:grpSpPr>
        <p:grpSp>
          <p:nvGrpSpPr>
            <p:cNvPr id="186" name="Group 186"/>
            <p:cNvGrpSpPr/>
            <p:nvPr/>
          </p:nvGrpSpPr>
          <p:grpSpPr>
            <a:xfrm>
              <a:off x="0" y="0"/>
              <a:ext cx="1198362" cy="1198362"/>
              <a:chOff x="0" y="0"/>
              <a:chExt cx="1579880" cy="157988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12700" y="12700"/>
                <a:ext cx="1554480" cy="1554480"/>
              </a:xfrm>
              <a:custGeom>
                <a:avLst/>
                <a:gdLst/>
                <a:ahLst/>
                <a:cxnLst/>
                <a:rect l="l" t="t" r="r" b="b"/>
                <a:pathLst>
                  <a:path w="1554480" h="1554480">
                    <a:moveTo>
                      <a:pt x="0" y="777240"/>
                    </a:moveTo>
                    <a:cubicBezTo>
                      <a:pt x="0" y="347980"/>
                      <a:pt x="347980" y="0"/>
                      <a:pt x="777240" y="0"/>
                    </a:cubicBezTo>
                    <a:cubicBezTo>
                      <a:pt x="1206500" y="0"/>
                      <a:pt x="1554480" y="347980"/>
                      <a:pt x="1554480" y="777240"/>
                    </a:cubicBezTo>
                    <a:cubicBezTo>
                      <a:pt x="1554480" y="1206500"/>
                      <a:pt x="1206500" y="1554480"/>
                      <a:pt x="777240" y="1554480"/>
                    </a:cubicBezTo>
                    <a:cubicBezTo>
                      <a:pt x="347980" y="1554480"/>
                      <a:pt x="0" y="1206500"/>
                      <a:pt x="0" y="777240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0" y="0"/>
                <a:ext cx="1579880" cy="1579880"/>
              </a:xfrm>
              <a:custGeom>
                <a:avLst/>
                <a:gdLst/>
                <a:ahLst/>
                <a:cxnLst/>
                <a:rect l="l" t="t" r="r" b="b"/>
                <a:pathLst>
                  <a:path w="1579880" h="1579880">
                    <a:moveTo>
                      <a:pt x="0" y="789940"/>
                    </a:moveTo>
                    <a:cubicBezTo>
                      <a:pt x="0" y="353695"/>
                      <a:pt x="353695" y="0"/>
                      <a:pt x="789940" y="0"/>
                    </a:cubicBezTo>
                    <a:lnTo>
                      <a:pt x="789940" y="12700"/>
                    </a:lnTo>
                    <a:lnTo>
                      <a:pt x="789940" y="0"/>
                    </a:lnTo>
                    <a:cubicBezTo>
                      <a:pt x="1226185" y="0"/>
                      <a:pt x="1579880" y="353695"/>
                      <a:pt x="1579880" y="789940"/>
                    </a:cubicBezTo>
                    <a:cubicBezTo>
                      <a:pt x="1579880" y="1226185"/>
                      <a:pt x="1226185" y="1579880"/>
                      <a:pt x="789940" y="1579880"/>
                    </a:cubicBezTo>
                    <a:lnTo>
                      <a:pt x="789940" y="1567180"/>
                    </a:lnTo>
                    <a:lnTo>
                      <a:pt x="789940" y="1579880"/>
                    </a:lnTo>
                    <a:cubicBezTo>
                      <a:pt x="353695" y="1579880"/>
                      <a:pt x="0" y="1226185"/>
                      <a:pt x="0" y="789940"/>
                    </a:cubicBezTo>
                    <a:lnTo>
                      <a:pt x="12700" y="789940"/>
                    </a:lnTo>
                    <a:lnTo>
                      <a:pt x="23495" y="796671"/>
                    </a:lnTo>
                    <a:cubicBezTo>
                      <a:pt x="20447" y="801497"/>
                      <a:pt x="14605" y="803656"/>
                      <a:pt x="9271" y="802132"/>
                    </a:cubicBezTo>
                    <a:cubicBezTo>
                      <a:pt x="3937" y="800608"/>
                      <a:pt x="0" y="795655"/>
                      <a:pt x="0" y="789940"/>
                    </a:cubicBezTo>
                    <a:moveTo>
                      <a:pt x="25400" y="789940"/>
                    </a:moveTo>
                    <a:lnTo>
                      <a:pt x="12700" y="789940"/>
                    </a:lnTo>
                    <a:lnTo>
                      <a:pt x="1905" y="783209"/>
                    </a:lnTo>
                    <a:cubicBezTo>
                      <a:pt x="4953" y="778383"/>
                      <a:pt x="10795" y="776224"/>
                      <a:pt x="16129" y="777748"/>
                    </a:cubicBezTo>
                    <a:cubicBezTo>
                      <a:pt x="21463" y="779272"/>
                      <a:pt x="25273" y="784352"/>
                      <a:pt x="25273" y="789940"/>
                    </a:cubicBezTo>
                    <a:cubicBezTo>
                      <a:pt x="25273" y="1212215"/>
                      <a:pt x="367538" y="1554480"/>
                      <a:pt x="789813" y="1554480"/>
                    </a:cubicBezTo>
                    <a:cubicBezTo>
                      <a:pt x="1212088" y="1554480"/>
                      <a:pt x="1554353" y="1212215"/>
                      <a:pt x="1554353" y="789940"/>
                    </a:cubicBezTo>
                    <a:lnTo>
                      <a:pt x="1567053" y="789940"/>
                    </a:lnTo>
                    <a:lnTo>
                      <a:pt x="1554353" y="789940"/>
                    </a:lnTo>
                    <a:cubicBezTo>
                      <a:pt x="1554480" y="367665"/>
                      <a:pt x="1212215" y="25400"/>
                      <a:pt x="789940" y="25400"/>
                    </a:cubicBezTo>
                    <a:lnTo>
                      <a:pt x="789940" y="12700"/>
                    </a:lnTo>
                    <a:lnTo>
                      <a:pt x="789940" y="25400"/>
                    </a:lnTo>
                    <a:cubicBezTo>
                      <a:pt x="367665" y="25400"/>
                      <a:pt x="25400" y="367665"/>
                      <a:pt x="25400" y="789940"/>
                    </a:cubicBezTo>
                    <a:close/>
                  </a:path>
                </a:pathLst>
              </a:custGeom>
              <a:solidFill>
                <a:srgbClr val="004BF0"/>
              </a:solidFill>
            </p:spPr>
          </p:sp>
        </p:grpSp>
        <p:grpSp>
          <p:nvGrpSpPr>
            <p:cNvPr id="189" name="Group 189"/>
            <p:cNvGrpSpPr/>
            <p:nvPr/>
          </p:nvGrpSpPr>
          <p:grpSpPr>
            <a:xfrm>
              <a:off x="324472" y="324472"/>
              <a:ext cx="549418" cy="549418"/>
              <a:chOff x="0" y="0"/>
              <a:chExt cx="1005840" cy="1005840"/>
            </a:xfrm>
          </p:grpSpPr>
          <p:sp>
            <p:nvSpPr>
              <p:cNvPr id="190" name="Freeform 190" descr="preencoded.png"/>
              <p:cNvSpPr/>
              <p:nvPr/>
            </p:nvSpPr>
            <p:spPr>
              <a:xfrm>
                <a:off x="0" y="0"/>
                <a:ext cx="100584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1005840" h="1005840">
                    <a:moveTo>
                      <a:pt x="0" y="0"/>
                    </a:moveTo>
                    <a:lnTo>
                      <a:pt x="1005840" y="0"/>
                    </a:lnTo>
                    <a:lnTo>
                      <a:pt x="1005840" y="1005840"/>
                    </a:lnTo>
                    <a:lnTo>
                      <a:pt x="0" y="10058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/>
                </a:stretch>
              </a:blipFill>
            </p:spPr>
          </p:sp>
        </p:grpSp>
      </p:grpSp>
      <p:grpSp>
        <p:nvGrpSpPr>
          <p:cNvPr id="191" name="Group 191"/>
          <p:cNvGrpSpPr/>
          <p:nvPr/>
        </p:nvGrpSpPr>
        <p:grpSpPr>
          <a:xfrm>
            <a:off x="13763625" y="8473387"/>
            <a:ext cx="923653" cy="923653"/>
            <a:chOff x="0" y="0"/>
            <a:chExt cx="1231537" cy="1231537"/>
          </a:xfrm>
        </p:grpSpPr>
        <p:grpSp>
          <p:nvGrpSpPr>
            <p:cNvPr id="192" name="Group 192"/>
            <p:cNvGrpSpPr/>
            <p:nvPr/>
          </p:nvGrpSpPr>
          <p:grpSpPr>
            <a:xfrm>
              <a:off x="0" y="0"/>
              <a:ext cx="1231537" cy="1231537"/>
              <a:chOff x="0" y="0"/>
              <a:chExt cx="1579880" cy="1579880"/>
            </a:xfrm>
          </p:grpSpPr>
          <p:sp>
            <p:nvSpPr>
              <p:cNvPr id="193" name="Freeform 193"/>
              <p:cNvSpPr/>
              <p:nvPr/>
            </p:nvSpPr>
            <p:spPr>
              <a:xfrm>
                <a:off x="12700" y="12700"/>
                <a:ext cx="1554480" cy="1554480"/>
              </a:xfrm>
              <a:custGeom>
                <a:avLst/>
                <a:gdLst/>
                <a:ahLst/>
                <a:cxnLst/>
                <a:rect l="l" t="t" r="r" b="b"/>
                <a:pathLst>
                  <a:path w="1554480" h="1554480">
                    <a:moveTo>
                      <a:pt x="0" y="777240"/>
                    </a:moveTo>
                    <a:cubicBezTo>
                      <a:pt x="0" y="347980"/>
                      <a:pt x="347980" y="0"/>
                      <a:pt x="777240" y="0"/>
                    </a:cubicBezTo>
                    <a:cubicBezTo>
                      <a:pt x="1206500" y="0"/>
                      <a:pt x="1554480" y="347980"/>
                      <a:pt x="1554480" y="777240"/>
                    </a:cubicBezTo>
                    <a:cubicBezTo>
                      <a:pt x="1554480" y="1206500"/>
                      <a:pt x="1206500" y="1554480"/>
                      <a:pt x="777240" y="1554480"/>
                    </a:cubicBezTo>
                    <a:cubicBezTo>
                      <a:pt x="347980" y="1554480"/>
                      <a:pt x="0" y="1206500"/>
                      <a:pt x="0" y="777240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id="194" name="Freeform 194"/>
              <p:cNvSpPr/>
              <p:nvPr/>
            </p:nvSpPr>
            <p:spPr>
              <a:xfrm>
                <a:off x="0" y="0"/>
                <a:ext cx="1579880" cy="1579880"/>
              </a:xfrm>
              <a:custGeom>
                <a:avLst/>
                <a:gdLst/>
                <a:ahLst/>
                <a:cxnLst/>
                <a:rect l="l" t="t" r="r" b="b"/>
                <a:pathLst>
                  <a:path w="1579880" h="1579880">
                    <a:moveTo>
                      <a:pt x="0" y="789940"/>
                    </a:moveTo>
                    <a:cubicBezTo>
                      <a:pt x="0" y="353695"/>
                      <a:pt x="353695" y="0"/>
                      <a:pt x="789940" y="0"/>
                    </a:cubicBezTo>
                    <a:lnTo>
                      <a:pt x="789940" y="12700"/>
                    </a:lnTo>
                    <a:lnTo>
                      <a:pt x="789940" y="0"/>
                    </a:lnTo>
                    <a:cubicBezTo>
                      <a:pt x="1226185" y="0"/>
                      <a:pt x="1579880" y="353695"/>
                      <a:pt x="1579880" y="789940"/>
                    </a:cubicBezTo>
                    <a:cubicBezTo>
                      <a:pt x="1579880" y="1226185"/>
                      <a:pt x="1226185" y="1579880"/>
                      <a:pt x="789940" y="1579880"/>
                    </a:cubicBezTo>
                    <a:lnTo>
                      <a:pt x="789940" y="1567180"/>
                    </a:lnTo>
                    <a:lnTo>
                      <a:pt x="789940" y="1579880"/>
                    </a:lnTo>
                    <a:cubicBezTo>
                      <a:pt x="353695" y="1579880"/>
                      <a:pt x="0" y="1226185"/>
                      <a:pt x="0" y="789940"/>
                    </a:cubicBezTo>
                    <a:lnTo>
                      <a:pt x="12700" y="789940"/>
                    </a:lnTo>
                    <a:lnTo>
                      <a:pt x="23495" y="796671"/>
                    </a:lnTo>
                    <a:cubicBezTo>
                      <a:pt x="20447" y="801497"/>
                      <a:pt x="14605" y="803656"/>
                      <a:pt x="9271" y="802132"/>
                    </a:cubicBezTo>
                    <a:cubicBezTo>
                      <a:pt x="3937" y="800608"/>
                      <a:pt x="0" y="795655"/>
                      <a:pt x="0" y="789940"/>
                    </a:cubicBezTo>
                    <a:moveTo>
                      <a:pt x="25400" y="789940"/>
                    </a:moveTo>
                    <a:lnTo>
                      <a:pt x="12700" y="789940"/>
                    </a:lnTo>
                    <a:lnTo>
                      <a:pt x="1905" y="783209"/>
                    </a:lnTo>
                    <a:cubicBezTo>
                      <a:pt x="4953" y="778383"/>
                      <a:pt x="10795" y="776224"/>
                      <a:pt x="16129" y="777748"/>
                    </a:cubicBezTo>
                    <a:cubicBezTo>
                      <a:pt x="21463" y="779272"/>
                      <a:pt x="25273" y="784352"/>
                      <a:pt x="25273" y="789940"/>
                    </a:cubicBezTo>
                    <a:cubicBezTo>
                      <a:pt x="25273" y="1212215"/>
                      <a:pt x="367538" y="1554480"/>
                      <a:pt x="789813" y="1554480"/>
                    </a:cubicBezTo>
                    <a:cubicBezTo>
                      <a:pt x="1212088" y="1554480"/>
                      <a:pt x="1554353" y="1212215"/>
                      <a:pt x="1554353" y="789940"/>
                    </a:cubicBezTo>
                    <a:lnTo>
                      <a:pt x="1567053" y="789940"/>
                    </a:lnTo>
                    <a:lnTo>
                      <a:pt x="1554353" y="789940"/>
                    </a:lnTo>
                    <a:cubicBezTo>
                      <a:pt x="1554480" y="367665"/>
                      <a:pt x="1212215" y="25400"/>
                      <a:pt x="789940" y="25400"/>
                    </a:cubicBezTo>
                    <a:lnTo>
                      <a:pt x="789940" y="12700"/>
                    </a:lnTo>
                    <a:lnTo>
                      <a:pt x="789940" y="25400"/>
                    </a:lnTo>
                    <a:cubicBezTo>
                      <a:pt x="367665" y="25400"/>
                      <a:pt x="25400" y="367665"/>
                      <a:pt x="25400" y="789940"/>
                    </a:cubicBezTo>
                    <a:close/>
                  </a:path>
                </a:pathLst>
              </a:custGeom>
              <a:solidFill>
                <a:srgbClr val="F59E0B"/>
              </a:solidFill>
            </p:spPr>
          </p:sp>
        </p:grpSp>
        <p:grpSp>
          <p:nvGrpSpPr>
            <p:cNvPr id="195" name="Group 195"/>
            <p:cNvGrpSpPr/>
            <p:nvPr/>
          </p:nvGrpSpPr>
          <p:grpSpPr>
            <a:xfrm>
              <a:off x="278726" y="278726"/>
              <a:ext cx="674085" cy="674085"/>
              <a:chOff x="0" y="0"/>
              <a:chExt cx="1005840" cy="1005840"/>
            </a:xfrm>
          </p:grpSpPr>
          <p:sp>
            <p:nvSpPr>
              <p:cNvPr id="196" name="Freeform 196" descr="preencoded.png"/>
              <p:cNvSpPr/>
              <p:nvPr/>
            </p:nvSpPr>
            <p:spPr>
              <a:xfrm>
                <a:off x="0" y="0"/>
                <a:ext cx="100584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1005840" h="1005840">
                    <a:moveTo>
                      <a:pt x="0" y="0"/>
                    </a:moveTo>
                    <a:lnTo>
                      <a:pt x="1005840" y="0"/>
                    </a:lnTo>
                    <a:lnTo>
                      <a:pt x="1005840" y="1005840"/>
                    </a:lnTo>
                    <a:lnTo>
                      <a:pt x="0" y="10058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</p:spPr>
          </p:sp>
        </p:grpSp>
      </p:grpSp>
      <p:grpSp>
        <p:nvGrpSpPr>
          <p:cNvPr id="197" name="Group 197"/>
          <p:cNvGrpSpPr/>
          <p:nvPr/>
        </p:nvGrpSpPr>
        <p:grpSpPr>
          <a:xfrm>
            <a:off x="14948535" y="7515716"/>
            <a:ext cx="6035040" cy="548640"/>
            <a:chOff x="0" y="0"/>
            <a:chExt cx="8046720" cy="731520"/>
          </a:xfrm>
        </p:grpSpPr>
        <p:sp>
          <p:nvSpPr>
            <p:cNvPr id="198" name="Freeform 198"/>
            <p:cNvSpPr/>
            <p:nvPr/>
          </p:nvSpPr>
          <p:spPr>
            <a:xfrm>
              <a:off x="0" y="0"/>
              <a:ext cx="8046720" cy="731520"/>
            </a:xfrm>
            <a:custGeom>
              <a:avLst/>
              <a:gdLst/>
              <a:ahLst/>
              <a:cxnLst/>
              <a:rect l="l" t="t" r="r" b="b"/>
              <a:pathLst>
                <a:path w="8046720" h="7315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199" name="TextBox 199"/>
            <p:cNvSpPr txBox="1"/>
            <p:nvPr/>
          </p:nvSpPr>
          <p:spPr>
            <a:xfrm>
              <a:off x="0" y="-57150"/>
              <a:ext cx="80467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</a:t>
              </a:r>
            </a:p>
          </p:txBody>
        </p:sp>
      </p:grpSp>
      <p:grpSp>
        <p:nvGrpSpPr>
          <p:cNvPr id="200" name="Group 200"/>
          <p:cNvGrpSpPr/>
          <p:nvPr/>
        </p:nvGrpSpPr>
        <p:grpSpPr>
          <a:xfrm>
            <a:off x="14948535" y="8654149"/>
            <a:ext cx="6035040" cy="548640"/>
            <a:chOff x="0" y="0"/>
            <a:chExt cx="8046720" cy="731520"/>
          </a:xfrm>
        </p:grpSpPr>
        <p:sp>
          <p:nvSpPr>
            <p:cNvPr id="201" name="Freeform 201"/>
            <p:cNvSpPr/>
            <p:nvPr/>
          </p:nvSpPr>
          <p:spPr>
            <a:xfrm>
              <a:off x="0" y="0"/>
              <a:ext cx="8046720" cy="731520"/>
            </a:xfrm>
            <a:custGeom>
              <a:avLst/>
              <a:gdLst/>
              <a:ahLst/>
              <a:cxnLst/>
              <a:rect l="l" t="t" r="r" b="b"/>
              <a:pathLst>
                <a:path w="8046720" h="7315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202" name="TextBox 202"/>
            <p:cNvSpPr txBox="1"/>
            <p:nvPr/>
          </p:nvSpPr>
          <p:spPr>
            <a:xfrm>
              <a:off x="0" y="-57150"/>
              <a:ext cx="80467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895281" y="1992630"/>
            <a:ext cx="5341689" cy="2415540"/>
            <a:chOff x="0" y="0"/>
            <a:chExt cx="7122251" cy="3220720"/>
          </a:xfrm>
        </p:grpSpPr>
        <p:grpSp>
          <p:nvGrpSpPr>
            <p:cNvPr id="8" name="Group 8"/>
            <p:cNvGrpSpPr/>
            <p:nvPr/>
          </p:nvGrpSpPr>
          <p:grpSpPr>
            <a:xfrm>
              <a:off x="91" y="0"/>
              <a:ext cx="7122160" cy="3220720"/>
              <a:chOff x="0" y="0"/>
              <a:chExt cx="7122160" cy="322072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5400" y="25400"/>
                <a:ext cx="7071360" cy="3169920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316992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10" name="Freeform 10"/>
              <p:cNvSpPr/>
              <p:nvPr/>
            </p:nvSpPr>
            <p:spPr>
              <a:xfrm>
                <a:off x="0" y="0"/>
                <a:ext cx="7122160" cy="3220720"/>
              </a:xfrm>
              <a:custGeom>
                <a:avLst/>
                <a:gdLst/>
                <a:ahLst/>
                <a:cxnLst/>
                <a:rect l="l" t="t" r="r" b="b"/>
                <a:pathLst>
                  <a:path w="7122160" h="3220720">
                    <a:moveTo>
                      <a:pt x="25400" y="0"/>
                    </a:moveTo>
                    <a:lnTo>
                      <a:pt x="7096760" y="0"/>
                    </a:lnTo>
                    <a:cubicBezTo>
                      <a:pt x="7110730" y="0"/>
                      <a:pt x="7122160" y="11430"/>
                      <a:pt x="7122160" y="25400"/>
                    </a:cubicBezTo>
                    <a:lnTo>
                      <a:pt x="7122160" y="3195320"/>
                    </a:lnTo>
                    <a:cubicBezTo>
                      <a:pt x="7122160" y="3209290"/>
                      <a:pt x="7110730" y="3220720"/>
                      <a:pt x="7096760" y="3220720"/>
                    </a:cubicBezTo>
                    <a:lnTo>
                      <a:pt x="25400" y="3220720"/>
                    </a:lnTo>
                    <a:cubicBezTo>
                      <a:pt x="11430" y="3220720"/>
                      <a:pt x="0" y="3209290"/>
                      <a:pt x="0" y="319532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195320"/>
                    </a:lnTo>
                    <a:lnTo>
                      <a:pt x="25400" y="3195320"/>
                    </a:lnTo>
                    <a:lnTo>
                      <a:pt x="25400" y="3169920"/>
                    </a:lnTo>
                    <a:lnTo>
                      <a:pt x="7096760" y="3169920"/>
                    </a:lnTo>
                    <a:lnTo>
                      <a:pt x="7096760" y="3195320"/>
                    </a:lnTo>
                    <a:lnTo>
                      <a:pt x="7071360" y="3195320"/>
                    </a:lnTo>
                    <a:lnTo>
                      <a:pt x="7071360" y="25400"/>
                    </a:lnTo>
                    <a:lnTo>
                      <a:pt x="7096760" y="25400"/>
                    </a:lnTo>
                    <a:lnTo>
                      <a:pt x="709676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25491" y="147320"/>
              <a:ext cx="7071360" cy="1219200"/>
              <a:chOff x="0" y="0"/>
              <a:chExt cx="7071360" cy="1219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07136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121920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3013" b="-63013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76200"/>
                <a:ext cx="7071360" cy="12954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Patients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5491" y="1366520"/>
              <a:ext cx="7071360" cy="1706880"/>
              <a:chOff x="0" y="0"/>
              <a:chExt cx="7071360" cy="170688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071360" cy="1706880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170688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0723" b="-30723"/>
                </a:stretch>
              </a:blip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66675"/>
                <a:ext cx="7071360" cy="177355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Find doctors, book visits,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track health</a:t>
                </a:r>
              </a:p>
            </p:txBody>
          </p:sp>
        </p:grpSp>
        <p:sp>
          <p:nvSpPr>
            <p:cNvPr id="17" name="AutoShape 17"/>
            <p:cNvSpPr/>
            <p:nvPr/>
          </p:nvSpPr>
          <p:spPr>
            <a:xfrm>
              <a:off x="91" y="1341120"/>
              <a:ext cx="7063486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115546" y="4408170"/>
            <a:ext cx="53848" cy="829304"/>
            <a:chOff x="0" y="0"/>
            <a:chExt cx="67729" cy="1043089"/>
          </a:xfrm>
        </p:grpSpPr>
        <p:sp>
          <p:nvSpPr>
            <p:cNvPr id="19" name="Freeform 19"/>
            <p:cNvSpPr/>
            <p:nvPr/>
          </p:nvSpPr>
          <p:spPr>
            <a:xfrm>
              <a:off x="0" y="33909"/>
              <a:ext cx="67691" cy="975360"/>
            </a:xfrm>
            <a:custGeom>
              <a:avLst/>
              <a:gdLst/>
              <a:ahLst/>
              <a:cxnLst/>
              <a:rect l="l" t="t" r="r" b="b"/>
              <a:pathLst>
                <a:path w="67691" h="975360">
                  <a:moveTo>
                    <a:pt x="67691" y="0"/>
                  </a:moveTo>
                  <a:lnTo>
                    <a:pt x="67691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572000" y="5212080"/>
            <a:ext cx="9144000" cy="1280160"/>
            <a:chOff x="0" y="0"/>
            <a:chExt cx="12192000" cy="17068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000" cy="1706880"/>
            </a:xfrm>
            <a:custGeom>
              <a:avLst/>
              <a:gdLst/>
              <a:ahLst/>
              <a:cxnLst/>
              <a:rect l="l" t="t" r="r" b="b"/>
              <a:pathLst>
                <a:path w="12192000" h="1706880">
                  <a:moveTo>
                    <a:pt x="853440" y="0"/>
                  </a:moveTo>
                  <a:lnTo>
                    <a:pt x="11338560" y="0"/>
                  </a:lnTo>
                  <a:cubicBezTo>
                    <a:pt x="11809902" y="0"/>
                    <a:pt x="12192000" y="382098"/>
                    <a:pt x="12192000" y="853440"/>
                  </a:cubicBezTo>
                  <a:lnTo>
                    <a:pt x="12192000" y="853440"/>
                  </a:lnTo>
                  <a:cubicBezTo>
                    <a:pt x="12192000" y="1079786"/>
                    <a:pt x="12102085" y="1296862"/>
                    <a:pt x="11942033" y="1456913"/>
                  </a:cubicBezTo>
                  <a:cubicBezTo>
                    <a:pt x="11781982" y="1616964"/>
                    <a:pt x="11564906" y="1706880"/>
                    <a:pt x="11338560" y="1706880"/>
                  </a:cubicBezTo>
                  <a:lnTo>
                    <a:pt x="853440" y="1706880"/>
                  </a:lnTo>
                  <a:cubicBezTo>
                    <a:pt x="382098" y="1706880"/>
                    <a:pt x="0" y="1324782"/>
                    <a:pt x="0" y="853440"/>
                  </a:cubicBezTo>
                  <a:lnTo>
                    <a:pt x="0" y="853440"/>
                  </a:lnTo>
                  <a:cubicBezTo>
                    <a:pt x="0" y="382098"/>
                    <a:pt x="382098" y="0"/>
                    <a:pt x="853440" y="0"/>
                  </a:cubicBezTo>
                  <a:close/>
                </a:path>
              </a:pathLst>
            </a:custGeom>
            <a:solidFill>
              <a:srgbClr val="38B6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849052" y="5212080"/>
            <a:ext cx="8640684" cy="1280160"/>
            <a:chOff x="0" y="0"/>
            <a:chExt cx="11520912" cy="17068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20912" cy="1706880"/>
            </a:xfrm>
            <a:custGeom>
              <a:avLst/>
              <a:gdLst/>
              <a:ahLst/>
              <a:cxnLst/>
              <a:rect l="l" t="t" r="r" b="b"/>
              <a:pathLst>
                <a:path w="11520912" h="1706880">
                  <a:moveTo>
                    <a:pt x="0" y="0"/>
                  </a:moveTo>
                  <a:lnTo>
                    <a:pt x="11520912" y="0"/>
                  </a:lnTo>
                  <a:lnTo>
                    <a:pt x="1152091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1520912" cy="1773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MEDORA — One Platform, Three Roles, English + Bangla, AI Native Solution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3143" y="7028183"/>
            <a:ext cx="2037083" cy="2037083"/>
            <a:chOff x="0" y="0"/>
            <a:chExt cx="2716111" cy="271611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2716022" cy="2716022"/>
            </a:xfrm>
            <a:custGeom>
              <a:avLst/>
              <a:gdLst/>
              <a:ahLst/>
              <a:cxnLst/>
              <a:rect l="l" t="t" r="r" b="b"/>
              <a:pathLst>
                <a:path w="2716022" h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028700" y="7028183"/>
            <a:ext cx="2011680" cy="2011680"/>
            <a:chOff x="0" y="0"/>
            <a:chExt cx="2682240" cy="26822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1270000" y="0"/>
                  </a:moveTo>
                  <a:lnTo>
                    <a:pt x="1412240" y="0"/>
                  </a:lnTo>
                  <a:cubicBezTo>
                    <a:pt x="1749065" y="0"/>
                    <a:pt x="2072094" y="133803"/>
                    <a:pt x="2310266" y="371974"/>
                  </a:cubicBezTo>
                  <a:cubicBezTo>
                    <a:pt x="2548437" y="610146"/>
                    <a:pt x="2682240" y="933175"/>
                    <a:pt x="2682240" y="1270000"/>
                  </a:cubicBezTo>
                  <a:lnTo>
                    <a:pt x="2682240" y="1412240"/>
                  </a:lnTo>
                  <a:cubicBezTo>
                    <a:pt x="2682240" y="1749065"/>
                    <a:pt x="2548437" y="2072094"/>
                    <a:pt x="2310266" y="2310266"/>
                  </a:cubicBezTo>
                  <a:cubicBezTo>
                    <a:pt x="2072094" y="2548437"/>
                    <a:pt x="1749065" y="2682240"/>
                    <a:pt x="1412240" y="2682240"/>
                  </a:cubicBezTo>
                  <a:lnTo>
                    <a:pt x="1270000" y="2682240"/>
                  </a:lnTo>
                  <a:cubicBezTo>
                    <a:pt x="568598" y="2682240"/>
                    <a:pt x="0" y="2113642"/>
                    <a:pt x="0" y="1412240"/>
                  </a:cubicBezTo>
                  <a:lnTo>
                    <a:pt x="0" y="1270000"/>
                  </a:lnTo>
                  <a:cubicBezTo>
                    <a:pt x="0" y="568598"/>
                    <a:pt x="568598" y="0"/>
                    <a:pt x="1270000" y="0"/>
                  </a:cubicBezTo>
                  <a:close/>
                </a:path>
              </a:pathLst>
            </a:custGeom>
            <a:solidFill>
              <a:srgbClr val="004BF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Discovery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919223" y="7028183"/>
            <a:ext cx="2037083" cy="2037083"/>
            <a:chOff x="0" y="0"/>
            <a:chExt cx="2716111" cy="2716111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2716022" cy="2716022"/>
            </a:xfrm>
            <a:custGeom>
              <a:avLst/>
              <a:gdLst/>
              <a:ahLst/>
              <a:cxnLst/>
              <a:rect l="l" t="t" r="r" b="b"/>
              <a:pathLst>
                <a:path w="2716022" h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3947798" y="7053586"/>
            <a:ext cx="2011680" cy="2011680"/>
            <a:chOff x="0" y="0"/>
            <a:chExt cx="2682240" cy="26822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Booking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45303" y="7028183"/>
            <a:ext cx="2037083" cy="2037083"/>
            <a:chOff x="0" y="0"/>
            <a:chExt cx="2716111" cy="2716111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2716022" cy="2716022"/>
            </a:xfrm>
            <a:custGeom>
              <a:avLst/>
              <a:gdLst/>
              <a:ahLst/>
              <a:cxnLst/>
              <a:rect l="l" t="t" r="r" b="b"/>
              <a:pathLst>
                <a:path w="2716022" h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873878" y="7053586"/>
            <a:ext cx="2011680" cy="2011680"/>
            <a:chOff x="0" y="0"/>
            <a:chExt cx="2682240" cy="26822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1383" y="7028183"/>
            <a:ext cx="2037083" cy="2037083"/>
            <a:chOff x="0" y="0"/>
            <a:chExt cx="2716111" cy="2716111"/>
          </a:xfrm>
        </p:grpSpPr>
        <p:sp>
          <p:nvSpPr>
            <p:cNvPr id="44" name="Freeform 44"/>
            <p:cNvSpPr/>
            <p:nvPr/>
          </p:nvSpPr>
          <p:spPr>
            <a:xfrm>
              <a:off x="16891" y="16891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2716022" cy="2716022"/>
            </a:xfrm>
            <a:custGeom>
              <a:avLst/>
              <a:gdLst/>
              <a:ahLst/>
              <a:cxnLst/>
              <a:rect l="l" t="t" r="r" b="b"/>
              <a:pathLst>
                <a:path w="2716022" h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9761858" y="7028183"/>
            <a:ext cx="2011680" cy="2011680"/>
            <a:chOff x="0" y="0"/>
            <a:chExt cx="2682240" cy="26822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Assistant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697463" y="7028183"/>
            <a:ext cx="2037083" cy="2037083"/>
            <a:chOff x="0" y="0"/>
            <a:chExt cx="2716111" cy="2716111"/>
          </a:xfrm>
        </p:grpSpPr>
        <p:sp>
          <p:nvSpPr>
            <p:cNvPr id="50" name="Freeform 50"/>
            <p:cNvSpPr/>
            <p:nvPr/>
          </p:nvSpPr>
          <p:spPr>
            <a:xfrm>
              <a:off x="16891" y="16891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2716022" cy="2716022"/>
            </a:xfrm>
            <a:custGeom>
              <a:avLst/>
              <a:gdLst/>
              <a:ahLst/>
              <a:cxnLst/>
              <a:rect l="l" t="t" r="r" b="b"/>
              <a:pathLst>
                <a:path w="2716022" h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2722866" y="7028183"/>
            <a:ext cx="2011680" cy="2011680"/>
            <a:chOff x="0" y="0"/>
            <a:chExt cx="2682240" cy="26822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623543" y="7028183"/>
            <a:ext cx="2037083" cy="2037083"/>
            <a:chOff x="0" y="0"/>
            <a:chExt cx="2716111" cy="2716111"/>
          </a:xfrm>
        </p:grpSpPr>
        <p:sp>
          <p:nvSpPr>
            <p:cNvPr id="56" name="Freeform 56"/>
            <p:cNvSpPr/>
            <p:nvPr/>
          </p:nvSpPr>
          <p:spPr>
            <a:xfrm>
              <a:off x="16891" y="16891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0"/>
              <a:ext cx="2716022" cy="2716022"/>
            </a:xfrm>
            <a:custGeom>
              <a:avLst/>
              <a:gdLst/>
              <a:ahLst/>
              <a:cxnLst/>
              <a:rect l="l" t="t" r="r" b="b"/>
              <a:pathLst>
                <a:path w="2716022" h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5610846" y="7053586"/>
            <a:ext cx="2011680" cy="2011680"/>
            <a:chOff x="0" y="0"/>
            <a:chExt cx="2682240" cy="26822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682240" cy="2682240"/>
            </a:xfrm>
            <a:custGeom>
              <a:avLst/>
              <a:gdLst/>
              <a:ahLst/>
              <a:cxnLst/>
              <a:rect l="l" t="t" r="r" b="b"/>
              <a:pathLst>
                <a:path w="2682240" h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Consent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498549" y="1987942"/>
            <a:ext cx="5341689" cy="2831143"/>
            <a:chOff x="0" y="0"/>
            <a:chExt cx="7122251" cy="3774857"/>
          </a:xfrm>
        </p:grpSpPr>
        <p:grpSp>
          <p:nvGrpSpPr>
            <p:cNvPr id="62" name="Group 62"/>
            <p:cNvGrpSpPr/>
            <p:nvPr/>
          </p:nvGrpSpPr>
          <p:grpSpPr>
            <a:xfrm>
              <a:off x="91" y="0"/>
              <a:ext cx="7122160" cy="3220720"/>
              <a:chOff x="0" y="0"/>
              <a:chExt cx="7122160" cy="322072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25400" y="25400"/>
                <a:ext cx="7071360" cy="3169920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316992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64" name="Freeform 64"/>
              <p:cNvSpPr/>
              <p:nvPr/>
            </p:nvSpPr>
            <p:spPr>
              <a:xfrm>
                <a:off x="0" y="0"/>
                <a:ext cx="7122160" cy="3220720"/>
              </a:xfrm>
              <a:custGeom>
                <a:avLst/>
                <a:gdLst/>
                <a:ahLst/>
                <a:cxnLst/>
                <a:rect l="l" t="t" r="r" b="b"/>
                <a:pathLst>
                  <a:path w="7122160" h="3220720">
                    <a:moveTo>
                      <a:pt x="25400" y="0"/>
                    </a:moveTo>
                    <a:lnTo>
                      <a:pt x="7096760" y="0"/>
                    </a:lnTo>
                    <a:cubicBezTo>
                      <a:pt x="7110730" y="0"/>
                      <a:pt x="7122160" y="11430"/>
                      <a:pt x="7122160" y="25400"/>
                    </a:cubicBezTo>
                    <a:lnTo>
                      <a:pt x="7122160" y="3195320"/>
                    </a:lnTo>
                    <a:cubicBezTo>
                      <a:pt x="7122160" y="3209290"/>
                      <a:pt x="7110730" y="3220720"/>
                      <a:pt x="7096760" y="3220720"/>
                    </a:cubicBezTo>
                    <a:lnTo>
                      <a:pt x="25400" y="3220720"/>
                    </a:lnTo>
                    <a:cubicBezTo>
                      <a:pt x="11430" y="3220720"/>
                      <a:pt x="0" y="3209290"/>
                      <a:pt x="0" y="319532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195320"/>
                    </a:lnTo>
                    <a:lnTo>
                      <a:pt x="25400" y="3195320"/>
                    </a:lnTo>
                    <a:lnTo>
                      <a:pt x="25400" y="3169920"/>
                    </a:lnTo>
                    <a:lnTo>
                      <a:pt x="7096760" y="3169920"/>
                    </a:lnTo>
                    <a:lnTo>
                      <a:pt x="7096760" y="3195320"/>
                    </a:lnTo>
                    <a:lnTo>
                      <a:pt x="7071360" y="3195320"/>
                    </a:lnTo>
                    <a:lnTo>
                      <a:pt x="7071360" y="25400"/>
                    </a:lnTo>
                    <a:lnTo>
                      <a:pt x="7096760" y="25400"/>
                    </a:lnTo>
                    <a:lnTo>
                      <a:pt x="709676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25491" y="147320"/>
              <a:ext cx="7071360" cy="1219200"/>
              <a:chOff x="0" y="0"/>
              <a:chExt cx="7071360" cy="12192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707136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121920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3013" b="-63013"/>
                </a:stretch>
              </a:blip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0" y="-76200"/>
                <a:ext cx="7071360" cy="12954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Doctors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25491" y="1366520"/>
              <a:ext cx="7071360" cy="2408337"/>
              <a:chOff x="0" y="0"/>
              <a:chExt cx="7071360" cy="2408337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7071360" cy="2408337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2408337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2408337"/>
                    </a:lnTo>
                    <a:lnTo>
                      <a:pt x="0" y="24083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1775" b="7351"/>
                </a:stretch>
              </a:blip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0" y="-66675"/>
                <a:ext cx="7071360" cy="24750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Manage schedule,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consult, prescribe</a:t>
                </a:r>
              </a:p>
              <a:p>
                <a:pPr algn="ctr">
                  <a:lnSpc>
                    <a:spcPts val="4320"/>
                  </a:lnSpc>
                </a:pPr>
                <a:endPara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sp>
          <p:nvSpPr>
            <p:cNvPr id="71" name="AutoShape 71"/>
            <p:cNvSpPr/>
            <p:nvPr/>
          </p:nvSpPr>
          <p:spPr>
            <a:xfrm>
              <a:off x="91" y="1341120"/>
              <a:ext cx="7063486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2097413" y="1987942"/>
            <a:ext cx="5341689" cy="2831143"/>
            <a:chOff x="0" y="0"/>
            <a:chExt cx="7122251" cy="3774857"/>
          </a:xfrm>
        </p:grpSpPr>
        <p:grpSp>
          <p:nvGrpSpPr>
            <p:cNvPr id="73" name="Group 73"/>
            <p:cNvGrpSpPr/>
            <p:nvPr/>
          </p:nvGrpSpPr>
          <p:grpSpPr>
            <a:xfrm>
              <a:off x="91" y="0"/>
              <a:ext cx="7122160" cy="3220720"/>
              <a:chOff x="0" y="0"/>
              <a:chExt cx="7122160" cy="322072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25400" y="25400"/>
                <a:ext cx="7071360" cy="3169920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316992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75" name="Freeform 75"/>
              <p:cNvSpPr/>
              <p:nvPr/>
            </p:nvSpPr>
            <p:spPr>
              <a:xfrm>
                <a:off x="0" y="0"/>
                <a:ext cx="7122160" cy="3220720"/>
              </a:xfrm>
              <a:custGeom>
                <a:avLst/>
                <a:gdLst/>
                <a:ahLst/>
                <a:cxnLst/>
                <a:rect l="l" t="t" r="r" b="b"/>
                <a:pathLst>
                  <a:path w="7122160" h="3220720">
                    <a:moveTo>
                      <a:pt x="25400" y="0"/>
                    </a:moveTo>
                    <a:lnTo>
                      <a:pt x="7096760" y="0"/>
                    </a:lnTo>
                    <a:cubicBezTo>
                      <a:pt x="7110730" y="0"/>
                      <a:pt x="7122160" y="11430"/>
                      <a:pt x="7122160" y="25400"/>
                    </a:cubicBezTo>
                    <a:lnTo>
                      <a:pt x="7122160" y="3195320"/>
                    </a:lnTo>
                    <a:cubicBezTo>
                      <a:pt x="7122160" y="3209290"/>
                      <a:pt x="7110730" y="3220720"/>
                      <a:pt x="7096760" y="3220720"/>
                    </a:cubicBezTo>
                    <a:lnTo>
                      <a:pt x="25400" y="3220720"/>
                    </a:lnTo>
                    <a:cubicBezTo>
                      <a:pt x="11430" y="3220720"/>
                      <a:pt x="0" y="3209290"/>
                      <a:pt x="0" y="319532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195320"/>
                    </a:lnTo>
                    <a:lnTo>
                      <a:pt x="25400" y="3195320"/>
                    </a:lnTo>
                    <a:lnTo>
                      <a:pt x="25400" y="3169920"/>
                    </a:lnTo>
                    <a:lnTo>
                      <a:pt x="7096760" y="3169920"/>
                    </a:lnTo>
                    <a:lnTo>
                      <a:pt x="7096760" y="3195320"/>
                    </a:lnTo>
                    <a:lnTo>
                      <a:pt x="7071360" y="3195320"/>
                    </a:lnTo>
                    <a:lnTo>
                      <a:pt x="7071360" y="25400"/>
                    </a:lnTo>
                    <a:lnTo>
                      <a:pt x="7096760" y="25400"/>
                    </a:lnTo>
                    <a:lnTo>
                      <a:pt x="709676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76" name="Group 76"/>
            <p:cNvGrpSpPr/>
            <p:nvPr/>
          </p:nvGrpSpPr>
          <p:grpSpPr>
            <a:xfrm>
              <a:off x="25491" y="147320"/>
              <a:ext cx="7071360" cy="1219200"/>
              <a:chOff x="0" y="0"/>
              <a:chExt cx="7071360" cy="12192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707136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121920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3013" b="-63013"/>
                </a:stretch>
              </a:blip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0" y="-76200"/>
                <a:ext cx="7071360" cy="12954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Admins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5491" y="1366520"/>
              <a:ext cx="7071360" cy="2408337"/>
              <a:chOff x="0" y="0"/>
              <a:chExt cx="7071360" cy="2408337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7071360" cy="2408337"/>
              </a:xfrm>
              <a:custGeom>
                <a:avLst/>
                <a:gdLst/>
                <a:ahLst/>
                <a:cxnLst/>
                <a:rect l="l" t="t" r="r" b="b"/>
                <a:pathLst>
                  <a:path w="7071360" h="2408337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2408337"/>
                    </a:lnTo>
                    <a:lnTo>
                      <a:pt x="0" y="24083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1775" b="7351"/>
                </a:stretch>
              </a:blip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0" y="-66675"/>
                <a:ext cx="7071360" cy="24750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Verify doctors,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moderate actions, monitor</a:t>
                </a:r>
              </a:p>
              <a:p>
                <a:pPr algn="ctr">
                  <a:lnSpc>
                    <a:spcPts val="4320"/>
                  </a:lnSpc>
                </a:pPr>
                <a:endPara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  <p:sp>
          <p:nvSpPr>
            <p:cNvPr id="82" name="AutoShape 82"/>
            <p:cNvSpPr/>
            <p:nvPr/>
          </p:nvSpPr>
          <p:spPr>
            <a:xfrm>
              <a:off x="91" y="1341120"/>
              <a:ext cx="7063486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83" name="Freeform 83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4" name="TextBox 84"/>
          <p:cNvSpPr txBox="1"/>
          <p:nvPr/>
        </p:nvSpPr>
        <p:spPr>
          <a:xfrm>
            <a:off x="450137" y="9654025"/>
            <a:ext cx="1674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86" name="Group 86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89" name="AutoShape 89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0" name="AutoShape 90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1" name="AutoShape 91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2" name="AutoShape 92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3" name="AutoShape 93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4" name="AutoShape 94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5" name="AutoShape 95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6" name="AutoShape 96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27" name="AutoShape 127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id="138" name="AutoShape 138"/>
          <p:cNvSpPr/>
          <p:nvPr/>
        </p:nvSpPr>
        <p:spPr>
          <a:xfrm flipV="1">
            <a:off x="2034540" y="6187895"/>
            <a:ext cx="2632472" cy="840288"/>
          </a:xfrm>
          <a:prstGeom prst="line">
            <a:avLst/>
          </a:prstGeom>
          <a:ln w="38100" cap="flat">
            <a:solidFill>
              <a:srgbClr val="2563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9" name="AutoShape 139"/>
          <p:cNvSpPr/>
          <p:nvPr/>
        </p:nvSpPr>
        <p:spPr>
          <a:xfrm flipV="1">
            <a:off x="4953638" y="6492240"/>
            <a:ext cx="1635792" cy="561346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0" name="AutoShape 140"/>
          <p:cNvSpPr/>
          <p:nvPr/>
        </p:nvSpPr>
        <p:spPr>
          <a:xfrm flipV="1">
            <a:off x="7863845" y="6492240"/>
            <a:ext cx="753430" cy="535943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1" name="AutoShape 141"/>
          <p:cNvSpPr/>
          <p:nvPr/>
        </p:nvSpPr>
        <p:spPr>
          <a:xfrm flipH="1" flipV="1">
            <a:off x="9979667" y="6492240"/>
            <a:ext cx="810257" cy="535943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2" name="AutoShape 142"/>
          <p:cNvSpPr/>
          <p:nvPr/>
        </p:nvSpPr>
        <p:spPr>
          <a:xfrm flipH="1" flipV="1">
            <a:off x="12649098" y="6492240"/>
            <a:ext cx="1079608" cy="535943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3" name="AutoShape 143"/>
          <p:cNvSpPr/>
          <p:nvPr/>
        </p:nvSpPr>
        <p:spPr>
          <a:xfrm flipH="1" flipV="1">
            <a:off x="13678566" y="6046919"/>
            <a:ext cx="3009234" cy="991579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4" name="Group 144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45" name="Group 145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48" name="TextBox 148"/>
            <p:cNvSpPr txBox="1"/>
            <p:nvPr/>
          </p:nvSpPr>
          <p:spPr>
            <a:xfrm>
              <a:off x="395815" y="189916"/>
              <a:ext cx="223203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150" name="TextBox 66">
            <a:extLst>
              <a:ext uri="{FF2B5EF4-FFF2-40B4-BE49-F238E27FC236}">
                <a16:creationId xmlns:a16="http://schemas.microsoft.com/office/drawing/2014/main" id="{9B5B37AC-F641-F602-4387-E98151A59372}"/>
              </a:ext>
            </a:extLst>
          </p:cNvPr>
          <p:cNvSpPr txBox="1"/>
          <p:nvPr/>
        </p:nvSpPr>
        <p:spPr>
          <a:xfrm>
            <a:off x="5605406" y="9308982"/>
            <a:ext cx="7074098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2.1: High level overview of Medora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2255030"/>
            <a:ext cx="16807265" cy="6585151"/>
            <a:chOff x="0" y="0"/>
            <a:chExt cx="22409686" cy="8780202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175604"/>
              <a:ext cx="1133074" cy="987773"/>
              <a:chOff x="0" y="0"/>
              <a:chExt cx="1133074" cy="9877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0" y="100347"/>
              <a:ext cx="1133074" cy="1063030"/>
              <a:chOff x="0" y="0"/>
              <a:chExt cx="1133074" cy="106303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510765" y="0"/>
              <a:ext cx="20898921" cy="1863130"/>
              <a:chOff x="0" y="0"/>
              <a:chExt cx="20898921" cy="186313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0898921" cy="1863130"/>
              </a:xfrm>
              <a:custGeom>
                <a:avLst/>
                <a:gdLst/>
                <a:ahLst/>
                <a:cxnLst/>
                <a:rect l="l" t="t" r="r" b="b"/>
                <a:pathLst>
                  <a:path w="20898921" h="1863130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863130"/>
                    </a:lnTo>
                    <a:lnTo>
                      <a:pt x="0" y="18631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72398" r="3159" b="-150924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76200"/>
                <a:ext cx="20898921" cy="19393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Unified platform with role-based workflows for patients, doctors and administrators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2041397"/>
              <a:ext cx="1133074" cy="987773"/>
              <a:chOff x="0" y="0"/>
              <a:chExt cx="1133074" cy="98777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0" y="1966140"/>
              <a:ext cx="1133074" cy="1063030"/>
              <a:chOff x="0" y="0"/>
              <a:chExt cx="1133074" cy="10630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510765" y="1865793"/>
              <a:ext cx="20898921" cy="1317030"/>
              <a:chOff x="0" y="0"/>
              <a:chExt cx="20898921" cy="13170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0898921" cy="1317030"/>
              </a:xfrm>
              <a:custGeom>
                <a:avLst/>
                <a:gdLst/>
                <a:ahLst/>
                <a:cxnLst/>
                <a:rect l="l" t="t" r="r" b="b"/>
                <a:pathLst>
                  <a:path w="20898921" h="1317030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317030"/>
                    </a:lnTo>
                    <a:lnTo>
                      <a:pt x="0" y="1317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43882" r="3159" b="-254968"/>
                </a:stretch>
              </a:blip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76200"/>
                <a:ext cx="20898921" cy="1393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AI-powered doctor search and Chorui assistant with safety guardrails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3907190"/>
              <a:ext cx="1133074" cy="987773"/>
              <a:chOff x="0" y="0"/>
              <a:chExt cx="1133074" cy="98777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0" y="3831933"/>
              <a:ext cx="1133074" cy="1063030"/>
              <a:chOff x="0" y="0"/>
              <a:chExt cx="1133074" cy="106303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510765" y="3731586"/>
              <a:ext cx="20898921" cy="1317030"/>
              <a:chOff x="0" y="0"/>
              <a:chExt cx="20898921" cy="131703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0898921" cy="1317030"/>
              </a:xfrm>
              <a:custGeom>
                <a:avLst/>
                <a:gdLst/>
                <a:ahLst/>
                <a:cxnLst/>
                <a:rect l="l" t="t" r="r" b="b"/>
                <a:pathLst>
                  <a:path w="20898921" h="1317030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317030"/>
                    </a:lnTo>
                    <a:lnTo>
                      <a:pt x="0" y="1317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43882" r="3159" b="-254968"/>
                </a:stretch>
              </a:blip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76200"/>
                <a:ext cx="20898921" cy="1393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OCR pipeline to digitize handwritten prescriptions (English + Bangla)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5772983"/>
              <a:ext cx="1133074" cy="987773"/>
              <a:chOff x="0" y="0"/>
              <a:chExt cx="1133074" cy="98777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0" y="5697726"/>
              <a:ext cx="1133074" cy="1063030"/>
              <a:chOff x="0" y="0"/>
              <a:chExt cx="1133074" cy="10630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10765" y="5597379"/>
              <a:ext cx="20898921" cy="1317030"/>
              <a:chOff x="0" y="0"/>
              <a:chExt cx="20898921" cy="131703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0898921" cy="1317030"/>
              </a:xfrm>
              <a:custGeom>
                <a:avLst/>
                <a:gdLst/>
                <a:ahLst/>
                <a:cxnLst/>
                <a:rect l="l" t="t" r="r" b="b"/>
                <a:pathLst>
                  <a:path w="20898921" h="1317030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317030"/>
                    </a:lnTo>
                    <a:lnTo>
                      <a:pt x="0" y="1317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43882" r="3159" b="-254968"/>
                </a:stretch>
              </a:blip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76200"/>
                <a:ext cx="20898921" cy="1393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Real-time appointment slot synchronization to prevent double-booking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7638775"/>
              <a:ext cx="1133074" cy="987773"/>
              <a:chOff x="0" y="0"/>
              <a:chExt cx="1133074" cy="98777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33074" cy="987773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987773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0" y="7563518"/>
              <a:ext cx="1133074" cy="1063030"/>
              <a:chOff x="0" y="0"/>
              <a:chExt cx="1133074" cy="106303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33074" cy="1063030"/>
              </a:xfrm>
              <a:custGeom>
                <a:avLst/>
                <a:gdLst/>
                <a:ahLst/>
                <a:cxnLst/>
                <a:rect l="l" t="t" r="r" b="b"/>
                <a:pathLst>
                  <a:path w="1133074" h="1063030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r="-72670" b="-3221"/>
                </a:stretch>
              </a:blip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510765" y="6917072"/>
              <a:ext cx="20898921" cy="1863130"/>
              <a:chOff x="0" y="0"/>
              <a:chExt cx="20898921" cy="186313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20898921" cy="1863130"/>
              </a:xfrm>
              <a:custGeom>
                <a:avLst/>
                <a:gdLst/>
                <a:ahLst/>
                <a:cxnLst/>
                <a:rect l="l" t="t" r="r" b="b"/>
                <a:pathLst>
                  <a:path w="20898921" h="1863130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863130"/>
                    </a:lnTo>
                    <a:lnTo>
                      <a:pt x="0" y="18631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72398" r="3159" b="-150924"/>
                </a:stretch>
              </a:blip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76200"/>
                <a:ext cx="20898921" cy="19393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Production cloud deployment with CI/CD, observability and performance budgets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1097280" y="1689463"/>
            <a:ext cx="16484603" cy="25403"/>
            <a:chOff x="0" y="0"/>
            <a:chExt cx="21979471" cy="33871"/>
          </a:xfrm>
        </p:grpSpPr>
        <p:sp>
          <p:nvSpPr>
            <p:cNvPr id="47" name="Freeform 47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sp>
        <p:nvSpPr>
          <p:cNvPr id="48" name="Freeform 48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9" name="Group 49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53" name="AutoShape 53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91" name="AutoShape 91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03" name="Group 103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06" name="TextBox 106"/>
            <p:cNvSpPr txBox="1"/>
            <p:nvPr/>
          </p:nvSpPr>
          <p:spPr>
            <a:xfrm>
              <a:off x="395815" y="189916"/>
              <a:ext cx="223203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1657" y="86597"/>
            <a:ext cx="16474418" cy="1872402"/>
            <a:chOff x="-20291" y="0"/>
            <a:chExt cx="21965891" cy="24965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-20291" y="419887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 dirty="0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Related Works — Feature Gap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741163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394394"/>
              </p:ext>
            </p:extLst>
          </p:nvPr>
        </p:nvGraphicFramePr>
        <p:xfrm>
          <a:off x="914371" y="2602928"/>
          <a:ext cx="16471905" cy="6579918"/>
        </p:xfrm>
        <a:graphic>
          <a:graphicData uri="http://schemas.openxmlformats.org/drawingml/2006/table">
            <a:tbl>
              <a:tblPr/>
              <a:tblGrid>
                <a:gridCol w="2428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6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6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464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 dirty="0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Platform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Records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Real-time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OCR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AI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Consent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Bangla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DocTime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Sasthya Seba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Sebaghar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Praava Health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Doctorola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Epic / Cerner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Teladoc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110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Medora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 dirty="0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>
            <a:off x="552474" y="8942116"/>
            <a:ext cx="16459200" cy="1071078"/>
            <a:chOff x="0" y="0"/>
            <a:chExt cx="21945600" cy="14281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063029"/>
            </a:xfrm>
            <a:custGeom>
              <a:avLst/>
              <a:gdLst/>
              <a:ahLst/>
              <a:cxnLst/>
              <a:rect l="l" t="t" r="r" b="b"/>
              <a:pathLst>
                <a:path w="21945600" h="1063029">
                  <a:moveTo>
                    <a:pt x="0" y="0"/>
                  </a:moveTo>
                  <a:lnTo>
                    <a:pt x="21945600" y="0"/>
                  </a:lnTo>
                  <a:lnTo>
                    <a:pt x="21945600" y="1063029"/>
                  </a:lnTo>
                  <a:lnTo>
                    <a:pt x="0" y="10630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6380" b="-34813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279349"/>
              <a:ext cx="21945600" cy="11487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600" i="1" dirty="0">
                  <a:solidFill>
                    <a:srgbClr val="041F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existing platform covers all six dimensions. This is the gap Medora fills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54" name="AutoShape 54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66" name="Group 66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69" name="TextBox 69"/>
            <p:cNvSpPr txBox="1"/>
            <p:nvPr/>
          </p:nvSpPr>
          <p:spPr>
            <a:xfrm>
              <a:off x="395815" y="189916"/>
              <a:ext cx="223203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71" name="TextBox 66">
            <a:extLst>
              <a:ext uri="{FF2B5EF4-FFF2-40B4-BE49-F238E27FC236}">
                <a16:creationId xmlns:a16="http://schemas.microsoft.com/office/drawing/2014/main" id="{9761DFFD-E829-783E-C0C4-E07A79AC526D}"/>
              </a:ext>
            </a:extLst>
          </p:cNvPr>
          <p:cNvSpPr txBox="1"/>
          <p:nvPr/>
        </p:nvSpPr>
        <p:spPr>
          <a:xfrm>
            <a:off x="661399" y="1879956"/>
            <a:ext cx="8714467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Table 4.1: System architecture with clean boundaries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346710" y="2358390"/>
            <a:ext cx="2598420" cy="1226820"/>
            <a:chOff x="0" y="0"/>
            <a:chExt cx="3464560" cy="1635760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3413760" cy="1584960"/>
            </a:xfrm>
            <a:custGeom>
              <a:avLst/>
              <a:gdLst/>
              <a:ahLst/>
              <a:cxnLst/>
              <a:rect l="l" t="t" r="r" b="b"/>
              <a:pathLst>
                <a:path w="3413760" h="15849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3464560" cy="1635760"/>
            </a:xfrm>
            <a:custGeom>
              <a:avLst/>
              <a:gdLst/>
              <a:ahLst/>
              <a:cxnLst/>
              <a:rect l="l" t="t" r="r" b="b"/>
              <a:pathLst>
                <a:path w="3464560" h="1635760">
                  <a:moveTo>
                    <a:pt x="25400" y="0"/>
                  </a:moveTo>
                  <a:lnTo>
                    <a:pt x="3439160" y="0"/>
                  </a:lnTo>
                  <a:cubicBezTo>
                    <a:pt x="3453130" y="0"/>
                    <a:pt x="3464560" y="11430"/>
                    <a:pt x="3464560" y="25400"/>
                  </a:cubicBezTo>
                  <a:lnTo>
                    <a:pt x="3464560" y="1610360"/>
                  </a:lnTo>
                  <a:cubicBezTo>
                    <a:pt x="3464560" y="1624330"/>
                    <a:pt x="3453130" y="1635760"/>
                    <a:pt x="343916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3439160" y="1584960"/>
                  </a:lnTo>
                  <a:lnTo>
                    <a:pt x="3439160" y="1610360"/>
                  </a:lnTo>
                  <a:lnTo>
                    <a:pt x="3413760" y="1610360"/>
                  </a:lnTo>
                  <a:lnTo>
                    <a:pt x="3413760" y="25400"/>
                  </a:lnTo>
                  <a:lnTo>
                    <a:pt x="3439160" y="25400"/>
                  </a:lnTo>
                  <a:lnTo>
                    <a:pt x="3439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84810" y="2400300"/>
            <a:ext cx="2560320" cy="1188720"/>
            <a:chOff x="0" y="0"/>
            <a:chExt cx="3413760" cy="15849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13760" cy="1584960"/>
            </a:xfrm>
            <a:custGeom>
              <a:avLst/>
              <a:gdLst/>
              <a:ahLst/>
              <a:cxnLst/>
              <a:rect l="l" t="t" r="r" b="b"/>
              <a:pathLst>
                <a:path w="3413760" h="15849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413760" cy="1642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6710" y="3912870"/>
            <a:ext cx="2598420" cy="1226820"/>
            <a:chOff x="0" y="0"/>
            <a:chExt cx="3464560" cy="1635760"/>
          </a:xfrm>
        </p:grpSpPr>
        <p:sp>
          <p:nvSpPr>
            <p:cNvPr id="14" name="Freeform 14"/>
            <p:cNvSpPr/>
            <p:nvPr/>
          </p:nvSpPr>
          <p:spPr>
            <a:xfrm>
              <a:off x="25400" y="25400"/>
              <a:ext cx="3413760" cy="1584960"/>
            </a:xfrm>
            <a:custGeom>
              <a:avLst/>
              <a:gdLst/>
              <a:ahLst/>
              <a:cxnLst/>
              <a:rect l="l" t="t" r="r" b="b"/>
              <a:pathLst>
                <a:path w="3413760" h="15849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3464560" cy="1635760"/>
            </a:xfrm>
            <a:custGeom>
              <a:avLst/>
              <a:gdLst/>
              <a:ahLst/>
              <a:cxnLst/>
              <a:rect l="l" t="t" r="r" b="b"/>
              <a:pathLst>
                <a:path w="3464560" h="1635760">
                  <a:moveTo>
                    <a:pt x="25400" y="0"/>
                  </a:moveTo>
                  <a:lnTo>
                    <a:pt x="3439160" y="0"/>
                  </a:lnTo>
                  <a:cubicBezTo>
                    <a:pt x="3453130" y="0"/>
                    <a:pt x="3464560" y="11430"/>
                    <a:pt x="3464560" y="25400"/>
                  </a:cubicBezTo>
                  <a:lnTo>
                    <a:pt x="3464560" y="1610360"/>
                  </a:lnTo>
                  <a:cubicBezTo>
                    <a:pt x="3464560" y="1624330"/>
                    <a:pt x="3453130" y="1635760"/>
                    <a:pt x="343916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3439160" y="1584960"/>
                  </a:lnTo>
                  <a:lnTo>
                    <a:pt x="3439160" y="1610360"/>
                  </a:lnTo>
                  <a:lnTo>
                    <a:pt x="3413760" y="1610360"/>
                  </a:lnTo>
                  <a:lnTo>
                    <a:pt x="3413760" y="25400"/>
                  </a:lnTo>
                  <a:lnTo>
                    <a:pt x="3439160" y="25400"/>
                  </a:lnTo>
                  <a:lnTo>
                    <a:pt x="3439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384810" y="3931920"/>
            <a:ext cx="2560320" cy="1188720"/>
            <a:chOff x="0" y="0"/>
            <a:chExt cx="3413760" cy="15849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13760" cy="1584960"/>
            </a:xfrm>
            <a:custGeom>
              <a:avLst/>
              <a:gdLst/>
              <a:ahLst/>
              <a:cxnLst/>
              <a:rect l="l" t="t" r="r" b="b"/>
              <a:pathLst>
                <a:path w="3413760" h="15849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r="-9569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3413760" cy="1642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6710" y="5467350"/>
            <a:ext cx="2598420" cy="1226820"/>
            <a:chOff x="0" y="0"/>
            <a:chExt cx="3464560" cy="1635760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3413760" cy="1584960"/>
            </a:xfrm>
            <a:custGeom>
              <a:avLst/>
              <a:gdLst/>
              <a:ahLst/>
              <a:cxnLst/>
              <a:rect l="l" t="t" r="r" b="b"/>
              <a:pathLst>
                <a:path w="3413760" h="15849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464560" cy="1635760"/>
            </a:xfrm>
            <a:custGeom>
              <a:avLst/>
              <a:gdLst/>
              <a:ahLst/>
              <a:cxnLst/>
              <a:rect l="l" t="t" r="r" b="b"/>
              <a:pathLst>
                <a:path w="3464560" h="1635760">
                  <a:moveTo>
                    <a:pt x="25400" y="0"/>
                  </a:moveTo>
                  <a:lnTo>
                    <a:pt x="3439160" y="0"/>
                  </a:lnTo>
                  <a:cubicBezTo>
                    <a:pt x="3453130" y="0"/>
                    <a:pt x="3464560" y="11430"/>
                    <a:pt x="3464560" y="25400"/>
                  </a:cubicBezTo>
                  <a:lnTo>
                    <a:pt x="3464560" y="1610360"/>
                  </a:lnTo>
                  <a:cubicBezTo>
                    <a:pt x="3464560" y="1624330"/>
                    <a:pt x="3453130" y="1635760"/>
                    <a:pt x="343916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3439160" y="1584960"/>
                  </a:lnTo>
                  <a:lnTo>
                    <a:pt x="3439160" y="1610360"/>
                  </a:lnTo>
                  <a:lnTo>
                    <a:pt x="3413760" y="1610360"/>
                  </a:lnTo>
                  <a:lnTo>
                    <a:pt x="3413760" y="25400"/>
                  </a:lnTo>
                  <a:lnTo>
                    <a:pt x="3439160" y="25400"/>
                  </a:lnTo>
                  <a:lnTo>
                    <a:pt x="3439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384810" y="5505450"/>
            <a:ext cx="2560320" cy="1188720"/>
            <a:chOff x="0" y="0"/>
            <a:chExt cx="3413760" cy="15849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13760" cy="1584960"/>
            </a:xfrm>
            <a:custGeom>
              <a:avLst/>
              <a:gdLst/>
              <a:ahLst/>
              <a:cxnLst/>
              <a:rect l="l" t="t" r="r" b="b"/>
              <a:pathLst>
                <a:path w="3413760" h="15849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r="-9569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3413760" cy="1642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992117" y="2955541"/>
            <a:ext cx="965197" cy="910333"/>
            <a:chOff x="0" y="0"/>
            <a:chExt cx="1286929" cy="1213777"/>
          </a:xfrm>
        </p:grpSpPr>
        <p:sp>
          <p:nvSpPr>
            <p:cNvPr id="26" name="Freeform 26"/>
            <p:cNvSpPr/>
            <p:nvPr/>
          </p:nvSpPr>
          <p:spPr>
            <a:xfrm>
              <a:off x="10668" y="9144"/>
              <a:ext cx="1265555" cy="1195451"/>
            </a:xfrm>
            <a:custGeom>
              <a:avLst/>
              <a:gdLst/>
              <a:ahLst/>
              <a:cxnLst/>
              <a:rect l="l" t="t" r="r" b="b"/>
              <a:pathLst>
                <a:path w="1265555" h="1195451">
                  <a:moveTo>
                    <a:pt x="46355" y="0"/>
                  </a:moveTo>
                  <a:lnTo>
                    <a:pt x="1265555" y="1146048"/>
                  </a:lnTo>
                  <a:lnTo>
                    <a:pt x="1219200" y="1195451"/>
                  </a:lnTo>
                  <a:lnTo>
                    <a:pt x="0" y="4940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3906517" y="2352037"/>
            <a:ext cx="3708397" cy="4257037"/>
            <a:chOff x="0" y="0"/>
            <a:chExt cx="4944529" cy="5676049"/>
          </a:xfrm>
        </p:grpSpPr>
        <p:sp>
          <p:nvSpPr>
            <p:cNvPr id="28" name="Freeform 28"/>
            <p:cNvSpPr/>
            <p:nvPr/>
          </p:nvSpPr>
          <p:spPr>
            <a:xfrm>
              <a:off x="33909" y="33909"/>
              <a:ext cx="4876800" cy="5608320"/>
            </a:xfrm>
            <a:custGeom>
              <a:avLst/>
              <a:gdLst/>
              <a:ahLst/>
              <a:cxnLst/>
              <a:rect l="l" t="t" r="r" b="b"/>
              <a:pathLst>
                <a:path w="4876800" h="5608320">
                  <a:moveTo>
                    <a:pt x="0" y="0"/>
                  </a:moveTo>
                  <a:lnTo>
                    <a:pt x="4876800" y="0"/>
                  </a:lnTo>
                  <a:lnTo>
                    <a:pt x="487680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F5F3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4944618" cy="5676138"/>
            </a:xfrm>
            <a:custGeom>
              <a:avLst/>
              <a:gdLst/>
              <a:ahLst/>
              <a:cxnLst/>
              <a:rect l="l" t="t" r="r" b="b"/>
              <a:pathLst>
                <a:path w="4944618" h="5676138">
                  <a:moveTo>
                    <a:pt x="33909" y="0"/>
                  </a:moveTo>
                  <a:lnTo>
                    <a:pt x="4910709" y="0"/>
                  </a:lnTo>
                  <a:cubicBezTo>
                    <a:pt x="4929378" y="0"/>
                    <a:pt x="4944618" y="15113"/>
                    <a:pt x="4944618" y="33909"/>
                  </a:cubicBezTo>
                  <a:lnTo>
                    <a:pt x="4944618" y="5642229"/>
                  </a:lnTo>
                  <a:cubicBezTo>
                    <a:pt x="4944618" y="5660898"/>
                    <a:pt x="4929505" y="5676138"/>
                    <a:pt x="4910709" y="5676138"/>
                  </a:cubicBezTo>
                  <a:lnTo>
                    <a:pt x="33909" y="5676138"/>
                  </a:lnTo>
                  <a:cubicBezTo>
                    <a:pt x="15240" y="5676138"/>
                    <a:pt x="0" y="5661025"/>
                    <a:pt x="0" y="564222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5642229"/>
                  </a:lnTo>
                  <a:lnTo>
                    <a:pt x="33909" y="5642229"/>
                  </a:lnTo>
                  <a:lnTo>
                    <a:pt x="33909" y="5608320"/>
                  </a:lnTo>
                  <a:lnTo>
                    <a:pt x="4910709" y="5608320"/>
                  </a:lnTo>
                  <a:lnTo>
                    <a:pt x="4910709" y="5642229"/>
                  </a:lnTo>
                  <a:lnTo>
                    <a:pt x="4876800" y="5642229"/>
                  </a:lnTo>
                  <a:lnTo>
                    <a:pt x="4876800" y="33909"/>
                  </a:lnTo>
                  <a:lnTo>
                    <a:pt x="4910709" y="33909"/>
                  </a:lnTo>
                  <a:lnTo>
                    <a:pt x="49107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3906517" y="2827042"/>
            <a:ext cx="3474720" cy="3253718"/>
            <a:chOff x="0" y="0"/>
            <a:chExt cx="4632960" cy="433829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32960" cy="4338290"/>
            </a:xfrm>
            <a:custGeom>
              <a:avLst/>
              <a:gdLst/>
              <a:ahLst/>
              <a:cxnLst/>
              <a:rect l="l" t="t" r="r" b="b"/>
              <a:pathLst>
                <a:path w="4632960" h="4338290">
                  <a:moveTo>
                    <a:pt x="0" y="0"/>
                  </a:moveTo>
                  <a:lnTo>
                    <a:pt x="4632960" y="0"/>
                  </a:lnTo>
                  <a:lnTo>
                    <a:pt x="4632960" y="4338290"/>
                  </a:lnTo>
                  <a:lnTo>
                    <a:pt x="0" y="43382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562" r="-98562" b="-23654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4632960" cy="4404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endParaRPr/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Router</a:t>
              </a:r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 Actions</a:t>
              </a:r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shadcn/ui + i18n</a:t>
              </a:r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Serwist PWA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89520" y="3566160"/>
            <a:ext cx="1097280" cy="548640"/>
            <a:chOff x="0" y="0"/>
            <a:chExt cx="146304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3040" cy="731520"/>
            </a:xfrm>
            <a:custGeom>
              <a:avLst/>
              <a:gdLst/>
              <a:ahLst/>
              <a:cxnLst/>
              <a:rect l="l" t="t" r="r" b="b"/>
              <a:pathLst>
                <a:path w="1463040" h="73152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4630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64117" y="4089397"/>
            <a:ext cx="1148077" cy="50797"/>
            <a:chOff x="0" y="0"/>
            <a:chExt cx="1530769" cy="67729"/>
          </a:xfrm>
        </p:grpSpPr>
        <p:sp>
          <p:nvSpPr>
            <p:cNvPr id="37" name="Freeform 37"/>
            <p:cNvSpPr/>
            <p:nvPr/>
          </p:nvSpPr>
          <p:spPr>
            <a:xfrm>
              <a:off x="33909" y="0"/>
              <a:ext cx="1463040" cy="67691"/>
            </a:xfrm>
            <a:custGeom>
              <a:avLst/>
              <a:gdLst/>
              <a:ahLst/>
              <a:cxnLst/>
              <a:rect l="l" t="t" r="r" b="b"/>
              <a:pathLst>
                <a:path w="1463040" h="67691">
                  <a:moveTo>
                    <a:pt x="0" y="0"/>
                  </a:moveTo>
                  <a:lnTo>
                    <a:pt x="1463040" y="0"/>
                  </a:lnTo>
                  <a:lnTo>
                    <a:pt x="14630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8661397" y="1986277"/>
            <a:ext cx="4366264" cy="4988557"/>
            <a:chOff x="0" y="0"/>
            <a:chExt cx="5821685" cy="6651409"/>
          </a:xfrm>
        </p:grpSpPr>
        <p:sp>
          <p:nvSpPr>
            <p:cNvPr id="39" name="Freeform 39"/>
            <p:cNvSpPr/>
            <p:nvPr/>
          </p:nvSpPr>
          <p:spPr>
            <a:xfrm>
              <a:off x="36340" y="33909"/>
              <a:ext cx="5749100" cy="6583680"/>
            </a:xfrm>
            <a:custGeom>
              <a:avLst/>
              <a:gdLst/>
              <a:ahLst/>
              <a:cxnLst/>
              <a:rect l="l" t="t" r="r" b="b"/>
              <a:pathLst>
                <a:path w="5749100" h="6583680">
                  <a:moveTo>
                    <a:pt x="0" y="0"/>
                  </a:moveTo>
                  <a:lnTo>
                    <a:pt x="5749100" y="0"/>
                  </a:lnTo>
                  <a:lnTo>
                    <a:pt x="5749100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5821774" cy="6651499"/>
            </a:xfrm>
            <a:custGeom>
              <a:avLst/>
              <a:gdLst/>
              <a:ahLst/>
              <a:cxnLst/>
              <a:rect l="l" t="t" r="r" b="b"/>
              <a:pathLst>
                <a:path w="5821774" h="6651499">
                  <a:moveTo>
                    <a:pt x="36340" y="0"/>
                  </a:moveTo>
                  <a:lnTo>
                    <a:pt x="5785440" y="0"/>
                  </a:lnTo>
                  <a:cubicBezTo>
                    <a:pt x="5805448" y="0"/>
                    <a:pt x="5821774" y="15113"/>
                    <a:pt x="5821774" y="33909"/>
                  </a:cubicBezTo>
                  <a:lnTo>
                    <a:pt x="5821774" y="6617589"/>
                  </a:lnTo>
                  <a:cubicBezTo>
                    <a:pt x="5821774" y="6636258"/>
                    <a:pt x="5805584" y="6651499"/>
                    <a:pt x="5785440" y="6651499"/>
                  </a:cubicBezTo>
                  <a:lnTo>
                    <a:pt x="36340" y="6651499"/>
                  </a:lnTo>
                  <a:cubicBezTo>
                    <a:pt x="16333" y="6651499"/>
                    <a:pt x="0" y="6636386"/>
                    <a:pt x="0" y="6617589"/>
                  </a:cubicBezTo>
                  <a:lnTo>
                    <a:pt x="0" y="33909"/>
                  </a:lnTo>
                  <a:cubicBezTo>
                    <a:pt x="0" y="15113"/>
                    <a:pt x="16197" y="0"/>
                    <a:pt x="36340" y="0"/>
                  </a:cubicBezTo>
                  <a:moveTo>
                    <a:pt x="36340" y="67691"/>
                  </a:moveTo>
                  <a:lnTo>
                    <a:pt x="36340" y="33909"/>
                  </a:lnTo>
                  <a:lnTo>
                    <a:pt x="72544" y="33909"/>
                  </a:lnTo>
                  <a:lnTo>
                    <a:pt x="72544" y="6617589"/>
                  </a:lnTo>
                  <a:lnTo>
                    <a:pt x="36340" y="6617589"/>
                  </a:lnTo>
                  <a:lnTo>
                    <a:pt x="36340" y="6583680"/>
                  </a:lnTo>
                  <a:lnTo>
                    <a:pt x="5785440" y="6583680"/>
                  </a:lnTo>
                  <a:lnTo>
                    <a:pt x="5785440" y="6617589"/>
                  </a:lnTo>
                  <a:lnTo>
                    <a:pt x="5749100" y="6617589"/>
                  </a:lnTo>
                  <a:lnTo>
                    <a:pt x="5749100" y="33909"/>
                  </a:lnTo>
                  <a:lnTo>
                    <a:pt x="5785440" y="33909"/>
                  </a:lnTo>
                  <a:lnTo>
                    <a:pt x="5785440" y="67691"/>
                  </a:lnTo>
                  <a:lnTo>
                    <a:pt x="36340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8759819" y="1907530"/>
            <a:ext cx="4450722" cy="4638037"/>
            <a:chOff x="0" y="0"/>
            <a:chExt cx="5934296" cy="618404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934296" cy="6184049"/>
            </a:xfrm>
            <a:custGeom>
              <a:avLst/>
              <a:gdLst/>
              <a:ahLst/>
              <a:cxnLst/>
              <a:rect l="l" t="t" r="r" b="b"/>
              <a:pathLst>
                <a:path w="5934296" h="6184049">
                  <a:moveTo>
                    <a:pt x="0" y="0"/>
                  </a:moveTo>
                  <a:lnTo>
                    <a:pt x="5934296" y="0"/>
                  </a:lnTo>
                  <a:lnTo>
                    <a:pt x="5934296" y="6184049"/>
                  </a:lnTo>
                  <a:lnTo>
                    <a:pt x="0" y="61840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927" r="-80216" b="-251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5934296" cy="6250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endParaRPr/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 route modules</a:t>
              </a:r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194 endpoints</a:t>
              </a:r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 service modules</a:t>
              </a:r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SQLAlchemy 2</a:t>
              </a:r>
            </a:p>
            <a:p>
              <a:pPr marL="734059" lvl="1" indent="-367030" algn="l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41 models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782037" y="2169157"/>
            <a:ext cx="4157244" cy="2062477"/>
            <a:chOff x="0" y="0"/>
            <a:chExt cx="5542992" cy="2749969"/>
          </a:xfrm>
        </p:grpSpPr>
        <p:sp>
          <p:nvSpPr>
            <p:cNvPr id="45" name="Freeform 45"/>
            <p:cNvSpPr/>
            <p:nvPr/>
          </p:nvSpPr>
          <p:spPr>
            <a:xfrm>
              <a:off x="34601" y="33909"/>
              <a:ext cx="5473881" cy="2682240"/>
            </a:xfrm>
            <a:custGeom>
              <a:avLst/>
              <a:gdLst/>
              <a:ahLst/>
              <a:cxnLst/>
              <a:rect l="l" t="t" r="r" b="b"/>
              <a:pathLst>
                <a:path w="5473881" h="2682240">
                  <a:moveTo>
                    <a:pt x="0" y="0"/>
                  </a:moveTo>
                  <a:lnTo>
                    <a:pt x="5473881" y="0"/>
                  </a:lnTo>
                  <a:lnTo>
                    <a:pt x="5473881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5543081" cy="2750058"/>
            </a:xfrm>
            <a:custGeom>
              <a:avLst/>
              <a:gdLst/>
              <a:ahLst/>
              <a:cxnLst/>
              <a:rect l="l" t="t" r="r" b="b"/>
              <a:pathLst>
                <a:path w="5543081" h="2750058">
                  <a:moveTo>
                    <a:pt x="34601" y="0"/>
                  </a:moveTo>
                  <a:lnTo>
                    <a:pt x="5508482" y="0"/>
                  </a:lnTo>
                  <a:cubicBezTo>
                    <a:pt x="5527532" y="0"/>
                    <a:pt x="5543081" y="15113"/>
                    <a:pt x="5543081" y="33909"/>
                  </a:cubicBezTo>
                  <a:lnTo>
                    <a:pt x="5543081" y="2716149"/>
                  </a:lnTo>
                  <a:cubicBezTo>
                    <a:pt x="5543081" y="2734818"/>
                    <a:pt x="5527661" y="2750058"/>
                    <a:pt x="5508482" y="2750058"/>
                  </a:cubicBezTo>
                  <a:lnTo>
                    <a:pt x="34601" y="2750058"/>
                  </a:lnTo>
                  <a:cubicBezTo>
                    <a:pt x="15551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421" y="0"/>
                    <a:pt x="34601" y="0"/>
                  </a:cubicBezTo>
                  <a:moveTo>
                    <a:pt x="34601" y="67691"/>
                  </a:moveTo>
                  <a:lnTo>
                    <a:pt x="34601" y="33909"/>
                  </a:lnTo>
                  <a:lnTo>
                    <a:pt x="69071" y="33909"/>
                  </a:lnTo>
                  <a:lnTo>
                    <a:pt x="69071" y="2716149"/>
                  </a:lnTo>
                  <a:lnTo>
                    <a:pt x="34601" y="2716149"/>
                  </a:lnTo>
                  <a:lnTo>
                    <a:pt x="34601" y="2682240"/>
                  </a:lnTo>
                  <a:lnTo>
                    <a:pt x="5508482" y="2682240"/>
                  </a:lnTo>
                  <a:lnTo>
                    <a:pt x="5508482" y="2716149"/>
                  </a:lnTo>
                  <a:lnTo>
                    <a:pt x="5473881" y="2716149"/>
                  </a:lnTo>
                  <a:lnTo>
                    <a:pt x="5473881" y="33909"/>
                  </a:lnTo>
                  <a:lnTo>
                    <a:pt x="5508482" y="33909"/>
                  </a:lnTo>
                  <a:lnTo>
                    <a:pt x="5508482" y="67691"/>
                  </a:lnTo>
                  <a:lnTo>
                    <a:pt x="34601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3843182" y="2240275"/>
            <a:ext cx="4240321" cy="1920240"/>
            <a:chOff x="0" y="0"/>
            <a:chExt cx="5653762" cy="25603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653762" cy="2560320"/>
            </a:xfrm>
            <a:custGeom>
              <a:avLst/>
              <a:gdLst/>
              <a:ahLst/>
              <a:cxnLst/>
              <a:rect l="l" t="t" r="r" b="b"/>
              <a:pathLst>
                <a:path w="5653762" h="2560320">
                  <a:moveTo>
                    <a:pt x="0" y="0"/>
                  </a:moveTo>
                  <a:lnTo>
                    <a:pt x="5653762" y="0"/>
                  </a:lnTo>
                  <a:lnTo>
                    <a:pt x="5653762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817" r="-338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5653762" cy="2617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endParaRPr/>
            </a:p>
            <a:p>
              <a:pPr marL="690881" lvl="1" indent="-34544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YOLO + Azure DI</a:t>
              </a:r>
            </a:p>
            <a:p>
              <a:pPr marL="690881" lvl="1" indent="-34544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PaddleOCR fallback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782037" y="4546597"/>
            <a:ext cx="4157244" cy="1879597"/>
            <a:chOff x="0" y="0"/>
            <a:chExt cx="5542992" cy="2506129"/>
          </a:xfrm>
        </p:grpSpPr>
        <p:sp>
          <p:nvSpPr>
            <p:cNvPr id="51" name="Freeform 51"/>
            <p:cNvSpPr/>
            <p:nvPr/>
          </p:nvSpPr>
          <p:spPr>
            <a:xfrm>
              <a:off x="34601" y="33909"/>
              <a:ext cx="5473881" cy="2438400"/>
            </a:xfrm>
            <a:custGeom>
              <a:avLst/>
              <a:gdLst/>
              <a:ahLst/>
              <a:cxnLst/>
              <a:rect l="l" t="t" r="r" b="b"/>
              <a:pathLst>
                <a:path w="5473881" h="2438400">
                  <a:moveTo>
                    <a:pt x="0" y="0"/>
                  </a:moveTo>
                  <a:lnTo>
                    <a:pt x="5473881" y="0"/>
                  </a:lnTo>
                  <a:lnTo>
                    <a:pt x="547388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5F3FF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5543081" cy="2506218"/>
            </a:xfrm>
            <a:custGeom>
              <a:avLst/>
              <a:gdLst/>
              <a:ahLst/>
              <a:cxnLst/>
              <a:rect l="l" t="t" r="r" b="b"/>
              <a:pathLst>
                <a:path w="5543081" h="2506218">
                  <a:moveTo>
                    <a:pt x="34601" y="0"/>
                  </a:moveTo>
                  <a:lnTo>
                    <a:pt x="5508482" y="0"/>
                  </a:lnTo>
                  <a:cubicBezTo>
                    <a:pt x="5527532" y="0"/>
                    <a:pt x="5543081" y="15113"/>
                    <a:pt x="5543081" y="33909"/>
                  </a:cubicBezTo>
                  <a:lnTo>
                    <a:pt x="5543081" y="2472309"/>
                  </a:lnTo>
                  <a:cubicBezTo>
                    <a:pt x="5543081" y="2490978"/>
                    <a:pt x="5527661" y="2506218"/>
                    <a:pt x="5508482" y="2506218"/>
                  </a:cubicBezTo>
                  <a:lnTo>
                    <a:pt x="34601" y="2506218"/>
                  </a:lnTo>
                  <a:cubicBezTo>
                    <a:pt x="15551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15421" y="0"/>
                    <a:pt x="34601" y="0"/>
                  </a:cubicBezTo>
                  <a:moveTo>
                    <a:pt x="34601" y="67691"/>
                  </a:moveTo>
                  <a:lnTo>
                    <a:pt x="34601" y="33909"/>
                  </a:lnTo>
                  <a:lnTo>
                    <a:pt x="69071" y="33909"/>
                  </a:lnTo>
                  <a:lnTo>
                    <a:pt x="69071" y="2472309"/>
                  </a:lnTo>
                  <a:lnTo>
                    <a:pt x="34601" y="2472309"/>
                  </a:lnTo>
                  <a:lnTo>
                    <a:pt x="34601" y="2438400"/>
                  </a:lnTo>
                  <a:lnTo>
                    <a:pt x="5508482" y="2438400"/>
                  </a:lnTo>
                  <a:lnTo>
                    <a:pt x="5508482" y="2472309"/>
                  </a:lnTo>
                  <a:lnTo>
                    <a:pt x="5473881" y="2472309"/>
                  </a:lnTo>
                  <a:lnTo>
                    <a:pt x="5473881" y="33909"/>
                  </a:lnTo>
                  <a:lnTo>
                    <a:pt x="5508482" y="33909"/>
                  </a:lnTo>
                  <a:lnTo>
                    <a:pt x="5508482" y="67691"/>
                  </a:lnTo>
                  <a:lnTo>
                    <a:pt x="34601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4234099" y="4688834"/>
            <a:ext cx="3705181" cy="1737360"/>
            <a:chOff x="0" y="0"/>
            <a:chExt cx="4940241" cy="23164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940241" cy="2316480"/>
            </a:xfrm>
            <a:custGeom>
              <a:avLst/>
              <a:gdLst/>
              <a:ahLst/>
              <a:cxnLst/>
              <a:rect l="l" t="t" r="r" b="b"/>
              <a:pathLst>
                <a:path w="4940241" h="2316480">
                  <a:moveTo>
                    <a:pt x="0" y="0"/>
                  </a:moveTo>
                  <a:lnTo>
                    <a:pt x="4940241" y="0"/>
                  </a:lnTo>
                  <a:lnTo>
                    <a:pt x="4940241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35" r="-1198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4940241" cy="2383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endParaRPr dirty="0"/>
            </a:p>
            <a:p>
              <a:pPr algn="l">
                <a:lnSpc>
                  <a:spcPts val="3719"/>
                </a:lnSpc>
              </a:pPr>
              <a:r>
                <a:rPr lang="en-US" sz="3099" dirty="0" err="1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Groq</a:t>
              </a:r>
              <a:r>
                <a:rPr lang="en-US" sz="3099" dirty="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| Azure DI | Cerebras | Vapi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095237" y="7472677"/>
            <a:ext cx="10193653" cy="1488443"/>
            <a:chOff x="0" y="0"/>
            <a:chExt cx="13591537" cy="1984591"/>
          </a:xfrm>
        </p:grpSpPr>
        <p:sp>
          <p:nvSpPr>
            <p:cNvPr id="57" name="Freeform 57"/>
            <p:cNvSpPr/>
            <p:nvPr/>
          </p:nvSpPr>
          <p:spPr>
            <a:xfrm>
              <a:off x="41744" y="40719"/>
              <a:ext cx="13508159" cy="1903260"/>
            </a:xfrm>
            <a:custGeom>
              <a:avLst/>
              <a:gdLst/>
              <a:ahLst/>
              <a:cxnLst/>
              <a:rect l="l" t="t" r="r" b="b"/>
              <a:pathLst>
                <a:path w="13508159" h="1903260">
                  <a:moveTo>
                    <a:pt x="0" y="0"/>
                  </a:moveTo>
                  <a:lnTo>
                    <a:pt x="13508159" y="0"/>
                  </a:lnTo>
                  <a:lnTo>
                    <a:pt x="13508159" y="1903260"/>
                  </a:lnTo>
                  <a:lnTo>
                    <a:pt x="0" y="1903260"/>
                  </a:lnTo>
                  <a:close/>
                </a:path>
              </a:pathLst>
            </a:custGeom>
            <a:solidFill>
              <a:srgbClr val="F5F3FF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3591626" cy="1984680"/>
            </a:xfrm>
            <a:custGeom>
              <a:avLst/>
              <a:gdLst/>
              <a:ahLst/>
              <a:cxnLst/>
              <a:rect l="l" t="t" r="r" b="b"/>
              <a:pathLst>
                <a:path w="13591626" h="1984680">
                  <a:moveTo>
                    <a:pt x="41744" y="0"/>
                  </a:moveTo>
                  <a:lnTo>
                    <a:pt x="13549903" y="0"/>
                  </a:lnTo>
                  <a:cubicBezTo>
                    <a:pt x="13572886" y="0"/>
                    <a:pt x="13591626" y="18148"/>
                    <a:pt x="13591626" y="40719"/>
                  </a:cubicBezTo>
                  <a:lnTo>
                    <a:pt x="13591626" y="1943979"/>
                  </a:lnTo>
                  <a:cubicBezTo>
                    <a:pt x="13591626" y="1966397"/>
                    <a:pt x="13573043" y="1984680"/>
                    <a:pt x="13549903" y="1984680"/>
                  </a:cubicBezTo>
                  <a:lnTo>
                    <a:pt x="41744" y="1984680"/>
                  </a:lnTo>
                  <a:cubicBezTo>
                    <a:pt x="18761" y="1984680"/>
                    <a:pt x="0" y="1966550"/>
                    <a:pt x="0" y="1943979"/>
                  </a:cubicBezTo>
                  <a:lnTo>
                    <a:pt x="0" y="40719"/>
                  </a:lnTo>
                  <a:cubicBezTo>
                    <a:pt x="0" y="18148"/>
                    <a:pt x="18605" y="0"/>
                    <a:pt x="41744" y="0"/>
                  </a:cubicBezTo>
                  <a:moveTo>
                    <a:pt x="41744" y="81285"/>
                  </a:moveTo>
                  <a:lnTo>
                    <a:pt x="41744" y="40719"/>
                  </a:lnTo>
                  <a:lnTo>
                    <a:pt x="83332" y="40719"/>
                  </a:lnTo>
                  <a:lnTo>
                    <a:pt x="83332" y="1943979"/>
                  </a:lnTo>
                  <a:lnTo>
                    <a:pt x="41744" y="1943979"/>
                  </a:lnTo>
                  <a:lnTo>
                    <a:pt x="41744" y="1903260"/>
                  </a:lnTo>
                  <a:lnTo>
                    <a:pt x="13549903" y="1903260"/>
                  </a:lnTo>
                  <a:lnTo>
                    <a:pt x="13549903" y="1943979"/>
                  </a:lnTo>
                  <a:lnTo>
                    <a:pt x="13508158" y="1943979"/>
                  </a:lnTo>
                  <a:lnTo>
                    <a:pt x="13508158" y="40719"/>
                  </a:lnTo>
                  <a:lnTo>
                    <a:pt x="13549903" y="40719"/>
                  </a:lnTo>
                  <a:lnTo>
                    <a:pt x="13549903" y="81285"/>
                  </a:lnTo>
                  <a:lnTo>
                    <a:pt x="41744" y="81285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5120640" y="7498080"/>
            <a:ext cx="9744788" cy="1463040"/>
            <a:chOff x="0" y="0"/>
            <a:chExt cx="12993050" cy="19507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993050" cy="1950720"/>
            </a:xfrm>
            <a:custGeom>
              <a:avLst/>
              <a:gdLst/>
              <a:ahLst/>
              <a:cxnLst/>
              <a:rect l="l" t="t" r="r" b="b"/>
              <a:pathLst>
                <a:path w="12993050" h="1950720">
                  <a:moveTo>
                    <a:pt x="0" y="0"/>
                  </a:moveTo>
                  <a:lnTo>
                    <a:pt x="12993050" y="0"/>
                  </a:lnTo>
                  <a:lnTo>
                    <a:pt x="1299305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978" r="15548" b="-50228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1299305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  —  PostgreSQL  |  Auth  |  Storage  |  Realtime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339165" y="6964680"/>
            <a:ext cx="50797" cy="507997"/>
            <a:chOff x="0" y="0"/>
            <a:chExt cx="67729" cy="677329"/>
          </a:xfrm>
        </p:grpSpPr>
        <p:sp>
          <p:nvSpPr>
            <p:cNvPr id="63" name="Freeform 63"/>
            <p:cNvSpPr/>
            <p:nvPr/>
          </p:nvSpPr>
          <p:spPr>
            <a:xfrm>
              <a:off x="0" y="33909"/>
              <a:ext cx="67691" cy="609600"/>
            </a:xfrm>
            <a:custGeom>
              <a:avLst/>
              <a:gdLst/>
              <a:ahLst/>
              <a:cxnLst/>
              <a:rect l="l" t="t" r="r" b="b"/>
              <a:pathLst>
                <a:path w="67691" h="609600">
                  <a:moveTo>
                    <a:pt x="67691" y="0"/>
                  </a:moveTo>
                  <a:lnTo>
                    <a:pt x="676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028700" y="9008745"/>
            <a:ext cx="16809164" cy="803537"/>
            <a:chOff x="0" y="0"/>
            <a:chExt cx="22412219" cy="1071383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466619" y="151268"/>
              <a:ext cx="21945600" cy="920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i="1" dirty="0">
                  <a:solidFill>
                    <a:srgbClr val="1A1A1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5.1: System architecture with clean boundaries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3881961" y="2520886"/>
            <a:ext cx="3798359" cy="571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Next.js 16 PWA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008821" y="2275837"/>
            <a:ext cx="327791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FastAPI Backend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176437" y="2289106"/>
            <a:ext cx="3576502" cy="571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/ OCR Service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098801" y="4694549"/>
            <a:ext cx="238017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LLM Providers</a:t>
            </a:r>
          </a:p>
        </p:txBody>
      </p:sp>
      <p:grpSp>
        <p:nvGrpSpPr>
          <p:cNvPr id="71" name="Group 71"/>
          <p:cNvGrpSpPr/>
          <p:nvPr/>
        </p:nvGrpSpPr>
        <p:grpSpPr>
          <a:xfrm rot="-2622285">
            <a:off x="3030347" y="4145836"/>
            <a:ext cx="780742" cy="736363"/>
            <a:chOff x="0" y="0"/>
            <a:chExt cx="1286929" cy="1213777"/>
          </a:xfrm>
        </p:grpSpPr>
        <p:sp>
          <p:nvSpPr>
            <p:cNvPr id="72" name="Freeform 72"/>
            <p:cNvSpPr/>
            <p:nvPr/>
          </p:nvSpPr>
          <p:spPr>
            <a:xfrm>
              <a:off x="10668" y="9144"/>
              <a:ext cx="1265555" cy="1195451"/>
            </a:xfrm>
            <a:custGeom>
              <a:avLst/>
              <a:gdLst/>
              <a:ahLst/>
              <a:cxnLst/>
              <a:rect l="l" t="t" r="r" b="b"/>
              <a:pathLst>
                <a:path w="1265555" h="1195451">
                  <a:moveTo>
                    <a:pt x="46355" y="0"/>
                  </a:moveTo>
                  <a:lnTo>
                    <a:pt x="1265555" y="1146048"/>
                  </a:lnTo>
                  <a:lnTo>
                    <a:pt x="1219200" y="1195451"/>
                  </a:lnTo>
                  <a:lnTo>
                    <a:pt x="0" y="4940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73" name="Group 73"/>
          <p:cNvGrpSpPr/>
          <p:nvPr/>
        </p:nvGrpSpPr>
        <p:grpSpPr>
          <a:xfrm rot="-4805350">
            <a:off x="2991639" y="5457933"/>
            <a:ext cx="919166" cy="866918"/>
            <a:chOff x="0" y="0"/>
            <a:chExt cx="1286929" cy="1213777"/>
          </a:xfrm>
        </p:grpSpPr>
        <p:sp>
          <p:nvSpPr>
            <p:cNvPr id="74" name="Freeform 74"/>
            <p:cNvSpPr/>
            <p:nvPr/>
          </p:nvSpPr>
          <p:spPr>
            <a:xfrm>
              <a:off x="10668" y="9144"/>
              <a:ext cx="1265555" cy="1195451"/>
            </a:xfrm>
            <a:custGeom>
              <a:avLst/>
              <a:gdLst/>
              <a:ahLst/>
              <a:cxnLst/>
              <a:rect l="l" t="t" r="r" b="b"/>
              <a:pathLst>
                <a:path w="1265555" h="1195451">
                  <a:moveTo>
                    <a:pt x="46355" y="0"/>
                  </a:moveTo>
                  <a:lnTo>
                    <a:pt x="1265555" y="1146048"/>
                  </a:lnTo>
                  <a:lnTo>
                    <a:pt x="1219200" y="1195451"/>
                  </a:lnTo>
                  <a:lnTo>
                    <a:pt x="0" y="4940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75" name="AutoShape 75"/>
          <p:cNvSpPr/>
          <p:nvPr/>
        </p:nvSpPr>
        <p:spPr>
          <a:xfrm>
            <a:off x="13027661" y="3429757"/>
            <a:ext cx="641932" cy="0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" name="AutoShape 76"/>
          <p:cNvSpPr/>
          <p:nvPr/>
        </p:nvSpPr>
        <p:spPr>
          <a:xfrm flipV="1">
            <a:off x="13027661" y="5364063"/>
            <a:ext cx="815521" cy="103287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Freeform 77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8" name="Group 78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82" name="AutoShape 82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3" name="AutoShape 83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4" name="AutoShape 84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5" name="AutoShape 85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6" name="AutoShape 86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7" name="AutoShape 87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" name="AutoShape 88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9" name="AutoShape 89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20" name="AutoShape 120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32" name="Group 132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35" name="TextBox 135"/>
            <p:cNvSpPr txBox="1"/>
            <p:nvPr/>
          </p:nvSpPr>
          <p:spPr>
            <a:xfrm>
              <a:off x="395815" y="189916"/>
              <a:ext cx="223203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8378334"/>
            <a:ext cx="16775430" cy="731520"/>
            <a:chOff x="0" y="0"/>
            <a:chExt cx="22367240" cy="975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67239" cy="975360"/>
            </a:xfrm>
            <a:custGeom>
              <a:avLst/>
              <a:gdLst/>
              <a:ahLst/>
              <a:cxnLst/>
              <a:rect l="l" t="t" r="r" b="b"/>
              <a:pathLst>
                <a:path w="22367239" h="975360">
                  <a:moveTo>
                    <a:pt x="0" y="0"/>
                  </a:moveTo>
                  <a:lnTo>
                    <a:pt x="22367239" y="0"/>
                  </a:lnTo>
                  <a:lnTo>
                    <a:pt x="22367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r="1885" b="-3884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36724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Two-level access control — middleware redirects at navigation, server actions re-check at request time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6117" y="2502038"/>
            <a:ext cx="16869413" cy="5285746"/>
            <a:chOff x="0" y="0"/>
            <a:chExt cx="22492551" cy="7047662"/>
          </a:xfrm>
        </p:grpSpPr>
        <p:grpSp>
          <p:nvGrpSpPr>
            <p:cNvPr id="11" name="Group 11"/>
            <p:cNvGrpSpPr/>
            <p:nvPr/>
          </p:nvGrpSpPr>
          <p:grpSpPr>
            <a:xfrm>
              <a:off x="8471" y="313271"/>
              <a:ext cx="4439920" cy="2489200"/>
              <a:chOff x="0" y="0"/>
              <a:chExt cx="4439920" cy="2489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5400" y="25400"/>
                <a:ext cx="438912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243840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443992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4439920" h="2489200">
                    <a:moveTo>
                      <a:pt x="25400" y="0"/>
                    </a:moveTo>
                    <a:lnTo>
                      <a:pt x="4414520" y="0"/>
                    </a:lnTo>
                    <a:cubicBezTo>
                      <a:pt x="4428490" y="0"/>
                      <a:pt x="4439920" y="11430"/>
                      <a:pt x="4439920" y="25400"/>
                    </a:cubicBezTo>
                    <a:lnTo>
                      <a:pt x="4439920" y="2463800"/>
                    </a:lnTo>
                    <a:cubicBezTo>
                      <a:pt x="4439920" y="2477770"/>
                      <a:pt x="4428490" y="2489200"/>
                      <a:pt x="4414520" y="2489200"/>
                    </a:cubicBezTo>
                    <a:lnTo>
                      <a:pt x="25400" y="2489200"/>
                    </a:lnTo>
                    <a:cubicBezTo>
                      <a:pt x="11430" y="2489200"/>
                      <a:pt x="0" y="2477770"/>
                      <a:pt x="0" y="24638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463800"/>
                    </a:lnTo>
                    <a:lnTo>
                      <a:pt x="25400" y="2463800"/>
                    </a:lnTo>
                    <a:lnTo>
                      <a:pt x="25400" y="2438400"/>
                    </a:lnTo>
                    <a:lnTo>
                      <a:pt x="4414520" y="2438400"/>
                    </a:lnTo>
                    <a:lnTo>
                      <a:pt x="4414520" y="2463800"/>
                    </a:lnTo>
                    <a:lnTo>
                      <a:pt x="4389120" y="2463800"/>
                    </a:lnTo>
                    <a:lnTo>
                      <a:pt x="4389120" y="25400"/>
                    </a:lnTo>
                    <a:lnTo>
                      <a:pt x="4414520" y="25400"/>
                    </a:lnTo>
                    <a:lnTo>
                      <a:pt x="441452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41F5A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33871" y="338671"/>
              <a:ext cx="4389120" cy="2679700"/>
              <a:chOff x="0" y="0"/>
              <a:chExt cx="4389120" cy="26797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389120" cy="2679700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267970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679700"/>
                    </a:lnTo>
                    <a:lnTo>
                      <a:pt x="0" y="26797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1279" r="-21279" b="9004"/>
                </a:stretch>
              </a:blip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66675"/>
                <a:ext cx="4389120" cy="27463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Next.js 16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App Router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129111" y="313271"/>
              <a:ext cx="4927600" cy="2489200"/>
              <a:chOff x="0" y="0"/>
              <a:chExt cx="4927600" cy="2489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5400" y="25400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19" name="Freeform 19"/>
              <p:cNvSpPr/>
              <p:nvPr/>
            </p:nvSpPr>
            <p:spPr>
              <a:xfrm>
                <a:off x="0" y="0"/>
                <a:ext cx="492760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4927600" h="2489200">
                    <a:moveTo>
                      <a:pt x="25400" y="0"/>
                    </a:moveTo>
                    <a:lnTo>
                      <a:pt x="4902200" y="0"/>
                    </a:lnTo>
                    <a:cubicBezTo>
                      <a:pt x="4916170" y="0"/>
                      <a:pt x="4927600" y="11430"/>
                      <a:pt x="4927600" y="25400"/>
                    </a:cubicBezTo>
                    <a:lnTo>
                      <a:pt x="4927600" y="2463800"/>
                    </a:lnTo>
                    <a:cubicBezTo>
                      <a:pt x="4927600" y="2477770"/>
                      <a:pt x="4916170" y="2489200"/>
                      <a:pt x="4902200" y="2489200"/>
                    </a:cubicBezTo>
                    <a:lnTo>
                      <a:pt x="25400" y="2489200"/>
                    </a:lnTo>
                    <a:cubicBezTo>
                      <a:pt x="11430" y="2489200"/>
                      <a:pt x="0" y="2477770"/>
                      <a:pt x="0" y="24638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463800"/>
                    </a:lnTo>
                    <a:lnTo>
                      <a:pt x="25400" y="2463800"/>
                    </a:lnTo>
                    <a:lnTo>
                      <a:pt x="25400" y="2438400"/>
                    </a:lnTo>
                    <a:lnTo>
                      <a:pt x="4902200" y="2438400"/>
                    </a:lnTo>
                    <a:lnTo>
                      <a:pt x="4902200" y="2463800"/>
                    </a:lnTo>
                    <a:lnTo>
                      <a:pt x="4876800" y="2463800"/>
                    </a:lnTo>
                    <a:lnTo>
                      <a:pt x="4876800" y="25400"/>
                    </a:lnTo>
                    <a:lnTo>
                      <a:pt x="4902200" y="25400"/>
                    </a:lnTo>
                    <a:lnTo>
                      <a:pt x="490220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5154511" y="0"/>
              <a:ext cx="4876800" cy="3048000"/>
              <a:chOff x="0" y="0"/>
              <a:chExt cx="4876800" cy="3048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8768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30480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 b="20000"/>
                </a:stretch>
              </a:blip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57150"/>
                <a:ext cx="4876800" cy="31051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Route Groups</a:t>
                </a:r>
              </a:p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Auth | Dashboard</a:t>
                </a:r>
              </a:p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Onboarding | Admin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0737431" y="313271"/>
              <a:ext cx="4927600" cy="2489200"/>
              <a:chOff x="0" y="0"/>
              <a:chExt cx="4927600" cy="2489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5400" y="25400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25" name="Freeform 25"/>
              <p:cNvSpPr/>
              <p:nvPr/>
            </p:nvSpPr>
            <p:spPr>
              <a:xfrm>
                <a:off x="0" y="0"/>
                <a:ext cx="492760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4927600" h="2489200">
                    <a:moveTo>
                      <a:pt x="25400" y="0"/>
                    </a:moveTo>
                    <a:lnTo>
                      <a:pt x="4902200" y="0"/>
                    </a:lnTo>
                    <a:cubicBezTo>
                      <a:pt x="4916170" y="0"/>
                      <a:pt x="4927600" y="11430"/>
                      <a:pt x="4927600" y="25400"/>
                    </a:cubicBezTo>
                    <a:lnTo>
                      <a:pt x="4927600" y="2463800"/>
                    </a:lnTo>
                    <a:cubicBezTo>
                      <a:pt x="4927600" y="2477770"/>
                      <a:pt x="4916170" y="2489200"/>
                      <a:pt x="4902200" y="2489200"/>
                    </a:cubicBezTo>
                    <a:lnTo>
                      <a:pt x="25400" y="2489200"/>
                    </a:lnTo>
                    <a:cubicBezTo>
                      <a:pt x="11430" y="2489200"/>
                      <a:pt x="0" y="2477770"/>
                      <a:pt x="0" y="24638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463800"/>
                    </a:lnTo>
                    <a:lnTo>
                      <a:pt x="25400" y="2463800"/>
                    </a:lnTo>
                    <a:lnTo>
                      <a:pt x="25400" y="2438400"/>
                    </a:lnTo>
                    <a:lnTo>
                      <a:pt x="4902200" y="2438400"/>
                    </a:lnTo>
                    <a:lnTo>
                      <a:pt x="4902200" y="2463800"/>
                    </a:lnTo>
                    <a:lnTo>
                      <a:pt x="4876800" y="2463800"/>
                    </a:lnTo>
                    <a:lnTo>
                      <a:pt x="4876800" y="25400"/>
                    </a:lnTo>
                    <a:lnTo>
                      <a:pt x="4902200" y="25400"/>
                    </a:lnTo>
                    <a:lnTo>
                      <a:pt x="490220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10762831" y="338671"/>
              <a:ext cx="4876800" cy="2463800"/>
              <a:chOff x="0" y="0"/>
              <a:chExt cx="4876800" cy="2463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876800" cy="24638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63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63800"/>
                    </a:lnTo>
                    <a:lnTo>
                      <a:pt x="0" y="2463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 b="1030"/>
                </a:stretch>
              </a:blip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4876800" cy="25209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Server Actions</a:t>
                </a:r>
              </a:p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Typed API calls</a:t>
                </a:r>
              </a:p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Permission checks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3871" y="4442127"/>
              <a:ext cx="4439920" cy="2573020"/>
              <a:chOff x="0" y="0"/>
              <a:chExt cx="4439920" cy="257302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5400" y="26255"/>
                <a:ext cx="4389120" cy="2520509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2520509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520510"/>
                    </a:lnTo>
                    <a:lnTo>
                      <a:pt x="0" y="252051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31" name="Freeform 31"/>
              <p:cNvSpPr/>
              <p:nvPr/>
            </p:nvSpPr>
            <p:spPr>
              <a:xfrm>
                <a:off x="0" y="0"/>
                <a:ext cx="4439920" cy="2573020"/>
              </a:xfrm>
              <a:custGeom>
                <a:avLst/>
                <a:gdLst/>
                <a:ahLst/>
                <a:cxnLst/>
                <a:rect l="l" t="t" r="r" b="b"/>
                <a:pathLst>
                  <a:path w="4439920" h="2573020">
                    <a:moveTo>
                      <a:pt x="25400" y="0"/>
                    </a:moveTo>
                    <a:lnTo>
                      <a:pt x="4414520" y="0"/>
                    </a:lnTo>
                    <a:cubicBezTo>
                      <a:pt x="4428490" y="0"/>
                      <a:pt x="4439920" y="11815"/>
                      <a:pt x="4439920" y="26255"/>
                    </a:cubicBezTo>
                    <a:lnTo>
                      <a:pt x="4439920" y="2546765"/>
                    </a:lnTo>
                    <a:cubicBezTo>
                      <a:pt x="4439920" y="2561205"/>
                      <a:pt x="4428490" y="2573020"/>
                      <a:pt x="4414520" y="2573020"/>
                    </a:cubicBezTo>
                    <a:lnTo>
                      <a:pt x="25400" y="2573020"/>
                    </a:lnTo>
                    <a:cubicBezTo>
                      <a:pt x="11430" y="2573020"/>
                      <a:pt x="0" y="2561205"/>
                      <a:pt x="0" y="2546765"/>
                    </a:cubicBezTo>
                    <a:lnTo>
                      <a:pt x="0" y="26255"/>
                    </a:lnTo>
                    <a:cubicBezTo>
                      <a:pt x="0" y="11815"/>
                      <a:pt x="11430" y="0"/>
                      <a:pt x="25400" y="0"/>
                    </a:cubicBezTo>
                    <a:moveTo>
                      <a:pt x="25400" y="52511"/>
                    </a:moveTo>
                    <a:lnTo>
                      <a:pt x="25400" y="26255"/>
                    </a:lnTo>
                    <a:lnTo>
                      <a:pt x="50800" y="26255"/>
                    </a:lnTo>
                    <a:lnTo>
                      <a:pt x="50800" y="2546765"/>
                    </a:lnTo>
                    <a:lnTo>
                      <a:pt x="25400" y="2546765"/>
                    </a:lnTo>
                    <a:lnTo>
                      <a:pt x="25400" y="2520509"/>
                    </a:lnTo>
                    <a:lnTo>
                      <a:pt x="4414520" y="2520509"/>
                    </a:lnTo>
                    <a:lnTo>
                      <a:pt x="4414520" y="2546765"/>
                    </a:lnTo>
                    <a:lnTo>
                      <a:pt x="4389120" y="2546765"/>
                    </a:lnTo>
                    <a:lnTo>
                      <a:pt x="4389120" y="26255"/>
                    </a:lnTo>
                    <a:lnTo>
                      <a:pt x="4414520" y="26255"/>
                    </a:lnTo>
                    <a:lnTo>
                      <a:pt x="4414520" y="52511"/>
                    </a:lnTo>
                    <a:lnTo>
                      <a:pt x="25400" y="525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0" y="4576747"/>
              <a:ext cx="4389120" cy="2438400"/>
              <a:chOff x="0" y="0"/>
              <a:chExt cx="4389120" cy="24384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38912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243840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1279" r="-21279"/>
                </a:stretch>
              </a:blip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66675"/>
                <a:ext cx="4389120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UI Layer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45 shadcn/ui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Tailwind CSS 4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188369" y="4442127"/>
              <a:ext cx="4927600" cy="2605535"/>
              <a:chOff x="0" y="0"/>
              <a:chExt cx="4927600" cy="260553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25400" y="26587"/>
                <a:ext cx="4876800" cy="2552361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552361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552361"/>
                    </a:lnTo>
                    <a:lnTo>
                      <a:pt x="0" y="2552361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37" name="Freeform 37"/>
              <p:cNvSpPr/>
              <p:nvPr/>
            </p:nvSpPr>
            <p:spPr>
              <a:xfrm>
                <a:off x="0" y="0"/>
                <a:ext cx="4927600" cy="2605535"/>
              </a:xfrm>
              <a:custGeom>
                <a:avLst/>
                <a:gdLst/>
                <a:ahLst/>
                <a:cxnLst/>
                <a:rect l="l" t="t" r="r" b="b"/>
                <a:pathLst>
                  <a:path w="4927600" h="2605535">
                    <a:moveTo>
                      <a:pt x="25400" y="0"/>
                    </a:moveTo>
                    <a:lnTo>
                      <a:pt x="4902200" y="0"/>
                    </a:lnTo>
                    <a:cubicBezTo>
                      <a:pt x="4916170" y="0"/>
                      <a:pt x="4927600" y="11964"/>
                      <a:pt x="4927600" y="26587"/>
                    </a:cubicBezTo>
                    <a:lnTo>
                      <a:pt x="4927600" y="2578948"/>
                    </a:lnTo>
                    <a:cubicBezTo>
                      <a:pt x="4927600" y="2593571"/>
                      <a:pt x="4916170" y="2605535"/>
                      <a:pt x="4902200" y="2605535"/>
                    </a:cubicBezTo>
                    <a:lnTo>
                      <a:pt x="25400" y="2605535"/>
                    </a:lnTo>
                    <a:cubicBezTo>
                      <a:pt x="11430" y="2605535"/>
                      <a:pt x="0" y="2593571"/>
                      <a:pt x="0" y="2578948"/>
                    </a:cubicBezTo>
                    <a:lnTo>
                      <a:pt x="0" y="26587"/>
                    </a:lnTo>
                    <a:cubicBezTo>
                      <a:pt x="0" y="11964"/>
                      <a:pt x="11430" y="0"/>
                      <a:pt x="25400" y="0"/>
                    </a:cubicBezTo>
                    <a:moveTo>
                      <a:pt x="25400" y="53174"/>
                    </a:moveTo>
                    <a:lnTo>
                      <a:pt x="25400" y="26587"/>
                    </a:lnTo>
                    <a:lnTo>
                      <a:pt x="50800" y="26587"/>
                    </a:lnTo>
                    <a:lnTo>
                      <a:pt x="50800" y="2578948"/>
                    </a:lnTo>
                    <a:lnTo>
                      <a:pt x="25400" y="2578948"/>
                    </a:lnTo>
                    <a:lnTo>
                      <a:pt x="25400" y="2552361"/>
                    </a:lnTo>
                    <a:lnTo>
                      <a:pt x="4902200" y="2552361"/>
                    </a:lnTo>
                    <a:lnTo>
                      <a:pt x="4902200" y="2578948"/>
                    </a:lnTo>
                    <a:lnTo>
                      <a:pt x="4876800" y="2578948"/>
                    </a:lnTo>
                    <a:lnTo>
                      <a:pt x="4876800" y="26587"/>
                    </a:lnTo>
                    <a:lnTo>
                      <a:pt x="4902200" y="26587"/>
                    </a:lnTo>
                    <a:lnTo>
                      <a:pt x="4902200" y="53174"/>
                    </a:lnTo>
                    <a:lnTo>
                      <a:pt x="25400" y="5317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5239169" y="4509437"/>
              <a:ext cx="4876800" cy="2438400"/>
              <a:chOff x="0" y="0"/>
              <a:chExt cx="4876800" cy="24384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i18n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English + Bangla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Locale routing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0737431" y="4364571"/>
              <a:ext cx="4927600" cy="2601436"/>
              <a:chOff x="0" y="0"/>
              <a:chExt cx="4927600" cy="260143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5400" y="26545"/>
                <a:ext cx="4876800" cy="2548346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548346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548346"/>
                    </a:lnTo>
                    <a:lnTo>
                      <a:pt x="0" y="2548346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43" name="Freeform 43"/>
              <p:cNvSpPr/>
              <p:nvPr/>
            </p:nvSpPr>
            <p:spPr>
              <a:xfrm>
                <a:off x="0" y="0"/>
                <a:ext cx="4927600" cy="2601436"/>
              </a:xfrm>
              <a:custGeom>
                <a:avLst/>
                <a:gdLst/>
                <a:ahLst/>
                <a:cxnLst/>
                <a:rect l="l" t="t" r="r" b="b"/>
                <a:pathLst>
                  <a:path w="4927600" h="2601436">
                    <a:moveTo>
                      <a:pt x="25400" y="0"/>
                    </a:moveTo>
                    <a:lnTo>
                      <a:pt x="4902200" y="0"/>
                    </a:lnTo>
                    <a:cubicBezTo>
                      <a:pt x="4916170" y="0"/>
                      <a:pt x="4927600" y="11945"/>
                      <a:pt x="4927600" y="26545"/>
                    </a:cubicBezTo>
                    <a:lnTo>
                      <a:pt x="4927600" y="2574891"/>
                    </a:lnTo>
                    <a:cubicBezTo>
                      <a:pt x="4927600" y="2589491"/>
                      <a:pt x="4916170" y="2601436"/>
                      <a:pt x="4902200" y="2601436"/>
                    </a:cubicBezTo>
                    <a:lnTo>
                      <a:pt x="25400" y="2601436"/>
                    </a:lnTo>
                    <a:cubicBezTo>
                      <a:pt x="11430" y="2601436"/>
                      <a:pt x="0" y="2589491"/>
                      <a:pt x="0" y="2574891"/>
                    </a:cubicBezTo>
                    <a:lnTo>
                      <a:pt x="0" y="26545"/>
                    </a:lnTo>
                    <a:cubicBezTo>
                      <a:pt x="0" y="11945"/>
                      <a:pt x="11430" y="0"/>
                      <a:pt x="25400" y="0"/>
                    </a:cubicBezTo>
                    <a:moveTo>
                      <a:pt x="25400" y="53091"/>
                    </a:moveTo>
                    <a:lnTo>
                      <a:pt x="25400" y="26545"/>
                    </a:lnTo>
                    <a:lnTo>
                      <a:pt x="50800" y="26545"/>
                    </a:lnTo>
                    <a:lnTo>
                      <a:pt x="50800" y="2574891"/>
                    </a:lnTo>
                    <a:lnTo>
                      <a:pt x="25400" y="2574891"/>
                    </a:lnTo>
                    <a:lnTo>
                      <a:pt x="25400" y="2548346"/>
                    </a:lnTo>
                    <a:lnTo>
                      <a:pt x="4902200" y="2548346"/>
                    </a:lnTo>
                    <a:lnTo>
                      <a:pt x="4902200" y="2574891"/>
                    </a:lnTo>
                    <a:lnTo>
                      <a:pt x="4876800" y="2574891"/>
                    </a:lnTo>
                    <a:lnTo>
                      <a:pt x="4876800" y="26545"/>
                    </a:lnTo>
                    <a:lnTo>
                      <a:pt x="4902200" y="26545"/>
                    </a:lnTo>
                    <a:lnTo>
                      <a:pt x="4902200" y="53091"/>
                    </a:lnTo>
                    <a:lnTo>
                      <a:pt x="25400" y="5309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10728960" y="4576747"/>
              <a:ext cx="4876800" cy="2438400"/>
              <a:chOff x="0" y="0"/>
              <a:chExt cx="4876800" cy="24384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876800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24384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/>
                </a:stretch>
              </a:blip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State Flow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RSC + client state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Realtime slot hooks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6833431" y="313271"/>
              <a:ext cx="5659120" cy="6146800"/>
              <a:chOff x="0" y="0"/>
              <a:chExt cx="5659120" cy="6146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25400" y="25400"/>
                <a:ext cx="560832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5608320" h="6096000">
                    <a:moveTo>
                      <a:pt x="0" y="0"/>
                    </a:moveTo>
                    <a:lnTo>
                      <a:pt x="5608320" y="0"/>
                    </a:lnTo>
                    <a:lnTo>
                      <a:pt x="560832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FEF3C7"/>
              </a:solidFill>
            </p:spPr>
          </p:sp>
          <p:sp>
            <p:nvSpPr>
              <p:cNvPr id="49" name="Freeform 49"/>
              <p:cNvSpPr/>
              <p:nvPr/>
            </p:nvSpPr>
            <p:spPr>
              <a:xfrm>
                <a:off x="0" y="0"/>
                <a:ext cx="5659120" cy="6146800"/>
              </a:xfrm>
              <a:custGeom>
                <a:avLst/>
                <a:gdLst/>
                <a:ahLst/>
                <a:cxnLst/>
                <a:rect l="l" t="t" r="r" b="b"/>
                <a:pathLst>
                  <a:path w="5659120" h="6146800">
                    <a:moveTo>
                      <a:pt x="25400" y="0"/>
                    </a:moveTo>
                    <a:lnTo>
                      <a:pt x="5633720" y="0"/>
                    </a:lnTo>
                    <a:cubicBezTo>
                      <a:pt x="5647690" y="0"/>
                      <a:pt x="5659120" y="11430"/>
                      <a:pt x="5659120" y="25400"/>
                    </a:cubicBezTo>
                    <a:lnTo>
                      <a:pt x="5659120" y="6121400"/>
                    </a:lnTo>
                    <a:cubicBezTo>
                      <a:pt x="5659120" y="6135370"/>
                      <a:pt x="5647690" y="6146800"/>
                      <a:pt x="5633720" y="6146800"/>
                    </a:cubicBezTo>
                    <a:lnTo>
                      <a:pt x="25400" y="6146800"/>
                    </a:lnTo>
                    <a:cubicBezTo>
                      <a:pt x="11430" y="6146800"/>
                      <a:pt x="0" y="6135370"/>
                      <a:pt x="0" y="61214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6121400"/>
                    </a:lnTo>
                    <a:lnTo>
                      <a:pt x="25400" y="6121400"/>
                    </a:lnTo>
                    <a:lnTo>
                      <a:pt x="25400" y="6096000"/>
                    </a:lnTo>
                    <a:lnTo>
                      <a:pt x="5633720" y="6096000"/>
                    </a:lnTo>
                    <a:lnTo>
                      <a:pt x="5633720" y="6121400"/>
                    </a:lnTo>
                    <a:lnTo>
                      <a:pt x="5608320" y="6121400"/>
                    </a:lnTo>
                    <a:lnTo>
                      <a:pt x="5608320" y="25400"/>
                    </a:lnTo>
                    <a:lnTo>
                      <a:pt x="5633720" y="25400"/>
                    </a:lnTo>
                    <a:lnTo>
                      <a:pt x="563372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50" name="Group 50"/>
            <p:cNvGrpSpPr/>
            <p:nvPr/>
          </p:nvGrpSpPr>
          <p:grpSpPr>
            <a:xfrm>
              <a:off x="16858831" y="364071"/>
              <a:ext cx="5608320" cy="6096000"/>
              <a:chOff x="0" y="0"/>
              <a:chExt cx="5608320" cy="60960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560832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5608320" h="6096000">
                    <a:moveTo>
                      <a:pt x="0" y="0"/>
                    </a:moveTo>
                    <a:lnTo>
                      <a:pt x="5608320" y="0"/>
                    </a:lnTo>
                    <a:lnTo>
                      <a:pt x="560832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9460" r="-89460"/>
                </a:stretch>
              </a:blip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66675"/>
                <a:ext cx="5608320" cy="61626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PWA Layer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Serwist caching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Background sync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Push notifications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4389120" y="1524000"/>
              <a:ext cx="799249" cy="67729"/>
              <a:chOff x="0" y="0"/>
              <a:chExt cx="799249" cy="67729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33909" y="0"/>
                <a:ext cx="731520" cy="67691"/>
              </a:xfrm>
              <a:custGeom>
                <a:avLst/>
                <a:gdLst/>
                <a:ahLst/>
                <a:cxnLst/>
                <a:rect l="l" t="t" r="r" b="b"/>
                <a:pathLst>
                  <a:path w="731520" h="67691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691"/>
                    </a:lnTo>
                    <a:lnTo>
                      <a:pt x="0" y="67691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9997440" y="1524000"/>
              <a:ext cx="799249" cy="67729"/>
              <a:chOff x="0" y="0"/>
              <a:chExt cx="799249" cy="67729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33909" y="0"/>
                <a:ext cx="731520" cy="67691"/>
              </a:xfrm>
              <a:custGeom>
                <a:avLst/>
                <a:gdLst/>
                <a:ahLst/>
                <a:cxnLst/>
                <a:rect l="l" t="t" r="r" b="b"/>
                <a:pathLst>
                  <a:path w="731520" h="67691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691"/>
                    </a:lnTo>
                    <a:lnTo>
                      <a:pt x="0" y="67691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15605760" y="1524000"/>
              <a:ext cx="1286929" cy="677329"/>
              <a:chOff x="0" y="0"/>
              <a:chExt cx="1286929" cy="677329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18669" y="3556"/>
                <a:ext cx="1249553" cy="670179"/>
              </a:xfrm>
              <a:custGeom>
                <a:avLst/>
                <a:gdLst/>
                <a:ahLst/>
                <a:cxnLst/>
                <a:rect l="l" t="t" r="r" b="b"/>
                <a:pathLst>
                  <a:path w="1249553" h="670179">
                    <a:moveTo>
                      <a:pt x="30353" y="0"/>
                    </a:moveTo>
                    <a:lnTo>
                      <a:pt x="1249553" y="609600"/>
                    </a:lnTo>
                    <a:lnTo>
                      <a:pt x="1219200" y="670179"/>
                    </a:lnTo>
                    <a:lnTo>
                      <a:pt x="0" y="60579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4389120" y="5181600"/>
              <a:ext cx="799249" cy="67729"/>
              <a:chOff x="0" y="0"/>
              <a:chExt cx="799249" cy="67729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33909" y="0"/>
                <a:ext cx="731520" cy="67691"/>
              </a:xfrm>
              <a:custGeom>
                <a:avLst/>
                <a:gdLst/>
                <a:ahLst/>
                <a:cxnLst/>
                <a:rect l="l" t="t" r="r" b="b"/>
                <a:pathLst>
                  <a:path w="731520" h="67691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691"/>
                    </a:lnTo>
                    <a:lnTo>
                      <a:pt x="0" y="67691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9997440" y="5181600"/>
              <a:ext cx="799249" cy="67729"/>
              <a:chOff x="0" y="0"/>
              <a:chExt cx="799249" cy="67729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33909" y="0"/>
                <a:ext cx="731520" cy="67691"/>
              </a:xfrm>
              <a:custGeom>
                <a:avLst/>
                <a:gdLst/>
                <a:ahLst/>
                <a:cxnLst/>
                <a:rect l="l" t="t" r="r" b="b"/>
                <a:pathLst>
                  <a:path w="731520" h="67691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691"/>
                    </a:lnTo>
                    <a:lnTo>
                      <a:pt x="0" y="67691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63" name="Group 63"/>
            <p:cNvGrpSpPr/>
            <p:nvPr/>
          </p:nvGrpSpPr>
          <p:grpSpPr>
            <a:xfrm rot="-2626385">
              <a:off x="15605760" y="4767586"/>
              <a:ext cx="1286929" cy="677329"/>
              <a:chOff x="0" y="0"/>
              <a:chExt cx="1286929" cy="677329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18669" y="3556"/>
                <a:ext cx="1249553" cy="670179"/>
              </a:xfrm>
              <a:custGeom>
                <a:avLst/>
                <a:gdLst/>
                <a:ahLst/>
                <a:cxnLst/>
                <a:rect l="l" t="t" r="r" b="b"/>
                <a:pathLst>
                  <a:path w="1249553" h="670179">
                    <a:moveTo>
                      <a:pt x="30353" y="0"/>
                    </a:moveTo>
                    <a:lnTo>
                      <a:pt x="1249553" y="609600"/>
                    </a:lnTo>
                    <a:lnTo>
                      <a:pt x="1219200" y="670179"/>
                    </a:lnTo>
                    <a:lnTo>
                      <a:pt x="0" y="60579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</p:grpSp>
      <p:sp>
        <p:nvSpPr>
          <p:cNvPr id="65" name="Freeform 65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6" name="Group 66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73" name="Group 73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76" name="AutoShape 76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1" name="AutoShape 81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" name="AutoShape 82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3" name="AutoShape 83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14" name="AutoShape 114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id="125" name="TextBox 66">
            <a:extLst>
              <a:ext uri="{FF2B5EF4-FFF2-40B4-BE49-F238E27FC236}">
                <a16:creationId xmlns:a16="http://schemas.microsoft.com/office/drawing/2014/main" id="{FA331CCA-E1A1-10E5-6FC7-E50E6B0F395F}"/>
              </a:ext>
            </a:extLst>
          </p:cNvPr>
          <p:cNvSpPr txBox="1"/>
          <p:nvPr/>
        </p:nvSpPr>
        <p:spPr>
          <a:xfrm>
            <a:off x="1076320" y="8488209"/>
            <a:ext cx="16459200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5.2: Frontend architecture with clean boundaries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48640" y="7040880"/>
            <a:ext cx="16459200" cy="720403"/>
            <a:chOff x="0" y="0"/>
            <a:chExt cx="21945600" cy="9605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960537"/>
            </a:xfrm>
            <a:custGeom>
              <a:avLst/>
              <a:gdLst/>
              <a:ahLst/>
              <a:cxnLst/>
              <a:rect l="l" t="t" r="r" b="b"/>
              <a:pathLst>
                <a:path w="21945600" h="960537">
                  <a:moveTo>
                    <a:pt x="0" y="0"/>
                  </a:moveTo>
                  <a:lnTo>
                    <a:pt x="21945600" y="0"/>
                  </a:lnTo>
                  <a:lnTo>
                    <a:pt x="21945600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0753" b="-38960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1945600" cy="1027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Route Families (5 layers)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5943" y="7759703"/>
            <a:ext cx="3134363" cy="1488443"/>
            <a:chOff x="0" y="0"/>
            <a:chExt cx="4179151" cy="1984591"/>
          </a:xfrm>
        </p:grpSpPr>
        <p:sp>
          <p:nvSpPr>
            <p:cNvPr id="11" name="Freeform 11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48640" y="7772400"/>
            <a:ext cx="3108960" cy="1463040"/>
            <a:chOff x="0" y="0"/>
            <a:chExt cx="4145280" cy="19507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Identity &amp;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57600" y="7772400"/>
            <a:ext cx="365760" cy="1463040"/>
            <a:chOff x="0" y="0"/>
            <a:chExt cx="487680" cy="19507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7680" cy="1950720"/>
            </a:xfrm>
            <a:custGeom>
              <a:avLst/>
              <a:gdLst/>
              <a:ahLst/>
              <a:cxnLst/>
              <a:rect l="l" t="t" r="r" b="b"/>
              <a:pathLst>
                <a:path w="487680" h="1950720">
                  <a:moveTo>
                    <a:pt x="0" y="0"/>
                  </a:moveTo>
                  <a:lnTo>
                    <a:pt x="487680" y="0"/>
                  </a:lnTo>
                  <a:lnTo>
                    <a:pt x="487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14" r="-46321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4876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010663" y="7759703"/>
            <a:ext cx="3134363" cy="1488443"/>
            <a:chOff x="0" y="0"/>
            <a:chExt cx="4179151" cy="1984591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036066" y="7772400"/>
            <a:ext cx="3108960" cy="1463040"/>
            <a:chOff x="0" y="0"/>
            <a:chExt cx="4145280" cy="19507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Discovery &amp;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Scheduling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32320" y="7772400"/>
            <a:ext cx="365760" cy="1463040"/>
            <a:chOff x="0" y="0"/>
            <a:chExt cx="487680" cy="1950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7680" cy="1950720"/>
            </a:xfrm>
            <a:custGeom>
              <a:avLst/>
              <a:gdLst/>
              <a:ahLst/>
              <a:cxnLst/>
              <a:rect l="l" t="t" r="r" b="b"/>
              <a:pathLst>
                <a:path w="487680" h="1950720">
                  <a:moveTo>
                    <a:pt x="0" y="0"/>
                  </a:moveTo>
                  <a:lnTo>
                    <a:pt x="487680" y="0"/>
                  </a:lnTo>
                  <a:lnTo>
                    <a:pt x="487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14" r="-46321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4876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85383" y="7759703"/>
            <a:ext cx="3134363" cy="1488443"/>
            <a:chOff x="0" y="0"/>
            <a:chExt cx="4179151" cy="198459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508243" y="7795260"/>
            <a:ext cx="3108960" cy="1463040"/>
            <a:chOff x="0" y="0"/>
            <a:chExt cx="4145280" cy="19507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Care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607040" y="7772400"/>
            <a:ext cx="365760" cy="1463040"/>
            <a:chOff x="0" y="0"/>
            <a:chExt cx="487680" cy="19507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87680" cy="1950720"/>
            </a:xfrm>
            <a:custGeom>
              <a:avLst/>
              <a:gdLst/>
              <a:ahLst/>
              <a:cxnLst/>
              <a:rect l="l" t="t" r="r" b="b"/>
              <a:pathLst>
                <a:path w="487680" h="1950720">
                  <a:moveTo>
                    <a:pt x="0" y="0"/>
                  </a:moveTo>
                  <a:lnTo>
                    <a:pt x="487680" y="0"/>
                  </a:lnTo>
                  <a:lnTo>
                    <a:pt x="487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14" r="-46321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4876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960103" y="7759703"/>
            <a:ext cx="3134363" cy="1488443"/>
            <a:chOff x="0" y="0"/>
            <a:chExt cx="4179151" cy="1984591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0960103" y="7795260"/>
            <a:ext cx="3108960" cy="1463040"/>
            <a:chOff x="0" y="0"/>
            <a:chExt cx="4145280" cy="19507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Longitudinal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081760" y="7772400"/>
            <a:ext cx="365760" cy="1463040"/>
            <a:chOff x="0" y="0"/>
            <a:chExt cx="487680" cy="19507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87680" cy="1950720"/>
            </a:xfrm>
            <a:custGeom>
              <a:avLst/>
              <a:gdLst/>
              <a:ahLst/>
              <a:cxnLst/>
              <a:rect l="l" t="t" r="r" b="b"/>
              <a:pathLst>
                <a:path w="487680" h="1950720">
                  <a:moveTo>
                    <a:pt x="0" y="0"/>
                  </a:moveTo>
                  <a:lnTo>
                    <a:pt x="487680" y="0"/>
                  </a:lnTo>
                  <a:lnTo>
                    <a:pt x="487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14" r="-46321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4876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434823" y="7759703"/>
            <a:ext cx="3134363" cy="1488443"/>
            <a:chOff x="0" y="0"/>
            <a:chExt cx="4179151" cy="1984591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0"/>
              <a:ext cx="4179062" cy="1984502"/>
            </a:xfrm>
            <a:custGeom>
              <a:avLst/>
              <a:gdLst/>
              <a:ahLst/>
              <a:cxnLst/>
              <a:rect l="l" t="t" r="r" b="b"/>
              <a:pathLst>
                <a:path w="4179062" h="198450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4437366" y="7759703"/>
            <a:ext cx="3108960" cy="1463040"/>
            <a:chOff x="0" y="0"/>
            <a:chExt cx="4145280" cy="19507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Governance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3" name="Group 53"/>
          <p:cNvGrpSpPr/>
          <p:nvPr/>
        </p:nvGrpSpPr>
        <p:grpSpPr>
          <a:xfrm>
            <a:off x="927819" y="1695202"/>
            <a:ext cx="16432372" cy="4440496"/>
            <a:chOff x="0" y="0"/>
            <a:chExt cx="21909829" cy="5920661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211039"/>
              <a:ext cx="4196080" cy="2006084"/>
              <a:chOff x="0" y="0"/>
              <a:chExt cx="4196080" cy="2006084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25400" y="22693"/>
                <a:ext cx="4145280" cy="1960697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1960697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56" name="Freeform 56"/>
              <p:cNvSpPr/>
              <p:nvPr/>
            </p:nvSpPr>
            <p:spPr>
              <a:xfrm>
                <a:off x="0" y="0"/>
                <a:ext cx="4196080" cy="2006084"/>
              </a:xfrm>
              <a:custGeom>
                <a:avLst/>
                <a:gdLst/>
                <a:ahLst/>
                <a:cxnLst/>
                <a:rect l="l" t="t" r="r" b="b"/>
                <a:pathLst>
                  <a:path w="4196080" h="2006084">
                    <a:moveTo>
                      <a:pt x="25400" y="0"/>
                    </a:moveTo>
                    <a:lnTo>
                      <a:pt x="4170680" y="0"/>
                    </a:lnTo>
                    <a:cubicBezTo>
                      <a:pt x="4184650" y="0"/>
                      <a:pt x="4196080" y="10212"/>
                      <a:pt x="4196080" y="22693"/>
                    </a:cubicBezTo>
                    <a:lnTo>
                      <a:pt x="4196080" y="1983390"/>
                    </a:lnTo>
                    <a:cubicBezTo>
                      <a:pt x="4196080" y="1995872"/>
                      <a:pt x="4184650" y="2006084"/>
                      <a:pt x="417068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4170680" y="1960697"/>
                    </a:lnTo>
                    <a:lnTo>
                      <a:pt x="4170680" y="1983390"/>
                    </a:lnTo>
                    <a:lnTo>
                      <a:pt x="4145280" y="1983390"/>
                    </a:lnTo>
                    <a:lnTo>
                      <a:pt x="4145280" y="22693"/>
                    </a:lnTo>
                    <a:lnTo>
                      <a:pt x="4170680" y="22693"/>
                    </a:lnTo>
                    <a:lnTo>
                      <a:pt x="417068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50800" y="256425"/>
              <a:ext cx="4145280" cy="1960697"/>
              <a:chOff x="0" y="0"/>
              <a:chExt cx="4145280" cy="196069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4145280" cy="1960697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1960697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7925" r="-17925" b="-11927"/>
                </a:stretch>
              </a:blip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66675"/>
                <a:ext cx="4145280" cy="20273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FastAPI App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main.py assembly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876800" y="211039"/>
              <a:ext cx="4196080" cy="2006084"/>
              <a:chOff x="0" y="0"/>
              <a:chExt cx="4196080" cy="200608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25400" y="22693"/>
                <a:ext cx="4145280" cy="1960697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1960697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62" name="Freeform 62"/>
              <p:cNvSpPr/>
              <p:nvPr/>
            </p:nvSpPr>
            <p:spPr>
              <a:xfrm>
                <a:off x="0" y="0"/>
                <a:ext cx="4196080" cy="2006084"/>
              </a:xfrm>
              <a:custGeom>
                <a:avLst/>
                <a:gdLst/>
                <a:ahLst/>
                <a:cxnLst/>
                <a:rect l="l" t="t" r="r" b="b"/>
                <a:pathLst>
                  <a:path w="4196080" h="2006084">
                    <a:moveTo>
                      <a:pt x="25400" y="0"/>
                    </a:moveTo>
                    <a:lnTo>
                      <a:pt x="4170680" y="0"/>
                    </a:lnTo>
                    <a:cubicBezTo>
                      <a:pt x="4184650" y="0"/>
                      <a:pt x="4196080" y="10212"/>
                      <a:pt x="4196080" y="22693"/>
                    </a:cubicBezTo>
                    <a:lnTo>
                      <a:pt x="4196080" y="1983390"/>
                    </a:lnTo>
                    <a:cubicBezTo>
                      <a:pt x="4196080" y="1995872"/>
                      <a:pt x="4184650" y="2006084"/>
                      <a:pt x="417068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4170680" y="1960697"/>
                    </a:lnTo>
                    <a:lnTo>
                      <a:pt x="4170680" y="1983390"/>
                    </a:lnTo>
                    <a:lnTo>
                      <a:pt x="4145280" y="1983390"/>
                    </a:lnTo>
                    <a:lnTo>
                      <a:pt x="4145280" y="22693"/>
                    </a:lnTo>
                    <a:lnTo>
                      <a:pt x="4170680" y="22693"/>
                    </a:lnTo>
                    <a:lnTo>
                      <a:pt x="417068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4902200" y="256425"/>
              <a:ext cx="4145280" cy="2025997"/>
              <a:chOff x="0" y="0"/>
              <a:chExt cx="4145280" cy="2025997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4145280" cy="2025997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2025997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7925" r="-17925" b="-8319"/>
                </a:stretch>
              </a:blip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0" y="-66675"/>
                <a:ext cx="4145280" cy="20926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Route Layer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26 modules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194 handlers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753600" y="211039"/>
              <a:ext cx="4439920" cy="2006084"/>
              <a:chOff x="0" y="0"/>
              <a:chExt cx="4439920" cy="200608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25400" y="22693"/>
                <a:ext cx="4389120" cy="1960697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1960697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68" name="Freeform 68"/>
              <p:cNvSpPr/>
              <p:nvPr/>
            </p:nvSpPr>
            <p:spPr>
              <a:xfrm>
                <a:off x="0" y="0"/>
                <a:ext cx="4439920" cy="2006084"/>
              </a:xfrm>
              <a:custGeom>
                <a:avLst/>
                <a:gdLst/>
                <a:ahLst/>
                <a:cxnLst/>
                <a:rect l="l" t="t" r="r" b="b"/>
                <a:pathLst>
                  <a:path w="4439920" h="2006084">
                    <a:moveTo>
                      <a:pt x="25400" y="0"/>
                    </a:moveTo>
                    <a:lnTo>
                      <a:pt x="4414520" y="0"/>
                    </a:lnTo>
                    <a:cubicBezTo>
                      <a:pt x="4428490" y="0"/>
                      <a:pt x="4439920" y="10212"/>
                      <a:pt x="4439920" y="22693"/>
                    </a:cubicBezTo>
                    <a:lnTo>
                      <a:pt x="4439920" y="1983390"/>
                    </a:lnTo>
                    <a:cubicBezTo>
                      <a:pt x="4439920" y="1995872"/>
                      <a:pt x="4428490" y="2006084"/>
                      <a:pt x="441452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4414520" y="1960697"/>
                    </a:lnTo>
                    <a:lnTo>
                      <a:pt x="4414520" y="1983390"/>
                    </a:lnTo>
                    <a:lnTo>
                      <a:pt x="4389120" y="1983390"/>
                    </a:lnTo>
                    <a:lnTo>
                      <a:pt x="4389120" y="22693"/>
                    </a:lnTo>
                    <a:lnTo>
                      <a:pt x="4414520" y="22693"/>
                    </a:lnTo>
                    <a:lnTo>
                      <a:pt x="441452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69" name="Group 69"/>
            <p:cNvGrpSpPr/>
            <p:nvPr/>
          </p:nvGrpSpPr>
          <p:grpSpPr>
            <a:xfrm>
              <a:off x="9804400" y="263982"/>
              <a:ext cx="4389120" cy="2025997"/>
              <a:chOff x="0" y="0"/>
              <a:chExt cx="4389120" cy="2025997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4389120" cy="2025997"/>
              </a:xfrm>
              <a:custGeom>
                <a:avLst/>
                <a:gdLst/>
                <a:ahLst/>
                <a:cxnLst/>
                <a:rect l="l" t="t" r="r" b="b"/>
                <a:pathLst>
                  <a:path w="4389120" h="2025997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 b="-8319"/>
                </a:stretch>
              </a:blip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66675"/>
                <a:ext cx="4389120" cy="20926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Core Dependencies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JWT verify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RBAC + context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15170792" y="0"/>
              <a:ext cx="6739037" cy="3310935"/>
              <a:chOff x="0" y="0"/>
              <a:chExt cx="6739037" cy="331093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38553" y="26111"/>
                <a:ext cx="6661931" cy="3258712"/>
              </a:xfrm>
              <a:custGeom>
                <a:avLst/>
                <a:gdLst/>
                <a:ahLst/>
                <a:cxnLst/>
                <a:rect l="l" t="t" r="r" b="b"/>
                <a:pathLst>
                  <a:path w="6661931" h="3258712">
                    <a:moveTo>
                      <a:pt x="0" y="0"/>
                    </a:moveTo>
                    <a:lnTo>
                      <a:pt x="6661931" y="0"/>
                    </a:lnTo>
                    <a:lnTo>
                      <a:pt x="6661931" y="3258712"/>
                    </a:lnTo>
                    <a:lnTo>
                      <a:pt x="0" y="3258712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74" name="Freeform 74"/>
              <p:cNvSpPr/>
              <p:nvPr/>
            </p:nvSpPr>
            <p:spPr>
              <a:xfrm>
                <a:off x="0" y="0"/>
                <a:ext cx="6739037" cy="3310935"/>
              </a:xfrm>
              <a:custGeom>
                <a:avLst/>
                <a:gdLst/>
                <a:ahLst/>
                <a:cxnLst/>
                <a:rect l="l" t="t" r="r" b="b"/>
                <a:pathLst>
                  <a:path w="6739037" h="3310935">
                    <a:moveTo>
                      <a:pt x="38553" y="0"/>
                    </a:moveTo>
                    <a:lnTo>
                      <a:pt x="6700484" y="0"/>
                    </a:lnTo>
                    <a:cubicBezTo>
                      <a:pt x="6721688" y="0"/>
                      <a:pt x="6739037" y="11750"/>
                      <a:pt x="6739037" y="26111"/>
                    </a:cubicBezTo>
                    <a:lnTo>
                      <a:pt x="6739037" y="3284823"/>
                    </a:lnTo>
                    <a:cubicBezTo>
                      <a:pt x="6739037" y="3299185"/>
                      <a:pt x="6721688" y="3310935"/>
                      <a:pt x="6700484" y="3310935"/>
                    </a:cubicBezTo>
                    <a:lnTo>
                      <a:pt x="38553" y="3310935"/>
                    </a:lnTo>
                    <a:cubicBezTo>
                      <a:pt x="17349" y="3310935"/>
                      <a:pt x="0" y="3299185"/>
                      <a:pt x="0" y="3284823"/>
                    </a:cubicBezTo>
                    <a:lnTo>
                      <a:pt x="0" y="26111"/>
                    </a:lnTo>
                    <a:cubicBezTo>
                      <a:pt x="0" y="11750"/>
                      <a:pt x="17349" y="0"/>
                      <a:pt x="38553" y="0"/>
                    </a:cubicBezTo>
                    <a:moveTo>
                      <a:pt x="38553" y="52223"/>
                    </a:moveTo>
                    <a:lnTo>
                      <a:pt x="38553" y="26111"/>
                    </a:lnTo>
                    <a:lnTo>
                      <a:pt x="77106" y="26111"/>
                    </a:lnTo>
                    <a:lnTo>
                      <a:pt x="77106" y="3284823"/>
                    </a:lnTo>
                    <a:lnTo>
                      <a:pt x="38553" y="3284823"/>
                    </a:lnTo>
                    <a:lnTo>
                      <a:pt x="38553" y="3258712"/>
                    </a:lnTo>
                    <a:lnTo>
                      <a:pt x="6700484" y="3258712"/>
                    </a:lnTo>
                    <a:lnTo>
                      <a:pt x="6700484" y="3284823"/>
                    </a:lnTo>
                    <a:lnTo>
                      <a:pt x="6661931" y="3284823"/>
                    </a:lnTo>
                    <a:lnTo>
                      <a:pt x="6661931" y="26111"/>
                    </a:lnTo>
                    <a:lnTo>
                      <a:pt x="6700484" y="26111"/>
                    </a:lnTo>
                    <a:lnTo>
                      <a:pt x="6700484" y="52223"/>
                    </a:lnTo>
                    <a:lnTo>
                      <a:pt x="38553" y="5222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75" name="Group 75"/>
            <p:cNvGrpSpPr/>
            <p:nvPr/>
          </p:nvGrpSpPr>
          <p:grpSpPr>
            <a:xfrm>
              <a:off x="15309758" y="67348"/>
              <a:ext cx="6461106" cy="3245197"/>
              <a:chOff x="0" y="0"/>
              <a:chExt cx="6461106" cy="3245197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6461106" cy="3245197"/>
              </a:xfrm>
              <a:custGeom>
                <a:avLst/>
                <a:gdLst/>
                <a:ahLst/>
                <a:cxnLst/>
                <a:rect l="l" t="t" r="r" b="b"/>
                <a:pathLst>
                  <a:path w="6461106" h="3245197">
                    <a:moveTo>
                      <a:pt x="0" y="0"/>
                    </a:moveTo>
                    <a:lnTo>
                      <a:pt x="6461106" y="0"/>
                    </a:lnTo>
                    <a:lnTo>
                      <a:pt x="6461106" y="3245197"/>
                    </a:lnTo>
                    <a:lnTo>
                      <a:pt x="0" y="32451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8982" r="3086" b="2319"/>
                </a:stretch>
              </a:blip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66675"/>
                <a:ext cx="6461106" cy="33118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Service Layer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Appointments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Reminders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orchestration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Slot management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0" y="3261012"/>
              <a:ext cx="5415280" cy="2006084"/>
              <a:chOff x="0" y="0"/>
              <a:chExt cx="5415280" cy="2006084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25400" y="22693"/>
                <a:ext cx="5364480" cy="1960697"/>
              </a:xfrm>
              <a:custGeom>
                <a:avLst/>
                <a:gdLst/>
                <a:ahLst/>
                <a:cxnLst/>
                <a:rect l="l" t="t" r="r" b="b"/>
                <a:pathLst>
                  <a:path w="5364480" h="1960697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80" name="Freeform 80"/>
              <p:cNvSpPr/>
              <p:nvPr/>
            </p:nvSpPr>
            <p:spPr>
              <a:xfrm>
                <a:off x="0" y="0"/>
                <a:ext cx="5415280" cy="2006084"/>
              </a:xfrm>
              <a:custGeom>
                <a:avLst/>
                <a:gdLst/>
                <a:ahLst/>
                <a:cxnLst/>
                <a:rect l="l" t="t" r="r" b="b"/>
                <a:pathLst>
                  <a:path w="5415280" h="2006084">
                    <a:moveTo>
                      <a:pt x="25400" y="0"/>
                    </a:moveTo>
                    <a:lnTo>
                      <a:pt x="5389880" y="0"/>
                    </a:lnTo>
                    <a:cubicBezTo>
                      <a:pt x="5403850" y="0"/>
                      <a:pt x="5415280" y="10212"/>
                      <a:pt x="5415280" y="22693"/>
                    </a:cubicBezTo>
                    <a:lnTo>
                      <a:pt x="5415280" y="1983390"/>
                    </a:lnTo>
                    <a:cubicBezTo>
                      <a:pt x="5415280" y="1995872"/>
                      <a:pt x="5403850" y="2006084"/>
                      <a:pt x="538988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5389880" y="1960697"/>
                    </a:lnTo>
                    <a:lnTo>
                      <a:pt x="5389880" y="1983390"/>
                    </a:lnTo>
                    <a:lnTo>
                      <a:pt x="5364480" y="1983390"/>
                    </a:lnTo>
                    <a:lnTo>
                      <a:pt x="5364480" y="22693"/>
                    </a:lnTo>
                    <a:lnTo>
                      <a:pt x="5389880" y="22693"/>
                    </a:lnTo>
                    <a:lnTo>
                      <a:pt x="538988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1" name="Group 81"/>
            <p:cNvGrpSpPr/>
            <p:nvPr/>
          </p:nvGrpSpPr>
          <p:grpSpPr>
            <a:xfrm>
              <a:off x="0" y="3310935"/>
              <a:ext cx="5364480" cy="2025997"/>
              <a:chOff x="0" y="0"/>
              <a:chExt cx="5364480" cy="2025997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5364480" cy="2025997"/>
              </a:xfrm>
              <a:custGeom>
                <a:avLst/>
                <a:gdLst/>
                <a:ahLst/>
                <a:cxnLst/>
                <a:rect l="l" t="t" r="r" b="b"/>
                <a:pathLst>
                  <a:path w="5364480" h="2025997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487" r="-2487" b="-8319"/>
                </a:stretch>
              </a:blip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66675"/>
                <a:ext cx="5364480" cy="20926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Persistence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SQLAlchemy 2 async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47 Alembic migrations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6096000" y="3261012"/>
              <a:ext cx="5415280" cy="2006084"/>
              <a:chOff x="0" y="0"/>
              <a:chExt cx="5415280" cy="2006084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25400" y="22693"/>
                <a:ext cx="5364480" cy="1960697"/>
              </a:xfrm>
              <a:custGeom>
                <a:avLst/>
                <a:gdLst/>
                <a:ahLst/>
                <a:cxnLst/>
                <a:rect l="l" t="t" r="r" b="b"/>
                <a:pathLst>
                  <a:path w="5364480" h="1960697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86" name="Freeform 86"/>
              <p:cNvSpPr/>
              <p:nvPr/>
            </p:nvSpPr>
            <p:spPr>
              <a:xfrm>
                <a:off x="0" y="0"/>
                <a:ext cx="5415280" cy="2006084"/>
              </a:xfrm>
              <a:custGeom>
                <a:avLst/>
                <a:gdLst/>
                <a:ahLst/>
                <a:cxnLst/>
                <a:rect l="l" t="t" r="r" b="b"/>
                <a:pathLst>
                  <a:path w="5415280" h="2006084">
                    <a:moveTo>
                      <a:pt x="25400" y="0"/>
                    </a:moveTo>
                    <a:lnTo>
                      <a:pt x="5389880" y="0"/>
                    </a:lnTo>
                    <a:cubicBezTo>
                      <a:pt x="5403850" y="0"/>
                      <a:pt x="5415280" y="10212"/>
                      <a:pt x="5415280" y="22693"/>
                    </a:cubicBezTo>
                    <a:lnTo>
                      <a:pt x="5415280" y="1983390"/>
                    </a:lnTo>
                    <a:cubicBezTo>
                      <a:pt x="5415280" y="1995872"/>
                      <a:pt x="5403850" y="2006084"/>
                      <a:pt x="538988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5389880" y="1960697"/>
                    </a:lnTo>
                    <a:lnTo>
                      <a:pt x="5389880" y="1983390"/>
                    </a:lnTo>
                    <a:lnTo>
                      <a:pt x="5364480" y="1983390"/>
                    </a:lnTo>
                    <a:lnTo>
                      <a:pt x="5364480" y="22693"/>
                    </a:lnTo>
                    <a:lnTo>
                      <a:pt x="5389880" y="22693"/>
                    </a:lnTo>
                    <a:lnTo>
                      <a:pt x="538988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7" name="Group 87"/>
            <p:cNvGrpSpPr/>
            <p:nvPr/>
          </p:nvGrpSpPr>
          <p:grpSpPr>
            <a:xfrm>
              <a:off x="6096000" y="3310935"/>
              <a:ext cx="5364480" cy="2025997"/>
              <a:chOff x="0" y="0"/>
              <a:chExt cx="5364480" cy="2025997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5364480" cy="2025997"/>
              </a:xfrm>
              <a:custGeom>
                <a:avLst/>
                <a:gdLst/>
                <a:ahLst/>
                <a:cxnLst/>
                <a:rect l="l" t="t" r="r" b="b"/>
                <a:pathLst>
                  <a:path w="5364480" h="2025997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487" r="-2487" b="-8319"/>
                </a:stretch>
              </a:blip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0" y="-66675"/>
                <a:ext cx="5364480" cy="20926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Background Workers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Hold-expiry loop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Reminder dispatcher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12192000" y="3914578"/>
              <a:ext cx="6878320" cy="2006084"/>
              <a:chOff x="0" y="0"/>
              <a:chExt cx="6878320" cy="2006084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25400" y="22693"/>
                <a:ext cx="6827520" cy="1960697"/>
              </a:xfrm>
              <a:custGeom>
                <a:avLst/>
                <a:gdLst/>
                <a:ahLst/>
                <a:cxnLst/>
                <a:rect l="l" t="t" r="r" b="b"/>
                <a:pathLst>
                  <a:path w="6827520" h="1960697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92" name="Freeform 92"/>
              <p:cNvSpPr/>
              <p:nvPr/>
            </p:nvSpPr>
            <p:spPr>
              <a:xfrm>
                <a:off x="0" y="0"/>
                <a:ext cx="6878320" cy="2006084"/>
              </a:xfrm>
              <a:custGeom>
                <a:avLst/>
                <a:gdLst/>
                <a:ahLst/>
                <a:cxnLst/>
                <a:rect l="l" t="t" r="r" b="b"/>
                <a:pathLst>
                  <a:path w="6878320" h="2006084">
                    <a:moveTo>
                      <a:pt x="25400" y="0"/>
                    </a:moveTo>
                    <a:lnTo>
                      <a:pt x="6852920" y="0"/>
                    </a:lnTo>
                    <a:cubicBezTo>
                      <a:pt x="6866889" y="0"/>
                      <a:pt x="6878320" y="10212"/>
                      <a:pt x="6878320" y="22693"/>
                    </a:cubicBezTo>
                    <a:lnTo>
                      <a:pt x="6878320" y="1983390"/>
                    </a:lnTo>
                    <a:cubicBezTo>
                      <a:pt x="6878320" y="1995872"/>
                      <a:pt x="6866889" y="2006084"/>
                      <a:pt x="685292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6852920" y="1960697"/>
                    </a:lnTo>
                    <a:lnTo>
                      <a:pt x="6852920" y="1983390"/>
                    </a:lnTo>
                    <a:lnTo>
                      <a:pt x="6827520" y="1983390"/>
                    </a:lnTo>
                    <a:lnTo>
                      <a:pt x="6827520" y="22693"/>
                    </a:lnTo>
                    <a:lnTo>
                      <a:pt x="6852920" y="22693"/>
                    </a:lnTo>
                    <a:lnTo>
                      <a:pt x="685292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93" name="Group 93"/>
            <p:cNvGrpSpPr/>
            <p:nvPr/>
          </p:nvGrpSpPr>
          <p:grpSpPr>
            <a:xfrm>
              <a:off x="12217400" y="3894664"/>
              <a:ext cx="6827520" cy="2025997"/>
              <a:chOff x="0" y="0"/>
              <a:chExt cx="6827520" cy="2025997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6827520" cy="2025997"/>
              </a:xfrm>
              <a:custGeom>
                <a:avLst/>
                <a:gdLst/>
                <a:ahLst/>
                <a:cxnLst/>
                <a:rect l="l" t="t" r="r" b="b"/>
                <a:pathLst>
                  <a:path w="6827520" h="2025997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03" b="-19823"/>
                </a:stretch>
              </a:blip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0" y="-66675"/>
                <a:ext cx="6827520" cy="20926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External Integrations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Supabase | Google Calendar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LLM APIs | VAPID push</a:t>
                </a: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4136809" y="1183750"/>
              <a:ext cx="799249" cy="63500"/>
              <a:chOff x="0" y="0"/>
              <a:chExt cx="799249" cy="635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33909" y="0"/>
                <a:ext cx="731520" cy="63464"/>
              </a:xfrm>
              <a:custGeom>
                <a:avLst/>
                <a:gdLst/>
                <a:ahLst/>
                <a:cxnLst/>
                <a:rect l="l" t="t" r="r" b="b"/>
                <a:pathLst>
                  <a:path w="731520" h="63464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3464"/>
                    </a:lnTo>
                    <a:lnTo>
                      <a:pt x="0" y="63464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98" name="Group 98"/>
            <p:cNvGrpSpPr/>
            <p:nvPr/>
          </p:nvGrpSpPr>
          <p:grpSpPr>
            <a:xfrm>
              <a:off x="9013609" y="1183750"/>
              <a:ext cx="799249" cy="63500"/>
              <a:chOff x="0" y="0"/>
              <a:chExt cx="799249" cy="635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33909" y="0"/>
                <a:ext cx="731520" cy="63464"/>
              </a:xfrm>
              <a:custGeom>
                <a:avLst/>
                <a:gdLst/>
                <a:ahLst/>
                <a:cxnLst/>
                <a:rect l="l" t="t" r="r" b="b"/>
                <a:pathLst>
                  <a:path w="731520" h="63464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3464"/>
                    </a:lnTo>
                    <a:lnTo>
                      <a:pt x="0" y="63464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id="100" name="Group 100"/>
            <p:cNvGrpSpPr/>
            <p:nvPr/>
          </p:nvGrpSpPr>
          <p:grpSpPr>
            <a:xfrm>
              <a:off x="14134249" y="1183750"/>
              <a:ext cx="1043089" cy="63500"/>
              <a:chOff x="0" y="0"/>
              <a:chExt cx="1043089" cy="635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33909" y="0"/>
                <a:ext cx="975360" cy="63464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63464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63464"/>
                    </a:lnTo>
                    <a:lnTo>
                      <a:pt x="0" y="63464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sp>
          <p:nvSpPr>
            <p:cNvPr id="102" name="AutoShape 102"/>
            <p:cNvSpPr/>
            <p:nvPr/>
          </p:nvSpPr>
          <p:spPr>
            <a:xfrm flipV="1">
              <a:off x="11490012" y="2413374"/>
              <a:ext cx="3680781" cy="871207"/>
            </a:xfrm>
            <a:prstGeom prst="line">
              <a:avLst/>
            </a:prstGeom>
            <a:ln w="50800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3" name="AutoShape 103"/>
            <p:cNvSpPr/>
            <p:nvPr/>
          </p:nvSpPr>
          <p:spPr>
            <a:xfrm flipV="1">
              <a:off x="5378217" y="2209724"/>
              <a:ext cx="4382060" cy="1101211"/>
            </a:xfrm>
            <a:prstGeom prst="line">
              <a:avLst/>
            </a:prstGeom>
            <a:ln w="50800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" name="AutoShape 104"/>
            <p:cNvSpPr/>
            <p:nvPr/>
          </p:nvSpPr>
          <p:spPr>
            <a:xfrm flipH="1">
              <a:off x="16229219" y="3310935"/>
              <a:ext cx="1566089" cy="583729"/>
            </a:xfrm>
            <a:prstGeom prst="line">
              <a:avLst/>
            </a:prstGeom>
            <a:ln w="50800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194149" y="9525875"/>
            <a:ext cx="17716831" cy="761125"/>
            <a:chOff x="0" y="0"/>
            <a:chExt cx="23622441" cy="1014833"/>
          </a:xfrm>
        </p:grpSpPr>
        <p:grpSp>
          <p:nvGrpSpPr>
            <p:cNvPr id="106" name="Group 106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09" name="TextBox 109"/>
            <p:cNvSpPr txBox="1"/>
            <p:nvPr/>
          </p:nvSpPr>
          <p:spPr>
            <a:xfrm>
              <a:off x="264028" y="189916"/>
              <a:ext cx="48677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112" name="Group 112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15" name="AutoShape 115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6" name="AutoShape 116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7" name="AutoShape 117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8" name="AutoShape 118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9" name="AutoShape 119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0" name="AutoShape 120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1" name="AutoShape 121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2" name="AutoShape 122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9" name="TextBox 14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53" name="AutoShape 153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id="164" name="TextBox 66">
            <a:extLst>
              <a:ext uri="{FF2B5EF4-FFF2-40B4-BE49-F238E27FC236}">
                <a16:creationId xmlns:a16="http://schemas.microsoft.com/office/drawing/2014/main" id="{F5BD3762-C7EB-6C95-03EE-4671E948CFF1}"/>
              </a:ext>
            </a:extLst>
          </p:cNvPr>
          <p:cNvSpPr txBox="1"/>
          <p:nvPr/>
        </p:nvSpPr>
        <p:spPr>
          <a:xfrm>
            <a:off x="757254" y="6322381"/>
            <a:ext cx="16459200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5.3: Backend architecture with clean boundaries</a:t>
            </a:r>
          </a:p>
        </p:txBody>
      </p:sp>
      <p:sp>
        <p:nvSpPr>
          <p:cNvPr id="165" name="TextBox 66">
            <a:extLst>
              <a:ext uri="{FF2B5EF4-FFF2-40B4-BE49-F238E27FC236}">
                <a16:creationId xmlns:a16="http://schemas.microsoft.com/office/drawing/2014/main" id="{93DF0803-846C-A380-89BC-6D95E8D4E607}"/>
              </a:ext>
            </a:extLst>
          </p:cNvPr>
          <p:cNvSpPr txBox="1"/>
          <p:nvPr/>
        </p:nvSpPr>
        <p:spPr>
          <a:xfrm>
            <a:off x="689066" y="9418038"/>
            <a:ext cx="16459200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5.4: Backend API Route families simplified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703" y="420380"/>
            <a:ext cx="16870680" cy="1450330"/>
            <a:chOff x="0" y="0"/>
            <a:chExt cx="2249424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94239" cy="1933773"/>
            </a:xfrm>
            <a:custGeom>
              <a:avLst/>
              <a:gdLst/>
              <a:ahLst/>
              <a:cxnLst/>
              <a:rect l="l" t="t" r="r" b="b"/>
              <a:pathLst>
                <a:path w="22494239" h="1933773">
                  <a:moveTo>
                    <a:pt x="0" y="0"/>
                  </a:moveTo>
                  <a:lnTo>
                    <a:pt x="22494239" y="0"/>
                  </a:lnTo>
                  <a:lnTo>
                    <a:pt x="22494239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3555" b="-15975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249424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595" y="2527935"/>
            <a:ext cx="8797290" cy="1480947"/>
            <a:chOff x="0" y="0"/>
            <a:chExt cx="11729720" cy="1974596"/>
          </a:xfrm>
        </p:grpSpPr>
        <p:sp>
          <p:nvSpPr>
            <p:cNvPr id="6" name="Freeform 6"/>
            <p:cNvSpPr/>
            <p:nvPr/>
          </p:nvSpPr>
          <p:spPr>
            <a:xfrm>
              <a:off x="12700" y="14683"/>
              <a:ext cx="11704320" cy="1945230"/>
            </a:xfrm>
            <a:custGeom>
              <a:avLst/>
              <a:gdLst/>
              <a:ahLst/>
              <a:cxnLst/>
              <a:rect l="l" t="t" r="r" b="b"/>
              <a:pathLst>
                <a:path w="11704320" h="1945230">
                  <a:moveTo>
                    <a:pt x="0" y="0"/>
                  </a:moveTo>
                  <a:lnTo>
                    <a:pt x="11704320" y="0"/>
                  </a:lnTo>
                  <a:lnTo>
                    <a:pt x="11704320" y="1945230"/>
                  </a:lnTo>
                  <a:lnTo>
                    <a:pt x="0" y="1945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1729720" cy="1974596"/>
            </a:xfrm>
            <a:custGeom>
              <a:avLst/>
              <a:gdLst/>
              <a:ahLst/>
              <a:cxnLst/>
              <a:rect l="l" t="t" r="r" b="b"/>
              <a:pathLst>
                <a:path w="11729720" h="1974596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607"/>
                    <a:pt x="11729720" y="14683"/>
                  </a:cubicBezTo>
                  <a:lnTo>
                    <a:pt x="11729720" y="1959913"/>
                  </a:lnTo>
                  <a:cubicBezTo>
                    <a:pt x="11729720" y="1967989"/>
                    <a:pt x="11724005" y="1974596"/>
                    <a:pt x="11717020" y="1974596"/>
                  </a:cubicBezTo>
                  <a:lnTo>
                    <a:pt x="12700" y="1974596"/>
                  </a:lnTo>
                  <a:cubicBezTo>
                    <a:pt x="5715" y="1974596"/>
                    <a:pt x="0" y="1967989"/>
                    <a:pt x="0" y="1959913"/>
                  </a:cubicBezTo>
                  <a:lnTo>
                    <a:pt x="0" y="14683"/>
                  </a:lnTo>
                  <a:cubicBezTo>
                    <a:pt x="0" y="6607"/>
                    <a:pt x="5715" y="0"/>
                    <a:pt x="12700" y="0"/>
                  </a:cubicBezTo>
                  <a:moveTo>
                    <a:pt x="12700" y="29366"/>
                  </a:moveTo>
                  <a:lnTo>
                    <a:pt x="12700" y="14683"/>
                  </a:lnTo>
                  <a:lnTo>
                    <a:pt x="25400" y="14683"/>
                  </a:lnTo>
                  <a:lnTo>
                    <a:pt x="25400" y="1959913"/>
                  </a:lnTo>
                  <a:lnTo>
                    <a:pt x="12700" y="1959913"/>
                  </a:lnTo>
                  <a:lnTo>
                    <a:pt x="12700" y="1945230"/>
                  </a:lnTo>
                  <a:lnTo>
                    <a:pt x="11717020" y="1945230"/>
                  </a:lnTo>
                  <a:lnTo>
                    <a:pt x="11717020" y="1959913"/>
                  </a:lnTo>
                  <a:lnTo>
                    <a:pt x="11704320" y="1959913"/>
                  </a:lnTo>
                  <a:lnTo>
                    <a:pt x="11704320" y="14683"/>
                  </a:lnTo>
                  <a:lnTo>
                    <a:pt x="11717020" y="14683"/>
                  </a:lnTo>
                  <a:lnTo>
                    <a:pt x="11717020" y="29366"/>
                  </a:lnTo>
                  <a:lnTo>
                    <a:pt x="12700" y="293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93495" y="2815971"/>
            <a:ext cx="704850" cy="704850"/>
            <a:chOff x="0" y="0"/>
            <a:chExt cx="939800" cy="939800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93495" y="2825115"/>
            <a:ext cx="685800" cy="685800"/>
            <a:chOff x="0" y="0"/>
            <a:chExt cx="91440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63140" y="2612148"/>
            <a:ext cx="7269480" cy="681967"/>
            <a:chOff x="0" y="0"/>
            <a:chExt cx="9692640" cy="9092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92640" cy="909289"/>
            </a:xfrm>
            <a:custGeom>
              <a:avLst/>
              <a:gdLst/>
              <a:ahLst/>
              <a:cxnLst/>
              <a:rect l="l" t="t" r="r" b="b"/>
              <a:pathLst>
                <a:path w="9692640" h="909289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499" b="-14390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 verified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63140" y="3101721"/>
            <a:ext cx="72694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license &amp; credentials. Admin reviews, then dashboard unlocks.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50595" y="3968115"/>
            <a:ext cx="8797290" cy="1440180"/>
            <a:chOff x="0" y="0"/>
            <a:chExt cx="11729720" cy="1920240"/>
          </a:xfrm>
        </p:grpSpPr>
        <p:sp>
          <p:nvSpPr>
            <p:cNvPr id="19" name="Freeform 19"/>
            <p:cNvSpPr/>
            <p:nvPr/>
          </p:nvSpPr>
          <p:spPr>
            <a:xfrm>
              <a:off x="12700" y="14279"/>
              <a:ext cx="11704320" cy="1891682"/>
            </a:xfrm>
            <a:custGeom>
              <a:avLst/>
              <a:gdLst/>
              <a:ahLst/>
              <a:cxnLst/>
              <a:rect l="l" t="t" r="r" b="b"/>
              <a:pathLst>
                <a:path w="11704320" h="1891682">
                  <a:moveTo>
                    <a:pt x="0" y="0"/>
                  </a:moveTo>
                  <a:lnTo>
                    <a:pt x="11704320" y="0"/>
                  </a:lnTo>
                  <a:lnTo>
                    <a:pt x="11704320" y="1891682"/>
                  </a:lnTo>
                  <a:lnTo>
                    <a:pt x="0" y="189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1729720" cy="1920240"/>
            </a:xfrm>
            <a:custGeom>
              <a:avLst/>
              <a:gdLst/>
              <a:ahLst/>
              <a:cxnLst/>
              <a:rect l="l" t="t" r="r" b="b"/>
              <a:pathLst>
                <a:path w="11729720" h="192024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426"/>
                    <a:pt x="11729720" y="14279"/>
                  </a:cubicBezTo>
                  <a:lnTo>
                    <a:pt x="11729720" y="1905961"/>
                  </a:lnTo>
                  <a:cubicBezTo>
                    <a:pt x="11729720" y="1913814"/>
                    <a:pt x="11724005" y="1920240"/>
                    <a:pt x="11717020" y="1920240"/>
                  </a:cubicBezTo>
                  <a:lnTo>
                    <a:pt x="12700" y="1920240"/>
                  </a:lnTo>
                  <a:cubicBezTo>
                    <a:pt x="5715" y="1920240"/>
                    <a:pt x="0" y="1913814"/>
                    <a:pt x="0" y="1905961"/>
                  </a:cubicBezTo>
                  <a:lnTo>
                    <a:pt x="0" y="14279"/>
                  </a:lnTo>
                  <a:cubicBezTo>
                    <a:pt x="0" y="6426"/>
                    <a:pt x="5715" y="0"/>
                    <a:pt x="12700" y="0"/>
                  </a:cubicBezTo>
                  <a:moveTo>
                    <a:pt x="12700" y="28558"/>
                  </a:moveTo>
                  <a:lnTo>
                    <a:pt x="12700" y="14279"/>
                  </a:lnTo>
                  <a:lnTo>
                    <a:pt x="25400" y="14279"/>
                  </a:lnTo>
                  <a:lnTo>
                    <a:pt x="25400" y="1905961"/>
                  </a:lnTo>
                  <a:lnTo>
                    <a:pt x="12700" y="1905961"/>
                  </a:lnTo>
                  <a:lnTo>
                    <a:pt x="12700" y="1891682"/>
                  </a:lnTo>
                  <a:lnTo>
                    <a:pt x="11717020" y="1891682"/>
                  </a:lnTo>
                  <a:lnTo>
                    <a:pt x="11717020" y="1905961"/>
                  </a:lnTo>
                  <a:lnTo>
                    <a:pt x="11704320" y="1905961"/>
                  </a:lnTo>
                  <a:lnTo>
                    <a:pt x="11704320" y="14279"/>
                  </a:lnTo>
                  <a:lnTo>
                    <a:pt x="11717020" y="14279"/>
                  </a:lnTo>
                  <a:lnTo>
                    <a:pt x="11717020" y="28558"/>
                  </a:lnTo>
                  <a:lnTo>
                    <a:pt x="12700" y="2855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93495" y="4256151"/>
            <a:ext cx="704850" cy="704850"/>
            <a:chOff x="0" y="0"/>
            <a:chExt cx="939800" cy="939800"/>
          </a:xfrm>
        </p:grpSpPr>
        <p:sp>
          <p:nvSpPr>
            <p:cNvPr id="22" name="Freeform 22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303020" y="4265676"/>
            <a:ext cx="685800" cy="685800"/>
            <a:chOff x="0" y="0"/>
            <a:chExt cx="9144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63140" y="4052328"/>
            <a:ext cx="7269480" cy="681967"/>
            <a:chOff x="0" y="0"/>
            <a:chExt cx="9692640" cy="90928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692640" cy="909289"/>
            </a:xfrm>
            <a:custGeom>
              <a:avLst/>
              <a:gdLst/>
              <a:ahLst/>
              <a:cxnLst/>
              <a:rect l="l" t="t" r="r" b="b"/>
              <a:pathLst>
                <a:path w="9692640" h="909289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499" b="-14390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 availability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263140" y="4541901"/>
            <a:ext cx="72694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Weekly schedule, exceptions, optional Google Calendar sync.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50595" y="5408295"/>
            <a:ext cx="8797290" cy="1440180"/>
            <a:chOff x="0" y="0"/>
            <a:chExt cx="11729720" cy="1920240"/>
          </a:xfrm>
        </p:grpSpPr>
        <p:sp>
          <p:nvSpPr>
            <p:cNvPr id="32" name="Freeform 32"/>
            <p:cNvSpPr/>
            <p:nvPr/>
          </p:nvSpPr>
          <p:spPr>
            <a:xfrm>
              <a:off x="12700" y="14279"/>
              <a:ext cx="11704320" cy="1891682"/>
            </a:xfrm>
            <a:custGeom>
              <a:avLst/>
              <a:gdLst/>
              <a:ahLst/>
              <a:cxnLst/>
              <a:rect l="l" t="t" r="r" b="b"/>
              <a:pathLst>
                <a:path w="11704320" h="1891682">
                  <a:moveTo>
                    <a:pt x="0" y="0"/>
                  </a:moveTo>
                  <a:lnTo>
                    <a:pt x="11704320" y="0"/>
                  </a:lnTo>
                  <a:lnTo>
                    <a:pt x="11704320" y="1891682"/>
                  </a:lnTo>
                  <a:lnTo>
                    <a:pt x="0" y="189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1729720" cy="1920240"/>
            </a:xfrm>
            <a:custGeom>
              <a:avLst/>
              <a:gdLst/>
              <a:ahLst/>
              <a:cxnLst/>
              <a:rect l="l" t="t" r="r" b="b"/>
              <a:pathLst>
                <a:path w="11729720" h="192024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426"/>
                    <a:pt x="11729720" y="14279"/>
                  </a:cubicBezTo>
                  <a:lnTo>
                    <a:pt x="11729720" y="1905961"/>
                  </a:lnTo>
                  <a:cubicBezTo>
                    <a:pt x="11729720" y="1913814"/>
                    <a:pt x="11724005" y="1920240"/>
                    <a:pt x="11717020" y="1920240"/>
                  </a:cubicBezTo>
                  <a:lnTo>
                    <a:pt x="12700" y="1920240"/>
                  </a:lnTo>
                  <a:cubicBezTo>
                    <a:pt x="5715" y="1920240"/>
                    <a:pt x="0" y="1913814"/>
                    <a:pt x="0" y="1905961"/>
                  </a:cubicBezTo>
                  <a:lnTo>
                    <a:pt x="0" y="14279"/>
                  </a:lnTo>
                  <a:cubicBezTo>
                    <a:pt x="0" y="6426"/>
                    <a:pt x="5715" y="0"/>
                    <a:pt x="12700" y="0"/>
                  </a:cubicBezTo>
                  <a:moveTo>
                    <a:pt x="12700" y="28558"/>
                  </a:moveTo>
                  <a:lnTo>
                    <a:pt x="12700" y="14279"/>
                  </a:lnTo>
                  <a:lnTo>
                    <a:pt x="25400" y="14279"/>
                  </a:lnTo>
                  <a:lnTo>
                    <a:pt x="25400" y="1905961"/>
                  </a:lnTo>
                  <a:lnTo>
                    <a:pt x="12700" y="1905961"/>
                  </a:lnTo>
                  <a:lnTo>
                    <a:pt x="12700" y="1891682"/>
                  </a:lnTo>
                  <a:lnTo>
                    <a:pt x="11717020" y="1891682"/>
                  </a:lnTo>
                  <a:lnTo>
                    <a:pt x="11717020" y="1905961"/>
                  </a:lnTo>
                  <a:lnTo>
                    <a:pt x="11704320" y="1905961"/>
                  </a:lnTo>
                  <a:lnTo>
                    <a:pt x="11704320" y="14279"/>
                  </a:lnTo>
                  <a:lnTo>
                    <a:pt x="11717020" y="14279"/>
                  </a:lnTo>
                  <a:lnTo>
                    <a:pt x="11717020" y="28558"/>
                  </a:lnTo>
                  <a:lnTo>
                    <a:pt x="12700" y="2855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93495" y="5696331"/>
            <a:ext cx="704850" cy="704850"/>
            <a:chOff x="0" y="0"/>
            <a:chExt cx="939800" cy="939800"/>
          </a:xfrm>
        </p:grpSpPr>
        <p:sp>
          <p:nvSpPr>
            <p:cNvPr id="35" name="Freeform 35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303020" y="5705856"/>
            <a:ext cx="685800" cy="685800"/>
            <a:chOff x="0" y="0"/>
            <a:chExt cx="9144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263140" y="5492508"/>
            <a:ext cx="7269480" cy="681967"/>
            <a:chOff x="0" y="0"/>
            <a:chExt cx="9692640" cy="90928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692640" cy="909289"/>
            </a:xfrm>
            <a:custGeom>
              <a:avLst/>
              <a:gdLst/>
              <a:ahLst/>
              <a:cxnLst/>
              <a:rect l="l" t="t" r="r" b="b"/>
              <a:pathLst>
                <a:path w="9692640" h="909289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499" b="-14390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consultation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263140" y="5982081"/>
            <a:ext cx="72694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patient summary on the side, voice-to-notes, draft auto-saves.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50595" y="6848475"/>
            <a:ext cx="8797290" cy="1478661"/>
            <a:chOff x="0" y="0"/>
            <a:chExt cx="11729720" cy="1971548"/>
          </a:xfrm>
        </p:grpSpPr>
        <p:sp>
          <p:nvSpPr>
            <p:cNvPr id="45" name="Freeform 45"/>
            <p:cNvSpPr/>
            <p:nvPr/>
          </p:nvSpPr>
          <p:spPr>
            <a:xfrm>
              <a:off x="12700" y="14661"/>
              <a:ext cx="11704320" cy="1942227"/>
            </a:xfrm>
            <a:custGeom>
              <a:avLst/>
              <a:gdLst/>
              <a:ahLst/>
              <a:cxnLst/>
              <a:rect l="l" t="t" r="r" b="b"/>
              <a:pathLst>
                <a:path w="11704320" h="1942227">
                  <a:moveTo>
                    <a:pt x="0" y="0"/>
                  </a:moveTo>
                  <a:lnTo>
                    <a:pt x="11704320" y="0"/>
                  </a:lnTo>
                  <a:lnTo>
                    <a:pt x="11704320" y="1942226"/>
                  </a:lnTo>
                  <a:lnTo>
                    <a:pt x="0" y="19422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1729720" cy="1971548"/>
            </a:xfrm>
            <a:custGeom>
              <a:avLst/>
              <a:gdLst/>
              <a:ahLst/>
              <a:cxnLst/>
              <a:rect l="l" t="t" r="r" b="b"/>
              <a:pathLst>
                <a:path w="11729720" h="1971548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597"/>
                    <a:pt x="11729720" y="14661"/>
                  </a:cubicBezTo>
                  <a:lnTo>
                    <a:pt x="11729720" y="1956887"/>
                  </a:lnTo>
                  <a:cubicBezTo>
                    <a:pt x="11729720" y="1964951"/>
                    <a:pt x="11724005" y="1971548"/>
                    <a:pt x="11717020" y="1971548"/>
                  </a:cubicBezTo>
                  <a:lnTo>
                    <a:pt x="12700" y="1971548"/>
                  </a:lnTo>
                  <a:cubicBezTo>
                    <a:pt x="5715" y="1971548"/>
                    <a:pt x="0" y="1964951"/>
                    <a:pt x="0" y="1956887"/>
                  </a:cubicBezTo>
                  <a:lnTo>
                    <a:pt x="0" y="14661"/>
                  </a:lnTo>
                  <a:cubicBezTo>
                    <a:pt x="0" y="6597"/>
                    <a:pt x="5715" y="0"/>
                    <a:pt x="12700" y="0"/>
                  </a:cubicBezTo>
                  <a:moveTo>
                    <a:pt x="12700" y="29321"/>
                  </a:moveTo>
                  <a:lnTo>
                    <a:pt x="12700" y="14661"/>
                  </a:lnTo>
                  <a:lnTo>
                    <a:pt x="25400" y="14661"/>
                  </a:lnTo>
                  <a:lnTo>
                    <a:pt x="25400" y="1956887"/>
                  </a:lnTo>
                  <a:lnTo>
                    <a:pt x="12700" y="1956887"/>
                  </a:lnTo>
                  <a:lnTo>
                    <a:pt x="12700" y="1942227"/>
                  </a:lnTo>
                  <a:lnTo>
                    <a:pt x="11717020" y="1942227"/>
                  </a:lnTo>
                  <a:lnTo>
                    <a:pt x="11717020" y="1956887"/>
                  </a:lnTo>
                  <a:lnTo>
                    <a:pt x="11704320" y="1956887"/>
                  </a:lnTo>
                  <a:lnTo>
                    <a:pt x="11704320" y="14661"/>
                  </a:lnTo>
                  <a:lnTo>
                    <a:pt x="11717020" y="14661"/>
                  </a:lnTo>
                  <a:lnTo>
                    <a:pt x="11717020" y="29321"/>
                  </a:lnTo>
                  <a:lnTo>
                    <a:pt x="12700" y="2932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93495" y="7136511"/>
            <a:ext cx="704850" cy="704850"/>
            <a:chOff x="0" y="0"/>
            <a:chExt cx="939800" cy="939800"/>
          </a:xfrm>
        </p:grpSpPr>
        <p:sp>
          <p:nvSpPr>
            <p:cNvPr id="48" name="Freeform 48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303020" y="7146036"/>
            <a:ext cx="685800" cy="685800"/>
            <a:chOff x="0" y="0"/>
            <a:chExt cx="914400" cy="914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263140" y="6932688"/>
            <a:ext cx="7269480" cy="681967"/>
            <a:chOff x="0" y="0"/>
            <a:chExt cx="9692640" cy="90928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692640" cy="909289"/>
            </a:xfrm>
            <a:custGeom>
              <a:avLst/>
              <a:gdLst/>
              <a:ahLst/>
              <a:cxnLst/>
              <a:rect l="l" t="t" r="r" b="b"/>
              <a:pathLst>
                <a:path w="9692640" h="909289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499" b="-14390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Issue prescription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2263140" y="7422261"/>
            <a:ext cx="72694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 medication, tests, surgery — patient gets it instantly.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50595" y="8288655"/>
            <a:ext cx="8797290" cy="1478661"/>
            <a:chOff x="0" y="0"/>
            <a:chExt cx="11729720" cy="1971548"/>
          </a:xfrm>
        </p:grpSpPr>
        <p:sp>
          <p:nvSpPr>
            <p:cNvPr id="58" name="Freeform 58"/>
            <p:cNvSpPr/>
            <p:nvPr/>
          </p:nvSpPr>
          <p:spPr>
            <a:xfrm>
              <a:off x="12700" y="14661"/>
              <a:ext cx="11704320" cy="1942227"/>
            </a:xfrm>
            <a:custGeom>
              <a:avLst/>
              <a:gdLst/>
              <a:ahLst/>
              <a:cxnLst/>
              <a:rect l="l" t="t" r="r" b="b"/>
              <a:pathLst>
                <a:path w="11704320" h="1942227">
                  <a:moveTo>
                    <a:pt x="0" y="0"/>
                  </a:moveTo>
                  <a:lnTo>
                    <a:pt x="11704320" y="0"/>
                  </a:lnTo>
                  <a:lnTo>
                    <a:pt x="11704320" y="1942226"/>
                  </a:lnTo>
                  <a:lnTo>
                    <a:pt x="0" y="19422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11729720" cy="1971548"/>
            </a:xfrm>
            <a:custGeom>
              <a:avLst/>
              <a:gdLst/>
              <a:ahLst/>
              <a:cxnLst/>
              <a:rect l="l" t="t" r="r" b="b"/>
              <a:pathLst>
                <a:path w="11729720" h="1971548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597"/>
                    <a:pt x="11729720" y="14661"/>
                  </a:cubicBezTo>
                  <a:lnTo>
                    <a:pt x="11729720" y="1956887"/>
                  </a:lnTo>
                  <a:cubicBezTo>
                    <a:pt x="11729720" y="1964951"/>
                    <a:pt x="11724005" y="1971548"/>
                    <a:pt x="11717020" y="1971548"/>
                  </a:cubicBezTo>
                  <a:lnTo>
                    <a:pt x="12700" y="1971548"/>
                  </a:lnTo>
                  <a:cubicBezTo>
                    <a:pt x="5715" y="1971548"/>
                    <a:pt x="0" y="1964951"/>
                    <a:pt x="0" y="1956887"/>
                  </a:cubicBezTo>
                  <a:lnTo>
                    <a:pt x="0" y="14661"/>
                  </a:lnTo>
                  <a:cubicBezTo>
                    <a:pt x="0" y="6597"/>
                    <a:pt x="5715" y="0"/>
                    <a:pt x="12700" y="0"/>
                  </a:cubicBezTo>
                  <a:moveTo>
                    <a:pt x="12700" y="29321"/>
                  </a:moveTo>
                  <a:lnTo>
                    <a:pt x="12700" y="14661"/>
                  </a:lnTo>
                  <a:lnTo>
                    <a:pt x="25400" y="14661"/>
                  </a:lnTo>
                  <a:lnTo>
                    <a:pt x="25400" y="1956887"/>
                  </a:lnTo>
                  <a:lnTo>
                    <a:pt x="12700" y="1956887"/>
                  </a:lnTo>
                  <a:lnTo>
                    <a:pt x="12700" y="1942227"/>
                  </a:lnTo>
                  <a:lnTo>
                    <a:pt x="11717020" y="1942227"/>
                  </a:lnTo>
                  <a:lnTo>
                    <a:pt x="11717020" y="1956887"/>
                  </a:lnTo>
                  <a:lnTo>
                    <a:pt x="11704320" y="1956887"/>
                  </a:lnTo>
                  <a:lnTo>
                    <a:pt x="11704320" y="14661"/>
                  </a:lnTo>
                  <a:lnTo>
                    <a:pt x="11717020" y="14661"/>
                  </a:lnTo>
                  <a:lnTo>
                    <a:pt x="11717020" y="29321"/>
                  </a:lnTo>
                  <a:lnTo>
                    <a:pt x="12700" y="2932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293495" y="8576691"/>
            <a:ext cx="704850" cy="704850"/>
            <a:chOff x="0" y="0"/>
            <a:chExt cx="939800" cy="939800"/>
          </a:xfrm>
        </p:grpSpPr>
        <p:sp>
          <p:nvSpPr>
            <p:cNvPr id="61" name="Freeform 61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303020" y="8586216"/>
            <a:ext cx="685800" cy="685800"/>
            <a:chOff x="0" y="0"/>
            <a:chExt cx="914400" cy="914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263140" y="8372868"/>
            <a:ext cx="7269480" cy="681967"/>
            <a:chOff x="0" y="0"/>
            <a:chExt cx="9692640" cy="90928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692640" cy="909289"/>
            </a:xfrm>
            <a:custGeom>
              <a:avLst/>
              <a:gdLst/>
              <a:ahLst/>
              <a:cxnLst/>
              <a:rect l="l" t="t" r="r" b="b"/>
              <a:pathLst>
                <a:path w="9692640" h="909289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499" b="-14390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patients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2263140" y="8862441"/>
            <a:ext cx="72694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Analytics, follow-ups, reschedule negotiations, completed reviews.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0405110" y="2702052"/>
            <a:ext cx="7151370" cy="6945630"/>
            <a:chOff x="0" y="0"/>
            <a:chExt cx="9535160" cy="9260840"/>
          </a:xfrm>
        </p:grpSpPr>
        <p:sp>
          <p:nvSpPr>
            <p:cNvPr id="71" name="Freeform 71"/>
            <p:cNvSpPr/>
            <p:nvPr/>
          </p:nvSpPr>
          <p:spPr>
            <a:xfrm>
              <a:off x="12700" y="12700"/>
              <a:ext cx="9509760" cy="9235440"/>
            </a:xfrm>
            <a:custGeom>
              <a:avLst/>
              <a:gdLst/>
              <a:ahLst/>
              <a:cxnLst/>
              <a:rect l="l" t="t" r="r" b="b"/>
              <a:pathLst>
                <a:path w="9509760" h="9235440">
                  <a:moveTo>
                    <a:pt x="0" y="0"/>
                  </a:moveTo>
                  <a:lnTo>
                    <a:pt x="9509760" y="0"/>
                  </a:lnTo>
                  <a:lnTo>
                    <a:pt x="9509760" y="9235440"/>
                  </a:lnTo>
                  <a:lnTo>
                    <a:pt x="0" y="92354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9535160" cy="9260840"/>
            </a:xfrm>
            <a:custGeom>
              <a:avLst/>
              <a:gdLst/>
              <a:ahLst/>
              <a:cxnLst/>
              <a:rect l="l" t="t" r="r" b="b"/>
              <a:pathLst>
                <a:path w="9535160" h="9260840">
                  <a:moveTo>
                    <a:pt x="12700" y="0"/>
                  </a:moveTo>
                  <a:lnTo>
                    <a:pt x="9522460" y="0"/>
                  </a:lnTo>
                  <a:cubicBezTo>
                    <a:pt x="9529445" y="0"/>
                    <a:pt x="9535160" y="5715"/>
                    <a:pt x="9535160" y="12700"/>
                  </a:cubicBezTo>
                  <a:lnTo>
                    <a:pt x="9535160" y="9248140"/>
                  </a:lnTo>
                  <a:cubicBezTo>
                    <a:pt x="9535160" y="9255125"/>
                    <a:pt x="9529445" y="9260840"/>
                    <a:pt x="9522460" y="9260840"/>
                  </a:cubicBezTo>
                  <a:lnTo>
                    <a:pt x="12700" y="9260840"/>
                  </a:lnTo>
                  <a:cubicBezTo>
                    <a:pt x="5715" y="9260840"/>
                    <a:pt x="0" y="9255125"/>
                    <a:pt x="0" y="9248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48140"/>
                  </a:lnTo>
                  <a:lnTo>
                    <a:pt x="12700" y="9248140"/>
                  </a:lnTo>
                  <a:lnTo>
                    <a:pt x="12700" y="9235440"/>
                  </a:lnTo>
                  <a:lnTo>
                    <a:pt x="9522460" y="9235440"/>
                  </a:lnTo>
                  <a:lnTo>
                    <a:pt x="9522460" y="9248140"/>
                  </a:lnTo>
                  <a:lnTo>
                    <a:pt x="9509760" y="9248140"/>
                  </a:lnTo>
                  <a:lnTo>
                    <a:pt x="9509760" y="12700"/>
                  </a:lnTo>
                  <a:lnTo>
                    <a:pt x="9522460" y="12700"/>
                  </a:lnTo>
                  <a:lnTo>
                    <a:pt x="95224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0767060" y="3086100"/>
            <a:ext cx="685800" cy="685800"/>
            <a:chOff x="0" y="0"/>
            <a:chExt cx="914400" cy="914400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1719560" y="3099435"/>
            <a:ext cx="5486400" cy="822960"/>
            <a:chOff x="0" y="0"/>
            <a:chExt cx="7315200" cy="109728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315200" cy="1097280"/>
            </a:xfrm>
            <a:custGeom>
              <a:avLst/>
              <a:gdLst/>
              <a:ahLst/>
              <a:cxnLst/>
              <a:rect l="l" t="t" r="r" b="b"/>
              <a:pathLst>
                <a:path w="7315200" h="109728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85725"/>
              <a:ext cx="7315200" cy="1183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9"/>
                </a:lnSpc>
              </a:pPr>
              <a:r>
                <a:rPr lang="en-US" sz="35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available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767060" y="3909060"/>
            <a:ext cx="6035040" cy="643532"/>
            <a:chOff x="0" y="0"/>
            <a:chExt cx="8046720" cy="85804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046720" cy="858043"/>
            </a:xfrm>
            <a:custGeom>
              <a:avLst/>
              <a:gdLst/>
              <a:ahLst/>
              <a:cxnLst/>
              <a:rect l="l" t="t" r="r" b="b"/>
              <a:pathLst>
                <a:path w="8046720" h="858043">
                  <a:moveTo>
                    <a:pt x="0" y="0"/>
                  </a:moveTo>
                  <a:lnTo>
                    <a:pt x="8046720" y="0"/>
                  </a:lnTo>
                  <a:lnTo>
                    <a:pt x="8046720" y="858043"/>
                  </a:lnTo>
                  <a:lnTo>
                    <a:pt x="0" y="8580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5431" b="-120029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76200"/>
              <a:ext cx="8046720" cy="93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39"/>
                </a:lnSpc>
              </a:pPr>
              <a:r>
                <a:rPr lang="en-US" sz="3199" i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During a consultation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688955" y="4653915"/>
            <a:ext cx="6570345" cy="1088898"/>
            <a:chOff x="0" y="0"/>
            <a:chExt cx="8760460" cy="1451864"/>
          </a:xfrm>
        </p:grpSpPr>
        <p:sp>
          <p:nvSpPr>
            <p:cNvPr id="82" name="Freeform 82"/>
            <p:cNvSpPr/>
            <p:nvPr/>
          </p:nvSpPr>
          <p:spPr>
            <a:xfrm>
              <a:off x="13478" y="12700"/>
              <a:ext cx="8733505" cy="1426464"/>
            </a:xfrm>
            <a:custGeom>
              <a:avLst/>
              <a:gdLst/>
              <a:ahLst/>
              <a:cxnLst/>
              <a:rect l="l" t="t" r="r" b="b"/>
              <a:pathLst>
                <a:path w="8733505" h="1426464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8760460" cy="1451864"/>
            </a:xfrm>
            <a:custGeom>
              <a:avLst/>
              <a:gdLst/>
              <a:ahLst/>
              <a:cxnLst/>
              <a:rect l="l" t="t" r="r" b="b"/>
              <a:pathLst>
                <a:path w="8760460" h="1451864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10688955" y="4653915"/>
            <a:ext cx="101346" cy="1088898"/>
            <a:chOff x="0" y="0"/>
            <a:chExt cx="135128" cy="1451864"/>
          </a:xfrm>
        </p:grpSpPr>
        <p:sp>
          <p:nvSpPr>
            <p:cNvPr id="85" name="Freeform 85"/>
            <p:cNvSpPr/>
            <p:nvPr/>
          </p:nvSpPr>
          <p:spPr>
            <a:xfrm>
              <a:off x="12700" y="12700"/>
              <a:ext cx="109728" cy="1426464"/>
            </a:xfrm>
            <a:custGeom>
              <a:avLst/>
              <a:gdLst/>
              <a:ahLst/>
              <a:cxnLst/>
              <a:rect l="l" t="t" r="r" b="b"/>
              <a:pathLst>
                <a:path w="109728" h="1426464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135128" cy="1451864"/>
            </a:xfrm>
            <a:custGeom>
              <a:avLst/>
              <a:gdLst/>
              <a:ahLst/>
              <a:cxnLst/>
              <a:rect l="l" t="t" r="r" b="b"/>
              <a:pathLst>
                <a:path w="135128" h="1451864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0972800" y="4773168"/>
            <a:ext cx="5760720" cy="557138"/>
            <a:chOff x="0" y="0"/>
            <a:chExt cx="7680960" cy="74285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680960" cy="742851"/>
            </a:xfrm>
            <a:custGeom>
              <a:avLst/>
              <a:gdLst/>
              <a:ahLst/>
              <a:cxnLst/>
              <a:rect l="l" t="t" r="r" b="b"/>
              <a:pathLst>
                <a:path w="7680960" h="742851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82" b="-140862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summary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0972800" y="5145405"/>
            <a:ext cx="679734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Consent-filtered context from past visits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10688955" y="5833491"/>
            <a:ext cx="6570345" cy="1088898"/>
            <a:chOff x="0" y="0"/>
            <a:chExt cx="8760460" cy="1451864"/>
          </a:xfrm>
        </p:grpSpPr>
        <p:sp>
          <p:nvSpPr>
            <p:cNvPr id="92" name="Freeform 92"/>
            <p:cNvSpPr/>
            <p:nvPr/>
          </p:nvSpPr>
          <p:spPr>
            <a:xfrm>
              <a:off x="13478" y="12700"/>
              <a:ext cx="8733505" cy="1426464"/>
            </a:xfrm>
            <a:custGeom>
              <a:avLst/>
              <a:gdLst/>
              <a:ahLst/>
              <a:cxnLst/>
              <a:rect l="l" t="t" r="r" b="b"/>
              <a:pathLst>
                <a:path w="8733505" h="1426464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93" name="Freeform 93"/>
            <p:cNvSpPr/>
            <p:nvPr/>
          </p:nvSpPr>
          <p:spPr>
            <a:xfrm>
              <a:off x="0" y="0"/>
              <a:ext cx="8760460" cy="1451864"/>
            </a:xfrm>
            <a:custGeom>
              <a:avLst/>
              <a:gdLst/>
              <a:ahLst/>
              <a:cxnLst/>
              <a:rect l="l" t="t" r="r" b="b"/>
              <a:pathLst>
                <a:path w="8760460" h="1451864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10688955" y="5833491"/>
            <a:ext cx="101346" cy="1088898"/>
            <a:chOff x="0" y="0"/>
            <a:chExt cx="135128" cy="1451864"/>
          </a:xfrm>
        </p:grpSpPr>
        <p:sp>
          <p:nvSpPr>
            <p:cNvPr id="95" name="Freeform 95"/>
            <p:cNvSpPr/>
            <p:nvPr/>
          </p:nvSpPr>
          <p:spPr>
            <a:xfrm>
              <a:off x="12700" y="12700"/>
              <a:ext cx="109728" cy="1426464"/>
            </a:xfrm>
            <a:custGeom>
              <a:avLst/>
              <a:gdLst/>
              <a:ahLst/>
              <a:cxnLst/>
              <a:rect l="l" t="t" r="r" b="b"/>
              <a:pathLst>
                <a:path w="109728" h="1426464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96" name="Freeform 96"/>
            <p:cNvSpPr/>
            <p:nvPr/>
          </p:nvSpPr>
          <p:spPr>
            <a:xfrm>
              <a:off x="0" y="0"/>
              <a:ext cx="135128" cy="1451864"/>
            </a:xfrm>
            <a:custGeom>
              <a:avLst/>
              <a:gdLst/>
              <a:ahLst/>
              <a:cxnLst/>
              <a:rect l="l" t="t" r="r" b="b"/>
              <a:pathLst>
                <a:path w="135128" h="1451864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10972800" y="5952744"/>
            <a:ext cx="5760720" cy="557138"/>
            <a:chOff x="0" y="0"/>
            <a:chExt cx="7680960" cy="742851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680960" cy="742851"/>
            </a:xfrm>
            <a:custGeom>
              <a:avLst/>
              <a:gdLst/>
              <a:ahLst/>
              <a:cxnLst/>
              <a:rect l="l" t="t" r="r" b="b"/>
              <a:pathLst>
                <a:path w="7680960" h="742851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82" b="-140862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 query</a:t>
              </a:r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10972800" y="6324981"/>
            <a:ext cx="576072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 info for specific conditions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0688955" y="7013067"/>
            <a:ext cx="6570345" cy="1088898"/>
            <a:chOff x="0" y="0"/>
            <a:chExt cx="8760460" cy="1451864"/>
          </a:xfrm>
        </p:grpSpPr>
        <p:sp>
          <p:nvSpPr>
            <p:cNvPr id="102" name="Freeform 102"/>
            <p:cNvSpPr/>
            <p:nvPr/>
          </p:nvSpPr>
          <p:spPr>
            <a:xfrm>
              <a:off x="13478" y="12700"/>
              <a:ext cx="8733505" cy="1426464"/>
            </a:xfrm>
            <a:custGeom>
              <a:avLst/>
              <a:gdLst/>
              <a:ahLst/>
              <a:cxnLst/>
              <a:rect l="l" t="t" r="r" b="b"/>
              <a:pathLst>
                <a:path w="8733505" h="1426464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8760460" cy="1451864"/>
            </a:xfrm>
            <a:custGeom>
              <a:avLst/>
              <a:gdLst/>
              <a:ahLst/>
              <a:cxnLst/>
              <a:rect l="l" t="t" r="r" b="b"/>
              <a:pathLst>
                <a:path w="8760460" h="1451864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10688955" y="7013067"/>
            <a:ext cx="101346" cy="1088898"/>
            <a:chOff x="0" y="0"/>
            <a:chExt cx="135128" cy="1451864"/>
          </a:xfrm>
        </p:grpSpPr>
        <p:sp>
          <p:nvSpPr>
            <p:cNvPr id="105" name="Freeform 105"/>
            <p:cNvSpPr/>
            <p:nvPr/>
          </p:nvSpPr>
          <p:spPr>
            <a:xfrm>
              <a:off x="12700" y="12700"/>
              <a:ext cx="109728" cy="1426464"/>
            </a:xfrm>
            <a:custGeom>
              <a:avLst/>
              <a:gdLst/>
              <a:ahLst/>
              <a:cxnLst/>
              <a:rect l="l" t="t" r="r" b="b"/>
              <a:pathLst>
                <a:path w="109728" h="1426464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135128" cy="1451864"/>
            </a:xfrm>
            <a:custGeom>
              <a:avLst/>
              <a:gdLst/>
              <a:ahLst/>
              <a:cxnLst/>
              <a:rect l="l" t="t" r="r" b="b"/>
              <a:pathLst>
                <a:path w="135128" h="1451864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0972800" y="7132320"/>
            <a:ext cx="5760720" cy="557138"/>
            <a:chOff x="0" y="0"/>
            <a:chExt cx="7680960" cy="742851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7680960" cy="742851"/>
            </a:xfrm>
            <a:custGeom>
              <a:avLst/>
              <a:gdLst/>
              <a:ahLst/>
              <a:cxnLst/>
              <a:rect l="l" t="t" r="r" b="b"/>
              <a:pathLst>
                <a:path w="7680960" h="742851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82" b="-140862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Voice-to-notes</a:t>
              </a:r>
            </a:p>
          </p:txBody>
        </p:sp>
      </p:grpSp>
      <p:sp>
        <p:nvSpPr>
          <p:cNvPr id="110" name="TextBox 110"/>
          <p:cNvSpPr txBox="1"/>
          <p:nvPr/>
        </p:nvSpPr>
        <p:spPr>
          <a:xfrm>
            <a:off x="10972800" y="7504557"/>
            <a:ext cx="658368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Speech recognition → editable note draft</a:t>
            </a:r>
          </a:p>
        </p:txBody>
      </p:sp>
      <p:grpSp>
        <p:nvGrpSpPr>
          <p:cNvPr id="111" name="Group 111"/>
          <p:cNvGrpSpPr/>
          <p:nvPr/>
        </p:nvGrpSpPr>
        <p:grpSpPr>
          <a:xfrm>
            <a:off x="10688955" y="8192643"/>
            <a:ext cx="6570345" cy="1088898"/>
            <a:chOff x="0" y="0"/>
            <a:chExt cx="8760460" cy="1451864"/>
          </a:xfrm>
        </p:grpSpPr>
        <p:sp>
          <p:nvSpPr>
            <p:cNvPr id="112" name="Freeform 112"/>
            <p:cNvSpPr/>
            <p:nvPr/>
          </p:nvSpPr>
          <p:spPr>
            <a:xfrm>
              <a:off x="13478" y="12700"/>
              <a:ext cx="8733505" cy="1426464"/>
            </a:xfrm>
            <a:custGeom>
              <a:avLst/>
              <a:gdLst/>
              <a:ahLst/>
              <a:cxnLst/>
              <a:rect l="l" t="t" r="r" b="b"/>
              <a:pathLst>
                <a:path w="8733505" h="1426464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113" name="Freeform 113"/>
            <p:cNvSpPr/>
            <p:nvPr/>
          </p:nvSpPr>
          <p:spPr>
            <a:xfrm>
              <a:off x="0" y="0"/>
              <a:ext cx="8760460" cy="1451864"/>
            </a:xfrm>
            <a:custGeom>
              <a:avLst/>
              <a:gdLst/>
              <a:ahLst/>
              <a:cxnLst/>
              <a:rect l="l" t="t" r="r" b="b"/>
              <a:pathLst>
                <a:path w="8760460" h="1451864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14" name="Group 114"/>
          <p:cNvGrpSpPr/>
          <p:nvPr/>
        </p:nvGrpSpPr>
        <p:grpSpPr>
          <a:xfrm>
            <a:off x="10688955" y="8192643"/>
            <a:ext cx="101346" cy="1088898"/>
            <a:chOff x="0" y="0"/>
            <a:chExt cx="135128" cy="1451864"/>
          </a:xfrm>
        </p:grpSpPr>
        <p:sp>
          <p:nvSpPr>
            <p:cNvPr id="115" name="Freeform 115"/>
            <p:cNvSpPr/>
            <p:nvPr/>
          </p:nvSpPr>
          <p:spPr>
            <a:xfrm>
              <a:off x="12700" y="12700"/>
              <a:ext cx="109728" cy="1426464"/>
            </a:xfrm>
            <a:custGeom>
              <a:avLst/>
              <a:gdLst/>
              <a:ahLst/>
              <a:cxnLst/>
              <a:rect l="l" t="t" r="r" b="b"/>
              <a:pathLst>
                <a:path w="109728" h="1426464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116" name="Freeform 116"/>
            <p:cNvSpPr/>
            <p:nvPr/>
          </p:nvSpPr>
          <p:spPr>
            <a:xfrm>
              <a:off x="0" y="0"/>
              <a:ext cx="135128" cy="1451864"/>
            </a:xfrm>
            <a:custGeom>
              <a:avLst/>
              <a:gdLst/>
              <a:ahLst/>
              <a:cxnLst/>
              <a:rect l="l" t="t" r="r" b="b"/>
              <a:pathLst>
                <a:path w="135128" h="1451864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117" name="Group 117"/>
          <p:cNvGrpSpPr/>
          <p:nvPr/>
        </p:nvGrpSpPr>
        <p:grpSpPr>
          <a:xfrm>
            <a:off x="10972800" y="8311896"/>
            <a:ext cx="5760720" cy="557138"/>
            <a:chOff x="0" y="0"/>
            <a:chExt cx="7680960" cy="742851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7680960" cy="742851"/>
            </a:xfrm>
            <a:custGeom>
              <a:avLst/>
              <a:gdLst/>
              <a:ahLst/>
              <a:cxnLst/>
              <a:rect l="l" t="t" r="r" b="b"/>
              <a:pathLst>
                <a:path w="7680960" h="742851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82" b="-140862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SOAP drafting</a:t>
              </a:r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10972800" y="8684133"/>
            <a:ext cx="775622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 note generation, clinician edits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122" name="Freeform 122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23" name="Freeform 123"/>
          <p:cNvSpPr/>
          <p:nvPr/>
        </p:nvSpPr>
        <p:spPr>
          <a:xfrm>
            <a:off x="16931953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4" name="Group 124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125" name="Group 125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28" name="AutoShape 128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9" name="AutoShape 129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0" name="AutoShape 130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1" name="AutoShape 131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2" name="AutoShape 132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" name="AutoShape 133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4" name="AutoShape 134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5" name="AutoShape 135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6" name="Group 136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66" name="AutoShape 166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78" name="Group 178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81" name="TextBox 181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703" y="420380"/>
            <a:ext cx="16870680" cy="1450330"/>
            <a:chOff x="0" y="0"/>
            <a:chExt cx="2249424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94239" cy="1933773"/>
            </a:xfrm>
            <a:custGeom>
              <a:avLst/>
              <a:gdLst/>
              <a:ahLst/>
              <a:cxnLst/>
              <a:rect l="l" t="t" r="r" b="b"/>
              <a:pathLst>
                <a:path w="22494239" h="1933773">
                  <a:moveTo>
                    <a:pt x="0" y="0"/>
                  </a:moveTo>
                  <a:lnTo>
                    <a:pt x="22494239" y="0"/>
                  </a:lnTo>
                  <a:lnTo>
                    <a:pt x="22494239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3555" b="-15975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249424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402072"/>
            <a:ext cx="8797290" cy="1480947"/>
            <a:chOff x="0" y="0"/>
            <a:chExt cx="11729720" cy="1974596"/>
          </a:xfrm>
        </p:grpSpPr>
        <p:sp>
          <p:nvSpPr>
            <p:cNvPr id="6" name="Freeform 6"/>
            <p:cNvSpPr/>
            <p:nvPr/>
          </p:nvSpPr>
          <p:spPr>
            <a:xfrm>
              <a:off x="12700" y="14683"/>
              <a:ext cx="11704320" cy="1945230"/>
            </a:xfrm>
            <a:custGeom>
              <a:avLst/>
              <a:gdLst/>
              <a:ahLst/>
              <a:cxnLst/>
              <a:rect l="l" t="t" r="r" b="b"/>
              <a:pathLst>
                <a:path w="11704320" h="1945230">
                  <a:moveTo>
                    <a:pt x="0" y="0"/>
                  </a:moveTo>
                  <a:lnTo>
                    <a:pt x="11704320" y="0"/>
                  </a:lnTo>
                  <a:lnTo>
                    <a:pt x="11704320" y="1945230"/>
                  </a:lnTo>
                  <a:lnTo>
                    <a:pt x="0" y="1945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1729720" cy="1974596"/>
            </a:xfrm>
            <a:custGeom>
              <a:avLst/>
              <a:gdLst/>
              <a:ahLst/>
              <a:cxnLst/>
              <a:rect l="l" t="t" r="r" b="b"/>
              <a:pathLst>
                <a:path w="11729720" h="1974596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607"/>
                    <a:pt x="11729720" y="14683"/>
                  </a:cubicBezTo>
                  <a:lnTo>
                    <a:pt x="11729720" y="1959913"/>
                  </a:lnTo>
                  <a:cubicBezTo>
                    <a:pt x="11729720" y="1967989"/>
                    <a:pt x="11724005" y="1974596"/>
                    <a:pt x="11717020" y="1974596"/>
                  </a:cubicBezTo>
                  <a:lnTo>
                    <a:pt x="12700" y="1974596"/>
                  </a:lnTo>
                  <a:cubicBezTo>
                    <a:pt x="5715" y="1974596"/>
                    <a:pt x="0" y="1967989"/>
                    <a:pt x="0" y="1959913"/>
                  </a:cubicBezTo>
                  <a:lnTo>
                    <a:pt x="0" y="14683"/>
                  </a:lnTo>
                  <a:cubicBezTo>
                    <a:pt x="0" y="6607"/>
                    <a:pt x="5715" y="0"/>
                    <a:pt x="12700" y="0"/>
                  </a:cubicBezTo>
                  <a:moveTo>
                    <a:pt x="12700" y="29366"/>
                  </a:moveTo>
                  <a:lnTo>
                    <a:pt x="12700" y="14683"/>
                  </a:lnTo>
                  <a:lnTo>
                    <a:pt x="25400" y="14683"/>
                  </a:lnTo>
                  <a:lnTo>
                    <a:pt x="25400" y="1959913"/>
                  </a:lnTo>
                  <a:lnTo>
                    <a:pt x="12700" y="1959913"/>
                  </a:lnTo>
                  <a:lnTo>
                    <a:pt x="12700" y="1945230"/>
                  </a:lnTo>
                  <a:lnTo>
                    <a:pt x="11717020" y="1945230"/>
                  </a:lnTo>
                  <a:lnTo>
                    <a:pt x="11717020" y="1959913"/>
                  </a:lnTo>
                  <a:lnTo>
                    <a:pt x="11704320" y="1959913"/>
                  </a:lnTo>
                  <a:lnTo>
                    <a:pt x="11704320" y="14683"/>
                  </a:lnTo>
                  <a:lnTo>
                    <a:pt x="11717020" y="14683"/>
                  </a:lnTo>
                  <a:lnTo>
                    <a:pt x="11717020" y="29366"/>
                  </a:lnTo>
                  <a:lnTo>
                    <a:pt x="12700" y="293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71600" y="2690108"/>
            <a:ext cx="704850" cy="704850"/>
            <a:chOff x="0" y="0"/>
            <a:chExt cx="939800" cy="939800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71600" y="2699252"/>
            <a:ext cx="685800" cy="685800"/>
            <a:chOff x="0" y="0"/>
            <a:chExt cx="91440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41245" y="2486285"/>
            <a:ext cx="7269480" cy="681967"/>
            <a:chOff x="0" y="0"/>
            <a:chExt cx="9692640" cy="9092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92640" cy="909289"/>
            </a:xfrm>
            <a:custGeom>
              <a:avLst/>
              <a:gdLst/>
              <a:ahLst/>
              <a:cxnLst/>
              <a:rect l="l" t="t" r="r" b="b"/>
              <a:pathLst>
                <a:path w="9692640" h="909289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499" b="-14390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Find Doctor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341245" y="3080957"/>
            <a:ext cx="726948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Types symptoms; AI maps to a speciality, shows verified doctors near them.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028700" y="3947351"/>
            <a:ext cx="8797290" cy="1440180"/>
            <a:chOff x="0" y="0"/>
            <a:chExt cx="11729720" cy="1920240"/>
          </a:xfrm>
        </p:grpSpPr>
        <p:sp>
          <p:nvSpPr>
            <p:cNvPr id="19" name="Freeform 19"/>
            <p:cNvSpPr/>
            <p:nvPr/>
          </p:nvSpPr>
          <p:spPr>
            <a:xfrm>
              <a:off x="12700" y="14279"/>
              <a:ext cx="11704320" cy="1891682"/>
            </a:xfrm>
            <a:custGeom>
              <a:avLst/>
              <a:gdLst/>
              <a:ahLst/>
              <a:cxnLst/>
              <a:rect l="l" t="t" r="r" b="b"/>
              <a:pathLst>
                <a:path w="11704320" h="1891682">
                  <a:moveTo>
                    <a:pt x="0" y="0"/>
                  </a:moveTo>
                  <a:lnTo>
                    <a:pt x="11704320" y="0"/>
                  </a:lnTo>
                  <a:lnTo>
                    <a:pt x="11704320" y="1891682"/>
                  </a:lnTo>
                  <a:lnTo>
                    <a:pt x="0" y="189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1729720" cy="1920240"/>
            </a:xfrm>
            <a:custGeom>
              <a:avLst/>
              <a:gdLst/>
              <a:ahLst/>
              <a:cxnLst/>
              <a:rect l="l" t="t" r="r" b="b"/>
              <a:pathLst>
                <a:path w="11729720" h="192024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426"/>
                    <a:pt x="11729720" y="14279"/>
                  </a:cubicBezTo>
                  <a:lnTo>
                    <a:pt x="11729720" y="1905961"/>
                  </a:lnTo>
                  <a:cubicBezTo>
                    <a:pt x="11729720" y="1913814"/>
                    <a:pt x="11724005" y="1920240"/>
                    <a:pt x="11717020" y="1920240"/>
                  </a:cubicBezTo>
                  <a:lnTo>
                    <a:pt x="12700" y="1920240"/>
                  </a:lnTo>
                  <a:cubicBezTo>
                    <a:pt x="5715" y="1920240"/>
                    <a:pt x="0" y="1913814"/>
                    <a:pt x="0" y="1905961"/>
                  </a:cubicBezTo>
                  <a:lnTo>
                    <a:pt x="0" y="14279"/>
                  </a:lnTo>
                  <a:cubicBezTo>
                    <a:pt x="0" y="6426"/>
                    <a:pt x="5715" y="0"/>
                    <a:pt x="12700" y="0"/>
                  </a:cubicBezTo>
                  <a:moveTo>
                    <a:pt x="12700" y="28558"/>
                  </a:moveTo>
                  <a:lnTo>
                    <a:pt x="12700" y="14279"/>
                  </a:lnTo>
                  <a:lnTo>
                    <a:pt x="25400" y="14279"/>
                  </a:lnTo>
                  <a:lnTo>
                    <a:pt x="25400" y="1905961"/>
                  </a:lnTo>
                  <a:lnTo>
                    <a:pt x="12700" y="1905961"/>
                  </a:lnTo>
                  <a:lnTo>
                    <a:pt x="12700" y="1891682"/>
                  </a:lnTo>
                  <a:lnTo>
                    <a:pt x="11717020" y="1891682"/>
                  </a:lnTo>
                  <a:lnTo>
                    <a:pt x="11717020" y="1905961"/>
                  </a:lnTo>
                  <a:lnTo>
                    <a:pt x="11704320" y="1905961"/>
                  </a:lnTo>
                  <a:lnTo>
                    <a:pt x="11704320" y="14279"/>
                  </a:lnTo>
                  <a:lnTo>
                    <a:pt x="11717020" y="14279"/>
                  </a:lnTo>
                  <a:lnTo>
                    <a:pt x="11717020" y="28558"/>
                  </a:lnTo>
                  <a:lnTo>
                    <a:pt x="12700" y="2855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71600" y="4235387"/>
            <a:ext cx="704850" cy="704850"/>
            <a:chOff x="0" y="0"/>
            <a:chExt cx="939800" cy="939800"/>
          </a:xfrm>
        </p:grpSpPr>
        <p:sp>
          <p:nvSpPr>
            <p:cNvPr id="22" name="Freeform 22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381125" y="4244912"/>
            <a:ext cx="685800" cy="685800"/>
            <a:chOff x="0" y="0"/>
            <a:chExt cx="9144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41245" y="4031563"/>
            <a:ext cx="7269480" cy="681967"/>
            <a:chOff x="0" y="0"/>
            <a:chExt cx="9692640" cy="90928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692640" cy="909289"/>
            </a:xfrm>
            <a:custGeom>
              <a:avLst/>
              <a:gdLst/>
              <a:ahLst/>
              <a:cxnLst/>
              <a:rect l="l" t="t" r="r" b="b"/>
              <a:pathLst>
                <a:path w="9692640" h="909289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499" b="-14390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 Booking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341245" y="4521137"/>
            <a:ext cx="726948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Sees live slots via Supabase Realtime; soft hold prevents double-booking.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1028700" y="5442775"/>
            <a:ext cx="8797290" cy="1440180"/>
            <a:chOff x="0" y="0"/>
            <a:chExt cx="11729720" cy="1920240"/>
          </a:xfrm>
        </p:grpSpPr>
        <p:sp>
          <p:nvSpPr>
            <p:cNvPr id="32" name="Freeform 32"/>
            <p:cNvSpPr/>
            <p:nvPr/>
          </p:nvSpPr>
          <p:spPr>
            <a:xfrm>
              <a:off x="12700" y="14279"/>
              <a:ext cx="11704320" cy="1891682"/>
            </a:xfrm>
            <a:custGeom>
              <a:avLst/>
              <a:gdLst/>
              <a:ahLst/>
              <a:cxnLst/>
              <a:rect l="l" t="t" r="r" b="b"/>
              <a:pathLst>
                <a:path w="11704320" h="1891682">
                  <a:moveTo>
                    <a:pt x="0" y="0"/>
                  </a:moveTo>
                  <a:lnTo>
                    <a:pt x="11704320" y="0"/>
                  </a:lnTo>
                  <a:lnTo>
                    <a:pt x="11704320" y="1891682"/>
                  </a:lnTo>
                  <a:lnTo>
                    <a:pt x="0" y="189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1729720" cy="1920240"/>
            </a:xfrm>
            <a:custGeom>
              <a:avLst/>
              <a:gdLst/>
              <a:ahLst/>
              <a:cxnLst/>
              <a:rect l="l" t="t" r="r" b="b"/>
              <a:pathLst>
                <a:path w="11729720" h="192024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426"/>
                    <a:pt x="11729720" y="14279"/>
                  </a:cubicBezTo>
                  <a:lnTo>
                    <a:pt x="11729720" y="1905961"/>
                  </a:lnTo>
                  <a:cubicBezTo>
                    <a:pt x="11729720" y="1913814"/>
                    <a:pt x="11724005" y="1920240"/>
                    <a:pt x="11717020" y="1920240"/>
                  </a:cubicBezTo>
                  <a:lnTo>
                    <a:pt x="12700" y="1920240"/>
                  </a:lnTo>
                  <a:cubicBezTo>
                    <a:pt x="5715" y="1920240"/>
                    <a:pt x="0" y="1913814"/>
                    <a:pt x="0" y="1905961"/>
                  </a:cubicBezTo>
                  <a:lnTo>
                    <a:pt x="0" y="14279"/>
                  </a:lnTo>
                  <a:cubicBezTo>
                    <a:pt x="0" y="6426"/>
                    <a:pt x="5715" y="0"/>
                    <a:pt x="12700" y="0"/>
                  </a:cubicBezTo>
                  <a:moveTo>
                    <a:pt x="12700" y="28558"/>
                  </a:moveTo>
                  <a:lnTo>
                    <a:pt x="12700" y="14279"/>
                  </a:lnTo>
                  <a:lnTo>
                    <a:pt x="25400" y="14279"/>
                  </a:lnTo>
                  <a:lnTo>
                    <a:pt x="25400" y="1905961"/>
                  </a:lnTo>
                  <a:lnTo>
                    <a:pt x="12700" y="1905961"/>
                  </a:lnTo>
                  <a:lnTo>
                    <a:pt x="12700" y="1891682"/>
                  </a:lnTo>
                  <a:lnTo>
                    <a:pt x="11717020" y="1891682"/>
                  </a:lnTo>
                  <a:lnTo>
                    <a:pt x="11717020" y="1905961"/>
                  </a:lnTo>
                  <a:lnTo>
                    <a:pt x="11704320" y="1905961"/>
                  </a:lnTo>
                  <a:lnTo>
                    <a:pt x="11704320" y="14279"/>
                  </a:lnTo>
                  <a:lnTo>
                    <a:pt x="11717020" y="14279"/>
                  </a:lnTo>
                  <a:lnTo>
                    <a:pt x="11717020" y="28558"/>
                  </a:lnTo>
                  <a:lnTo>
                    <a:pt x="12700" y="2855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371600" y="5730812"/>
            <a:ext cx="704850" cy="704850"/>
            <a:chOff x="0" y="0"/>
            <a:chExt cx="939800" cy="939800"/>
          </a:xfrm>
        </p:grpSpPr>
        <p:sp>
          <p:nvSpPr>
            <p:cNvPr id="35" name="Freeform 35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381125" y="5740336"/>
            <a:ext cx="685800" cy="685800"/>
            <a:chOff x="0" y="0"/>
            <a:chExt cx="9144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341245" y="5526988"/>
            <a:ext cx="7269480" cy="1196317"/>
            <a:chOff x="0" y="0"/>
            <a:chExt cx="9692640" cy="159508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692640" cy="1595089"/>
            </a:xfrm>
            <a:custGeom>
              <a:avLst/>
              <a:gdLst/>
              <a:ahLst/>
              <a:cxnLst/>
              <a:rect l="l" t="t" r="r" b="b"/>
              <a:pathLst>
                <a:path w="9692640" h="1595089">
                  <a:moveTo>
                    <a:pt x="0" y="0"/>
                  </a:moveTo>
                  <a:lnTo>
                    <a:pt x="9692640" y="0"/>
                  </a:lnTo>
                  <a:lnTo>
                    <a:pt x="9692640" y="1595089"/>
                  </a:lnTo>
                  <a:lnTo>
                    <a:pt x="0" y="1595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7764" b="-39039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9692640" cy="1661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 &amp; receive Rx</a:t>
              </a:r>
            </a:p>
            <a:p>
              <a:pPr algn="l">
                <a:lnSpc>
                  <a:spcPts val="4079"/>
                </a:lnSpc>
              </a:pPr>
              <a:endParaRPr lang="en-US" sz="3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341245" y="6016561"/>
            <a:ext cx="726948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Doctor writes a structured prescription. Patient sees it instantly inside the app.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028700" y="6888604"/>
            <a:ext cx="8797290" cy="1478661"/>
            <a:chOff x="0" y="0"/>
            <a:chExt cx="11729720" cy="1971548"/>
          </a:xfrm>
        </p:grpSpPr>
        <p:sp>
          <p:nvSpPr>
            <p:cNvPr id="45" name="Freeform 45"/>
            <p:cNvSpPr/>
            <p:nvPr/>
          </p:nvSpPr>
          <p:spPr>
            <a:xfrm>
              <a:off x="12700" y="14661"/>
              <a:ext cx="11704320" cy="1942227"/>
            </a:xfrm>
            <a:custGeom>
              <a:avLst/>
              <a:gdLst/>
              <a:ahLst/>
              <a:cxnLst/>
              <a:rect l="l" t="t" r="r" b="b"/>
              <a:pathLst>
                <a:path w="11704320" h="1942227">
                  <a:moveTo>
                    <a:pt x="0" y="0"/>
                  </a:moveTo>
                  <a:lnTo>
                    <a:pt x="11704320" y="0"/>
                  </a:lnTo>
                  <a:lnTo>
                    <a:pt x="11704320" y="1942226"/>
                  </a:lnTo>
                  <a:lnTo>
                    <a:pt x="0" y="19422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1729720" cy="1971548"/>
            </a:xfrm>
            <a:custGeom>
              <a:avLst/>
              <a:gdLst/>
              <a:ahLst/>
              <a:cxnLst/>
              <a:rect l="l" t="t" r="r" b="b"/>
              <a:pathLst>
                <a:path w="11729720" h="1971548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597"/>
                    <a:pt x="11729720" y="14661"/>
                  </a:cubicBezTo>
                  <a:lnTo>
                    <a:pt x="11729720" y="1956887"/>
                  </a:lnTo>
                  <a:cubicBezTo>
                    <a:pt x="11729720" y="1964951"/>
                    <a:pt x="11724005" y="1971548"/>
                    <a:pt x="11717020" y="1971548"/>
                  </a:cubicBezTo>
                  <a:lnTo>
                    <a:pt x="12700" y="1971548"/>
                  </a:lnTo>
                  <a:cubicBezTo>
                    <a:pt x="5715" y="1971548"/>
                    <a:pt x="0" y="1964951"/>
                    <a:pt x="0" y="1956887"/>
                  </a:cubicBezTo>
                  <a:lnTo>
                    <a:pt x="0" y="14661"/>
                  </a:lnTo>
                  <a:cubicBezTo>
                    <a:pt x="0" y="6597"/>
                    <a:pt x="5715" y="0"/>
                    <a:pt x="12700" y="0"/>
                  </a:cubicBezTo>
                  <a:moveTo>
                    <a:pt x="12700" y="29321"/>
                  </a:moveTo>
                  <a:lnTo>
                    <a:pt x="12700" y="14661"/>
                  </a:lnTo>
                  <a:lnTo>
                    <a:pt x="25400" y="14661"/>
                  </a:lnTo>
                  <a:lnTo>
                    <a:pt x="25400" y="1956887"/>
                  </a:lnTo>
                  <a:lnTo>
                    <a:pt x="12700" y="1956887"/>
                  </a:lnTo>
                  <a:lnTo>
                    <a:pt x="12700" y="1942227"/>
                  </a:lnTo>
                  <a:lnTo>
                    <a:pt x="11717020" y="1942227"/>
                  </a:lnTo>
                  <a:lnTo>
                    <a:pt x="11717020" y="1956887"/>
                  </a:lnTo>
                  <a:lnTo>
                    <a:pt x="11704320" y="1956887"/>
                  </a:lnTo>
                  <a:lnTo>
                    <a:pt x="11704320" y="14661"/>
                  </a:lnTo>
                  <a:lnTo>
                    <a:pt x="11717020" y="14661"/>
                  </a:lnTo>
                  <a:lnTo>
                    <a:pt x="11717020" y="29321"/>
                  </a:lnTo>
                  <a:lnTo>
                    <a:pt x="12700" y="2932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371600" y="7176640"/>
            <a:ext cx="704850" cy="704850"/>
            <a:chOff x="0" y="0"/>
            <a:chExt cx="939800" cy="939800"/>
          </a:xfrm>
        </p:grpSpPr>
        <p:sp>
          <p:nvSpPr>
            <p:cNvPr id="48" name="Freeform 48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381125" y="7186165"/>
            <a:ext cx="685800" cy="685800"/>
            <a:chOff x="0" y="0"/>
            <a:chExt cx="914400" cy="914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341245" y="6973074"/>
            <a:ext cx="7269480" cy="1196317"/>
            <a:chOff x="0" y="0"/>
            <a:chExt cx="9692640" cy="159508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692640" cy="1595089"/>
            </a:xfrm>
            <a:custGeom>
              <a:avLst/>
              <a:gdLst/>
              <a:ahLst/>
              <a:cxnLst/>
              <a:rect l="l" t="t" r="r" b="b"/>
              <a:pathLst>
                <a:path w="9692640" h="1595089">
                  <a:moveTo>
                    <a:pt x="0" y="0"/>
                  </a:moveTo>
                  <a:lnTo>
                    <a:pt x="9692640" y="0"/>
                  </a:lnTo>
                  <a:lnTo>
                    <a:pt x="9692640" y="1595089"/>
                  </a:lnTo>
                  <a:lnTo>
                    <a:pt x="0" y="1595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7764" b="-3903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9692640" cy="1661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 paper Rx</a:t>
              </a:r>
            </a:p>
            <a:p>
              <a:pPr algn="l">
                <a:lnSpc>
                  <a:spcPts val="4079"/>
                </a:lnSpc>
              </a:pPr>
              <a:endParaRPr lang="en-US" sz="3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2341245" y="7462390"/>
            <a:ext cx="726948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Old handwritten prescriptions photographed → OCR pipeline extracts medicines and dosages.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57" name="Group 57"/>
          <p:cNvGrpSpPr/>
          <p:nvPr/>
        </p:nvGrpSpPr>
        <p:grpSpPr>
          <a:xfrm>
            <a:off x="1028700" y="8311896"/>
            <a:ext cx="8797290" cy="1484890"/>
            <a:chOff x="0" y="0"/>
            <a:chExt cx="11729720" cy="1979853"/>
          </a:xfrm>
        </p:grpSpPr>
        <p:sp>
          <p:nvSpPr>
            <p:cNvPr id="58" name="Freeform 58"/>
            <p:cNvSpPr/>
            <p:nvPr/>
          </p:nvSpPr>
          <p:spPr>
            <a:xfrm>
              <a:off x="12700" y="14722"/>
              <a:ext cx="11704320" cy="1950408"/>
            </a:xfrm>
            <a:custGeom>
              <a:avLst/>
              <a:gdLst/>
              <a:ahLst/>
              <a:cxnLst/>
              <a:rect l="l" t="t" r="r" b="b"/>
              <a:pathLst>
                <a:path w="11704320" h="1950408">
                  <a:moveTo>
                    <a:pt x="0" y="0"/>
                  </a:moveTo>
                  <a:lnTo>
                    <a:pt x="11704320" y="0"/>
                  </a:lnTo>
                  <a:lnTo>
                    <a:pt x="11704320" y="1950408"/>
                  </a:lnTo>
                  <a:lnTo>
                    <a:pt x="0" y="1950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11729720" cy="1979853"/>
            </a:xfrm>
            <a:custGeom>
              <a:avLst/>
              <a:gdLst/>
              <a:ahLst/>
              <a:cxnLst/>
              <a:rect l="l" t="t" r="r" b="b"/>
              <a:pathLst>
                <a:path w="11729720" h="1979853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625"/>
                    <a:pt x="11729720" y="14722"/>
                  </a:cubicBezTo>
                  <a:lnTo>
                    <a:pt x="11729720" y="1965130"/>
                  </a:lnTo>
                  <a:cubicBezTo>
                    <a:pt x="11729720" y="1973228"/>
                    <a:pt x="11724005" y="1979853"/>
                    <a:pt x="11717020" y="1979853"/>
                  </a:cubicBezTo>
                  <a:lnTo>
                    <a:pt x="12700" y="1979853"/>
                  </a:lnTo>
                  <a:cubicBezTo>
                    <a:pt x="5715" y="1979853"/>
                    <a:pt x="0" y="1973228"/>
                    <a:pt x="0" y="1965130"/>
                  </a:cubicBezTo>
                  <a:lnTo>
                    <a:pt x="0" y="14722"/>
                  </a:lnTo>
                  <a:cubicBezTo>
                    <a:pt x="0" y="6625"/>
                    <a:pt x="5715" y="0"/>
                    <a:pt x="12700" y="0"/>
                  </a:cubicBezTo>
                  <a:moveTo>
                    <a:pt x="12700" y="29445"/>
                  </a:moveTo>
                  <a:lnTo>
                    <a:pt x="12700" y="14722"/>
                  </a:lnTo>
                  <a:lnTo>
                    <a:pt x="25400" y="14722"/>
                  </a:lnTo>
                  <a:lnTo>
                    <a:pt x="25400" y="1965130"/>
                  </a:lnTo>
                  <a:lnTo>
                    <a:pt x="12700" y="1965130"/>
                  </a:lnTo>
                  <a:lnTo>
                    <a:pt x="12700" y="1950408"/>
                  </a:lnTo>
                  <a:lnTo>
                    <a:pt x="11717020" y="1950408"/>
                  </a:lnTo>
                  <a:lnTo>
                    <a:pt x="11717020" y="1965130"/>
                  </a:lnTo>
                  <a:lnTo>
                    <a:pt x="11704320" y="1965130"/>
                  </a:lnTo>
                  <a:lnTo>
                    <a:pt x="11704320" y="14722"/>
                  </a:lnTo>
                  <a:lnTo>
                    <a:pt x="11717020" y="14722"/>
                  </a:lnTo>
                  <a:lnTo>
                    <a:pt x="11717020" y="29445"/>
                  </a:lnTo>
                  <a:lnTo>
                    <a:pt x="12700" y="2944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371600" y="8599932"/>
            <a:ext cx="704850" cy="704850"/>
            <a:chOff x="0" y="0"/>
            <a:chExt cx="939800" cy="939800"/>
          </a:xfrm>
        </p:grpSpPr>
        <p:sp>
          <p:nvSpPr>
            <p:cNvPr id="61" name="Freeform 61"/>
            <p:cNvSpPr/>
            <p:nvPr/>
          </p:nvSpPr>
          <p:spPr>
            <a:xfrm>
              <a:off x="12700" y="127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381125" y="8609457"/>
            <a:ext cx="685800" cy="685800"/>
            <a:chOff x="0" y="0"/>
            <a:chExt cx="914400" cy="914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341245" y="8396109"/>
            <a:ext cx="7269480" cy="1196317"/>
            <a:chOff x="0" y="0"/>
            <a:chExt cx="9692640" cy="159508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692640" cy="1595089"/>
            </a:xfrm>
            <a:custGeom>
              <a:avLst/>
              <a:gdLst/>
              <a:ahLst/>
              <a:cxnLst/>
              <a:rect l="l" t="t" r="r" b="b"/>
              <a:pathLst>
                <a:path w="9692640" h="1595089">
                  <a:moveTo>
                    <a:pt x="0" y="0"/>
                  </a:moveTo>
                  <a:lnTo>
                    <a:pt x="9692640" y="0"/>
                  </a:lnTo>
                  <a:lnTo>
                    <a:pt x="9692640" y="1595089"/>
                  </a:lnTo>
                  <a:lnTo>
                    <a:pt x="0" y="1595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7764" b="-39039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66675"/>
              <a:ext cx="9692640" cy="1661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Follow-up &amp; Chorui</a:t>
              </a:r>
            </a:p>
            <a:p>
              <a:pPr algn="l">
                <a:lnSpc>
                  <a:spcPts val="4079"/>
                </a:lnSpc>
              </a:pPr>
              <a:endParaRPr lang="en-US" sz="3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2341245" y="8885682"/>
            <a:ext cx="726948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Smart reminders, adherence analytics, ask Chorui to navigate or summarise.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70" name="Group 70"/>
          <p:cNvGrpSpPr/>
          <p:nvPr/>
        </p:nvGrpSpPr>
        <p:grpSpPr>
          <a:xfrm>
            <a:off x="10405110" y="2702052"/>
            <a:ext cx="7151370" cy="6945630"/>
            <a:chOff x="0" y="0"/>
            <a:chExt cx="9535160" cy="9260840"/>
          </a:xfrm>
        </p:grpSpPr>
        <p:sp>
          <p:nvSpPr>
            <p:cNvPr id="71" name="Freeform 71"/>
            <p:cNvSpPr/>
            <p:nvPr/>
          </p:nvSpPr>
          <p:spPr>
            <a:xfrm>
              <a:off x="12700" y="12700"/>
              <a:ext cx="9509760" cy="9235440"/>
            </a:xfrm>
            <a:custGeom>
              <a:avLst/>
              <a:gdLst/>
              <a:ahLst/>
              <a:cxnLst/>
              <a:rect l="l" t="t" r="r" b="b"/>
              <a:pathLst>
                <a:path w="9509760" h="9235440">
                  <a:moveTo>
                    <a:pt x="0" y="0"/>
                  </a:moveTo>
                  <a:lnTo>
                    <a:pt x="9509760" y="0"/>
                  </a:lnTo>
                  <a:lnTo>
                    <a:pt x="9509760" y="9235440"/>
                  </a:lnTo>
                  <a:lnTo>
                    <a:pt x="0" y="92354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9535160" cy="9260840"/>
            </a:xfrm>
            <a:custGeom>
              <a:avLst/>
              <a:gdLst/>
              <a:ahLst/>
              <a:cxnLst/>
              <a:rect l="l" t="t" r="r" b="b"/>
              <a:pathLst>
                <a:path w="9535160" h="9260840">
                  <a:moveTo>
                    <a:pt x="12700" y="0"/>
                  </a:moveTo>
                  <a:lnTo>
                    <a:pt x="9522460" y="0"/>
                  </a:lnTo>
                  <a:cubicBezTo>
                    <a:pt x="9529445" y="0"/>
                    <a:pt x="9535160" y="5715"/>
                    <a:pt x="9535160" y="12700"/>
                  </a:cubicBezTo>
                  <a:lnTo>
                    <a:pt x="9535160" y="9248140"/>
                  </a:lnTo>
                  <a:cubicBezTo>
                    <a:pt x="9535160" y="9255125"/>
                    <a:pt x="9529445" y="9260840"/>
                    <a:pt x="9522460" y="9260840"/>
                  </a:cubicBezTo>
                  <a:lnTo>
                    <a:pt x="12700" y="9260840"/>
                  </a:lnTo>
                  <a:cubicBezTo>
                    <a:pt x="5715" y="9260840"/>
                    <a:pt x="0" y="9255125"/>
                    <a:pt x="0" y="9248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48140"/>
                  </a:lnTo>
                  <a:lnTo>
                    <a:pt x="12700" y="9248140"/>
                  </a:lnTo>
                  <a:lnTo>
                    <a:pt x="12700" y="9235440"/>
                  </a:lnTo>
                  <a:lnTo>
                    <a:pt x="9522460" y="9235440"/>
                  </a:lnTo>
                  <a:lnTo>
                    <a:pt x="9522460" y="9248140"/>
                  </a:lnTo>
                  <a:lnTo>
                    <a:pt x="9509760" y="9248140"/>
                  </a:lnTo>
                  <a:lnTo>
                    <a:pt x="9509760" y="12700"/>
                  </a:lnTo>
                  <a:lnTo>
                    <a:pt x="9522460" y="12700"/>
                  </a:lnTo>
                  <a:lnTo>
                    <a:pt x="95224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0767060" y="3086100"/>
            <a:ext cx="685800" cy="685800"/>
            <a:chOff x="0" y="0"/>
            <a:chExt cx="914400" cy="914400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1719560" y="3099435"/>
            <a:ext cx="5486400" cy="822960"/>
            <a:chOff x="0" y="0"/>
            <a:chExt cx="7315200" cy="109728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315200" cy="1097280"/>
            </a:xfrm>
            <a:custGeom>
              <a:avLst/>
              <a:gdLst/>
              <a:ahLst/>
              <a:cxnLst/>
              <a:rect l="l" t="t" r="r" b="b"/>
              <a:pathLst>
                <a:path w="7315200" h="109728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85725"/>
              <a:ext cx="7315200" cy="1183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9"/>
                </a:lnSpc>
              </a:pPr>
              <a:r>
                <a:rPr lang="en-US" sz="35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available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767060" y="3909060"/>
            <a:ext cx="6035040" cy="643532"/>
            <a:chOff x="0" y="0"/>
            <a:chExt cx="8046720" cy="85804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046720" cy="858043"/>
            </a:xfrm>
            <a:custGeom>
              <a:avLst/>
              <a:gdLst/>
              <a:ahLst/>
              <a:cxnLst/>
              <a:rect l="l" t="t" r="r" b="b"/>
              <a:pathLst>
                <a:path w="8046720" h="858043">
                  <a:moveTo>
                    <a:pt x="0" y="0"/>
                  </a:moveTo>
                  <a:lnTo>
                    <a:pt x="8046720" y="0"/>
                  </a:lnTo>
                  <a:lnTo>
                    <a:pt x="8046720" y="858043"/>
                  </a:lnTo>
                  <a:lnTo>
                    <a:pt x="0" y="8580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5431" b="-120029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76200"/>
              <a:ext cx="8046720" cy="93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39"/>
                </a:lnSpc>
              </a:pPr>
              <a:r>
                <a:rPr lang="en-US" sz="3199" i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Before &amp; After Consultation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688955" y="4653915"/>
            <a:ext cx="6570345" cy="1088898"/>
            <a:chOff x="0" y="0"/>
            <a:chExt cx="8760460" cy="1451864"/>
          </a:xfrm>
        </p:grpSpPr>
        <p:sp>
          <p:nvSpPr>
            <p:cNvPr id="82" name="Freeform 82"/>
            <p:cNvSpPr/>
            <p:nvPr/>
          </p:nvSpPr>
          <p:spPr>
            <a:xfrm>
              <a:off x="13478" y="12700"/>
              <a:ext cx="8733505" cy="1426464"/>
            </a:xfrm>
            <a:custGeom>
              <a:avLst/>
              <a:gdLst/>
              <a:ahLst/>
              <a:cxnLst/>
              <a:rect l="l" t="t" r="r" b="b"/>
              <a:pathLst>
                <a:path w="8733505" h="1426464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8760460" cy="1451864"/>
            </a:xfrm>
            <a:custGeom>
              <a:avLst/>
              <a:gdLst/>
              <a:ahLst/>
              <a:cxnLst/>
              <a:rect l="l" t="t" r="r" b="b"/>
              <a:pathLst>
                <a:path w="8760460" h="1451864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10688955" y="4653915"/>
            <a:ext cx="101346" cy="1088898"/>
            <a:chOff x="0" y="0"/>
            <a:chExt cx="135128" cy="1451864"/>
          </a:xfrm>
        </p:grpSpPr>
        <p:sp>
          <p:nvSpPr>
            <p:cNvPr id="85" name="Freeform 85"/>
            <p:cNvSpPr/>
            <p:nvPr/>
          </p:nvSpPr>
          <p:spPr>
            <a:xfrm>
              <a:off x="12700" y="12700"/>
              <a:ext cx="109728" cy="1426464"/>
            </a:xfrm>
            <a:custGeom>
              <a:avLst/>
              <a:gdLst/>
              <a:ahLst/>
              <a:cxnLst/>
              <a:rect l="l" t="t" r="r" b="b"/>
              <a:pathLst>
                <a:path w="109728" h="1426464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135128" cy="1451864"/>
            </a:xfrm>
            <a:custGeom>
              <a:avLst/>
              <a:gdLst/>
              <a:ahLst/>
              <a:cxnLst/>
              <a:rect l="l" t="t" r="r" b="b"/>
              <a:pathLst>
                <a:path w="135128" h="1451864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0972800" y="4773168"/>
            <a:ext cx="5760720" cy="557138"/>
            <a:chOff x="0" y="0"/>
            <a:chExt cx="7680960" cy="74285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680960" cy="742851"/>
            </a:xfrm>
            <a:custGeom>
              <a:avLst/>
              <a:gdLst/>
              <a:ahLst/>
              <a:cxnLst/>
              <a:rect l="l" t="t" r="r" b="b"/>
              <a:pathLst>
                <a:path w="7680960" h="742851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82" b="-140862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Chorui AI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0972800" y="5145405"/>
            <a:ext cx="679734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Ask Personal queries on consent basis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10688955" y="5833491"/>
            <a:ext cx="6570345" cy="1088898"/>
            <a:chOff x="0" y="0"/>
            <a:chExt cx="8760460" cy="1451864"/>
          </a:xfrm>
        </p:grpSpPr>
        <p:sp>
          <p:nvSpPr>
            <p:cNvPr id="92" name="Freeform 92"/>
            <p:cNvSpPr/>
            <p:nvPr/>
          </p:nvSpPr>
          <p:spPr>
            <a:xfrm>
              <a:off x="13478" y="12700"/>
              <a:ext cx="8733505" cy="1426464"/>
            </a:xfrm>
            <a:custGeom>
              <a:avLst/>
              <a:gdLst/>
              <a:ahLst/>
              <a:cxnLst/>
              <a:rect l="l" t="t" r="r" b="b"/>
              <a:pathLst>
                <a:path w="8733505" h="1426464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93" name="Freeform 93"/>
            <p:cNvSpPr/>
            <p:nvPr/>
          </p:nvSpPr>
          <p:spPr>
            <a:xfrm>
              <a:off x="0" y="0"/>
              <a:ext cx="8760460" cy="1451864"/>
            </a:xfrm>
            <a:custGeom>
              <a:avLst/>
              <a:gdLst/>
              <a:ahLst/>
              <a:cxnLst/>
              <a:rect l="l" t="t" r="r" b="b"/>
              <a:pathLst>
                <a:path w="8760460" h="1451864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10688955" y="5833491"/>
            <a:ext cx="101346" cy="1088898"/>
            <a:chOff x="0" y="0"/>
            <a:chExt cx="135128" cy="1451864"/>
          </a:xfrm>
        </p:grpSpPr>
        <p:sp>
          <p:nvSpPr>
            <p:cNvPr id="95" name="Freeform 95"/>
            <p:cNvSpPr/>
            <p:nvPr/>
          </p:nvSpPr>
          <p:spPr>
            <a:xfrm>
              <a:off x="12700" y="12700"/>
              <a:ext cx="109728" cy="1426464"/>
            </a:xfrm>
            <a:custGeom>
              <a:avLst/>
              <a:gdLst/>
              <a:ahLst/>
              <a:cxnLst/>
              <a:rect l="l" t="t" r="r" b="b"/>
              <a:pathLst>
                <a:path w="109728" h="1426464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96" name="Freeform 96"/>
            <p:cNvSpPr/>
            <p:nvPr/>
          </p:nvSpPr>
          <p:spPr>
            <a:xfrm>
              <a:off x="0" y="0"/>
              <a:ext cx="135128" cy="1451864"/>
            </a:xfrm>
            <a:custGeom>
              <a:avLst/>
              <a:gdLst/>
              <a:ahLst/>
              <a:cxnLst/>
              <a:rect l="l" t="t" r="r" b="b"/>
              <a:pathLst>
                <a:path w="135128" h="1451864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10972800" y="5952744"/>
            <a:ext cx="5760720" cy="557138"/>
            <a:chOff x="0" y="0"/>
            <a:chExt cx="7680960" cy="742851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680960" cy="742851"/>
            </a:xfrm>
            <a:custGeom>
              <a:avLst/>
              <a:gdLst/>
              <a:ahLst/>
              <a:cxnLst/>
              <a:rect l="l" t="t" r="r" b="b"/>
              <a:pathLst>
                <a:path w="7680960" h="742851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82" b="-140862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based Health Analytics</a:t>
              </a:r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10972800" y="6324981"/>
            <a:ext cx="679734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Health score based on many health metrics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0688955" y="7013067"/>
            <a:ext cx="6570345" cy="1088898"/>
            <a:chOff x="0" y="0"/>
            <a:chExt cx="8760460" cy="1451864"/>
          </a:xfrm>
        </p:grpSpPr>
        <p:sp>
          <p:nvSpPr>
            <p:cNvPr id="102" name="Freeform 102"/>
            <p:cNvSpPr/>
            <p:nvPr/>
          </p:nvSpPr>
          <p:spPr>
            <a:xfrm>
              <a:off x="13478" y="12700"/>
              <a:ext cx="8733505" cy="1426464"/>
            </a:xfrm>
            <a:custGeom>
              <a:avLst/>
              <a:gdLst/>
              <a:ahLst/>
              <a:cxnLst/>
              <a:rect l="l" t="t" r="r" b="b"/>
              <a:pathLst>
                <a:path w="8733505" h="1426464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8760460" cy="1451864"/>
            </a:xfrm>
            <a:custGeom>
              <a:avLst/>
              <a:gdLst/>
              <a:ahLst/>
              <a:cxnLst/>
              <a:rect l="l" t="t" r="r" b="b"/>
              <a:pathLst>
                <a:path w="8760460" h="1451864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10688955" y="7013067"/>
            <a:ext cx="101346" cy="1088898"/>
            <a:chOff x="0" y="0"/>
            <a:chExt cx="135128" cy="1451864"/>
          </a:xfrm>
        </p:grpSpPr>
        <p:sp>
          <p:nvSpPr>
            <p:cNvPr id="105" name="Freeform 105"/>
            <p:cNvSpPr/>
            <p:nvPr/>
          </p:nvSpPr>
          <p:spPr>
            <a:xfrm>
              <a:off x="12700" y="12700"/>
              <a:ext cx="109728" cy="1426464"/>
            </a:xfrm>
            <a:custGeom>
              <a:avLst/>
              <a:gdLst/>
              <a:ahLst/>
              <a:cxnLst/>
              <a:rect l="l" t="t" r="r" b="b"/>
              <a:pathLst>
                <a:path w="109728" h="1426464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135128" cy="1451864"/>
            </a:xfrm>
            <a:custGeom>
              <a:avLst/>
              <a:gdLst/>
              <a:ahLst/>
              <a:cxnLst/>
              <a:rect l="l" t="t" r="r" b="b"/>
              <a:pathLst>
                <a:path w="135128" h="1451864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0972800" y="7132320"/>
            <a:ext cx="5760720" cy="557138"/>
            <a:chOff x="0" y="0"/>
            <a:chExt cx="7680960" cy="742851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7680960" cy="742851"/>
            </a:xfrm>
            <a:custGeom>
              <a:avLst/>
              <a:gdLst/>
              <a:ahLst/>
              <a:cxnLst/>
              <a:rect l="l" t="t" r="r" b="b"/>
              <a:pathLst>
                <a:path w="7680960" h="742851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82" b="-140862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Based Doctor Searching</a:t>
              </a:r>
            </a:p>
          </p:txBody>
        </p:sp>
      </p:grpSp>
      <p:sp>
        <p:nvSpPr>
          <p:cNvPr id="110" name="TextBox 110"/>
          <p:cNvSpPr txBox="1"/>
          <p:nvPr/>
        </p:nvSpPr>
        <p:spPr>
          <a:xfrm>
            <a:off x="10972800" y="7504557"/>
            <a:ext cx="658368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Voice + Text → Ranked Doctor matching</a:t>
            </a:r>
          </a:p>
        </p:txBody>
      </p:sp>
      <p:grpSp>
        <p:nvGrpSpPr>
          <p:cNvPr id="111" name="Group 111"/>
          <p:cNvGrpSpPr/>
          <p:nvPr/>
        </p:nvGrpSpPr>
        <p:grpSpPr>
          <a:xfrm>
            <a:off x="10688955" y="8192643"/>
            <a:ext cx="6570345" cy="1088898"/>
            <a:chOff x="0" y="0"/>
            <a:chExt cx="8760460" cy="1451864"/>
          </a:xfrm>
        </p:grpSpPr>
        <p:sp>
          <p:nvSpPr>
            <p:cNvPr id="112" name="Freeform 112"/>
            <p:cNvSpPr/>
            <p:nvPr/>
          </p:nvSpPr>
          <p:spPr>
            <a:xfrm>
              <a:off x="13478" y="12700"/>
              <a:ext cx="8733505" cy="1426464"/>
            </a:xfrm>
            <a:custGeom>
              <a:avLst/>
              <a:gdLst/>
              <a:ahLst/>
              <a:cxnLst/>
              <a:rect l="l" t="t" r="r" b="b"/>
              <a:pathLst>
                <a:path w="8733505" h="1426464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113" name="Freeform 113"/>
            <p:cNvSpPr/>
            <p:nvPr/>
          </p:nvSpPr>
          <p:spPr>
            <a:xfrm>
              <a:off x="0" y="0"/>
              <a:ext cx="8760460" cy="1451864"/>
            </a:xfrm>
            <a:custGeom>
              <a:avLst/>
              <a:gdLst/>
              <a:ahLst/>
              <a:cxnLst/>
              <a:rect l="l" t="t" r="r" b="b"/>
              <a:pathLst>
                <a:path w="8760460" h="1451864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14" name="Group 114"/>
          <p:cNvGrpSpPr/>
          <p:nvPr/>
        </p:nvGrpSpPr>
        <p:grpSpPr>
          <a:xfrm>
            <a:off x="10688955" y="8192643"/>
            <a:ext cx="101346" cy="1088898"/>
            <a:chOff x="0" y="0"/>
            <a:chExt cx="135128" cy="1451864"/>
          </a:xfrm>
        </p:grpSpPr>
        <p:sp>
          <p:nvSpPr>
            <p:cNvPr id="115" name="Freeform 115"/>
            <p:cNvSpPr/>
            <p:nvPr/>
          </p:nvSpPr>
          <p:spPr>
            <a:xfrm>
              <a:off x="12700" y="12700"/>
              <a:ext cx="109728" cy="1426464"/>
            </a:xfrm>
            <a:custGeom>
              <a:avLst/>
              <a:gdLst/>
              <a:ahLst/>
              <a:cxnLst/>
              <a:rect l="l" t="t" r="r" b="b"/>
              <a:pathLst>
                <a:path w="109728" h="1426464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116" name="Freeform 116"/>
            <p:cNvSpPr/>
            <p:nvPr/>
          </p:nvSpPr>
          <p:spPr>
            <a:xfrm>
              <a:off x="0" y="0"/>
              <a:ext cx="135128" cy="1451864"/>
            </a:xfrm>
            <a:custGeom>
              <a:avLst/>
              <a:gdLst/>
              <a:ahLst/>
              <a:cxnLst/>
              <a:rect l="l" t="t" r="r" b="b"/>
              <a:pathLst>
                <a:path w="135128" h="1451864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117" name="Group 117"/>
          <p:cNvGrpSpPr/>
          <p:nvPr/>
        </p:nvGrpSpPr>
        <p:grpSpPr>
          <a:xfrm>
            <a:off x="10972800" y="8311896"/>
            <a:ext cx="5760720" cy="557138"/>
            <a:chOff x="0" y="0"/>
            <a:chExt cx="7680960" cy="742851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7680960" cy="742851"/>
            </a:xfrm>
            <a:custGeom>
              <a:avLst/>
              <a:gdLst/>
              <a:ahLst/>
              <a:cxnLst/>
              <a:rect l="l" t="t" r="r" b="b"/>
              <a:pathLst>
                <a:path w="7680960" h="742851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82" b="-140862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 Summarization</a:t>
              </a:r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10972800" y="8684133"/>
            <a:ext cx="775622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Prescription summary in voice+text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122" name="Freeform 122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23" name="Freeform 123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4" name="Group 124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125" name="Group 125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28" name="AutoShape 128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9" name="AutoShape 129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0" name="AutoShape 130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1" name="AutoShape 131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2" name="AutoShape 132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" name="AutoShape 133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4" name="AutoShape 134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5" name="AutoShape 135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6" name="Group 136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66" name="AutoShape 166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78" name="Group 178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81" name="TextBox 181"/>
            <p:cNvSpPr txBox="1"/>
            <p:nvPr/>
          </p:nvSpPr>
          <p:spPr>
            <a:xfrm>
              <a:off x="284113" y="189916"/>
              <a:ext cx="446606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21945600" cy="2095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39"/>
                </a:lnSpc>
              </a:pPr>
              <a:r>
                <a:rPr lang="en-US" sz="7199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Service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48640" y="2011680"/>
            <a:ext cx="8229600" cy="797272"/>
            <a:chOff x="0" y="0"/>
            <a:chExt cx="10972800" cy="10630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72800" cy="1063030"/>
            </a:xfrm>
            <a:custGeom>
              <a:avLst/>
              <a:gdLst/>
              <a:ahLst/>
              <a:cxnLst/>
              <a:rect l="l" t="t" r="r" b="b"/>
              <a:pathLst>
                <a:path w="10972800" h="1063030">
                  <a:moveTo>
                    <a:pt x="0" y="0"/>
                  </a:moveTo>
                  <a:lnTo>
                    <a:pt x="10972800" y="0"/>
                  </a:lnTo>
                  <a:lnTo>
                    <a:pt x="109728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986" b="-141270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0972800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Safety Boundary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2470" y="2907030"/>
            <a:ext cx="3695700" cy="1775460"/>
            <a:chOff x="0" y="0"/>
            <a:chExt cx="4927600" cy="2367280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4876800" cy="2316480"/>
            </a:xfrm>
            <a:custGeom>
              <a:avLst/>
              <a:gdLst/>
              <a:ahLst/>
              <a:cxnLst/>
              <a:rect l="l" t="t" r="r" b="b"/>
              <a:pathLst>
                <a:path w="4876800" h="2316480">
                  <a:moveTo>
                    <a:pt x="0" y="0"/>
                  </a:moveTo>
                  <a:lnTo>
                    <a:pt x="4876800" y="0"/>
                  </a:lnTo>
                  <a:lnTo>
                    <a:pt x="48768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927600" cy="2367280"/>
            </a:xfrm>
            <a:custGeom>
              <a:avLst/>
              <a:gdLst/>
              <a:ahLst/>
              <a:cxnLst/>
              <a:rect l="l" t="t" r="r" b="b"/>
              <a:pathLst>
                <a:path w="4927600" h="236728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341880"/>
                  </a:lnTo>
                  <a:cubicBezTo>
                    <a:pt x="4927600" y="2355850"/>
                    <a:pt x="4916170" y="2367280"/>
                    <a:pt x="490220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4902200" y="2316480"/>
                  </a:lnTo>
                  <a:lnTo>
                    <a:pt x="4902200" y="2341880"/>
                  </a:lnTo>
                  <a:lnTo>
                    <a:pt x="4876800" y="2341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850685" y="3575739"/>
            <a:ext cx="3474720" cy="1062298"/>
            <a:chOff x="0" y="0"/>
            <a:chExt cx="4632960" cy="14163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32960" cy="1416397"/>
            </a:xfrm>
            <a:custGeom>
              <a:avLst/>
              <a:gdLst/>
              <a:ahLst/>
              <a:cxnLst/>
              <a:rect l="l" t="t" r="r" b="b"/>
              <a:pathLst>
                <a:path w="4632960" h="1416397">
                  <a:moveTo>
                    <a:pt x="0" y="0"/>
                  </a:moveTo>
                  <a:lnTo>
                    <a:pt x="4632960" y="0"/>
                  </a:lnTo>
                  <a:lnTo>
                    <a:pt x="4632960" y="1416397"/>
                  </a:lnTo>
                  <a:lnTo>
                    <a:pt x="0" y="14163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99" b="-246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4632960" cy="1483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Tokenization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Policy checks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34917" y="4638037"/>
            <a:ext cx="50797" cy="416557"/>
            <a:chOff x="0" y="0"/>
            <a:chExt cx="67729" cy="555409"/>
          </a:xfrm>
        </p:grpSpPr>
        <p:sp>
          <p:nvSpPr>
            <p:cNvPr id="17" name="Freeform 17"/>
            <p:cNvSpPr/>
            <p:nvPr/>
          </p:nvSpPr>
          <p:spPr>
            <a:xfrm>
              <a:off x="0" y="33909"/>
              <a:ext cx="67691" cy="487680"/>
            </a:xfrm>
            <a:custGeom>
              <a:avLst/>
              <a:gdLst/>
              <a:ahLst/>
              <a:cxnLst/>
              <a:rect l="l" t="t" r="r" b="b"/>
              <a:pathLst>
                <a:path w="67691" h="487680">
                  <a:moveTo>
                    <a:pt x="67691" y="0"/>
                  </a:moveTo>
                  <a:lnTo>
                    <a:pt x="67691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12470" y="5010150"/>
            <a:ext cx="3695700" cy="1775460"/>
            <a:chOff x="0" y="0"/>
            <a:chExt cx="4927600" cy="2367280"/>
          </a:xfrm>
        </p:grpSpPr>
        <p:sp>
          <p:nvSpPr>
            <p:cNvPr id="19" name="Freeform 19"/>
            <p:cNvSpPr/>
            <p:nvPr/>
          </p:nvSpPr>
          <p:spPr>
            <a:xfrm>
              <a:off x="25400" y="25400"/>
              <a:ext cx="4876800" cy="2316480"/>
            </a:xfrm>
            <a:custGeom>
              <a:avLst/>
              <a:gdLst/>
              <a:ahLst/>
              <a:cxnLst/>
              <a:rect l="l" t="t" r="r" b="b"/>
              <a:pathLst>
                <a:path w="4876800" h="2316480">
                  <a:moveTo>
                    <a:pt x="0" y="0"/>
                  </a:moveTo>
                  <a:lnTo>
                    <a:pt x="4876800" y="0"/>
                  </a:lnTo>
                  <a:lnTo>
                    <a:pt x="48768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4927600" cy="2367280"/>
            </a:xfrm>
            <a:custGeom>
              <a:avLst/>
              <a:gdLst/>
              <a:ahLst/>
              <a:cxnLst/>
              <a:rect l="l" t="t" r="r" b="b"/>
              <a:pathLst>
                <a:path w="4927600" h="236728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341880"/>
                  </a:lnTo>
                  <a:cubicBezTo>
                    <a:pt x="4927600" y="2355850"/>
                    <a:pt x="4916170" y="2367280"/>
                    <a:pt x="490220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4902200" y="2316480"/>
                  </a:lnTo>
                  <a:lnTo>
                    <a:pt x="4902200" y="2341880"/>
                  </a:lnTo>
                  <a:lnTo>
                    <a:pt x="4876800" y="2341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22960" y="5066216"/>
            <a:ext cx="3474720" cy="1674941"/>
            <a:chOff x="0" y="0"/>
            <a:chExt cx="4632960" cy="2233255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4632960" cy="1219200"/>
              <a:chOff x="0" y="0"/>
              <a:chExt cx="4632960" cy="1219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63296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4632960" h="121920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4043" b="-24043"/>
                </a:stretch>
              </a:blip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66675"/>
                <a:ext cx="4632960" cy="12858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AI Orchestrator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16858"/>
              <a:ext cx="4632960" cy="1416397"/>
              <a:chOff x="0" y="0"/>
              <a:chExt cx="4632960" cy="141639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632960" cy="1416397"/>
              </a:xfrm>
              <a:custGeom>
                <a:avLst/>
                <a:gdLst/>
                <a:ahLst/>
                <a:cxnLst/>
                <a:rect l="l" t="t" r="r" b="b"/>
                <a:pathLst>
                  <a:path w="4632960" h="1416397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416397"/>
                    </a:lnTo>
                    <a:lnTo>
                      <a:pt x="0" y="14163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4999" b="-2469"/>
                </a:stretch>
              </a:blip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66675"/>
                <a:ext cx="4632960" cy="14830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Adapter registry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Schema validation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2534917" y="6741157"/>
            <a:ext cx="50797" cy="416557"/>
            <a:chOff x="0" y="0"/>
            <a:chExt cx="67729" cy="555409"/>
          </a:xfrm>
        </p:grpSpPr>
        <p:sp>
          <p:nvSpPr>
            <p:cNvPr id="29" name="Freeform 29"/>
            <p:cNvSpPr/>
            <p:nvPr/>
          </p:nvSpPr>
          <p:spPr>
            <a:xfrm>
              <a:off x="0" y="33909"/>
              <a:ext cx="67691" cy="487680"/>
            </a:xfrm>
            <a:custGeom>
              <a:avLst/>
              <a:gdLst/>
              <a:ahLst/>
              <a:cxnLst/>
              <a:rect l="l" t="t" r="r" b="b"/>
              <a:pathLst>
                <a:path w="67691" h="487680">
                  <a:moveTo>
                    <a:pt x="67691" y="0"/>
                  </a:moveTo>
                  <a:lnTo>
                    <a:pt x="67691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12470" y="7113270"/>
            <a:ext cx="3695700" cy="1775460"/>
            <a:chOff x="0" y="0"/>
            <a:chExt cx="4927600" cy="2367280"/>
          </a:xfrm>
        </p:grpSpPr>
        <p:sp>
          <p:nvSpPr>
            <p:cNvPr id="31" name="Freeform 31"/>
            <p:cNvSpPr/>
            <p:nvPr/>
          </p:nvSpPr>
          <p:spPr>
            <a:xfrm>
              <a:off x="25400" y="25400"/>
              <a:ext cx="4876800" cy="2316480"/>
            </a:xfrm>
            <a:custGeom>
              <a:avLst/>
              <a:gdLst/>
              <a:ahLst/>
              <a:cxnLst/>
              <a:rect l="l" t="t" r="r" b="b"/>
              <a:pathLst>
                <a:path w="4876800" h="2316480">
                  <a:moveTo>
                    <a:pt x="0" y="0"/>
                  </a:moveTo>
                  <a:lnTo>
                    <a:pt x="4876800" y="0"/>
                  </a:lnTo>
                  <a:lnTo>
                    <a:pt x="48768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4927600" cy="2367280"/>
            </a:xfrm>
            <a:custGeom>
              <a:avLst/>
              <a:gdLst/>
              <a:ahLst/>
              <a:cxnLst/>
              <a:rect l="l" t="t" r="r" b="b"/>
              <a:pathLst>
                <a:path w="4927600" h="236728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341880"/>
                  </a:lnTo>
                  <a:cubicBezTo>
                    <a:pt x="4927600" y="2355850"/>
                    <a:pt x="4916170" y="2367280"/>
                    <a:pt x="490220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4902200" y="2316480"/>
                  </a:lnTo>
                  <a:lnTo>
                    <a:pt x="4902200" y="2341880"/>
                  </a:lnTo>
                  <a:lnTo>
                    <a:pt x="4876800" y="2341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848354" y="7148976"/>
            <a:ext cx="3474720" cy="1704047"/>
            <a:chOff x="0" y="0"/>
            <a:chExt cx="4632960" cy="227206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4632960" cy="1219200"/>
              <a:chOff x="0" y="0"/>
              <a:chExt cx="4632960" cy="1219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63296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4632960" h="121920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4043" b="-24043"/>
                </a:stretch>
              </a:blip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66675"/>
                <a:ext cx="4632960" cy="12858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Provider Adapters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855666"/>
              <a:ext cx="4632960" cy="1416397"/>
              <a:chOff x="0" y="0"/>
              <a:chExt cx="4632960" cy="141639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632960" cy="1416397"/>
              </a:xfrm>
              <a:custGeom>
                <a:avLst/>
                <a:gdLst/>
                <a:ahLst/>
                <a:cxnLst/>
                <a:rect l="l" t="t" r="r" b="b"/>
                <a:pathLst>
                  <a:path w="4632960" h="1416397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416397"/>
                    </a:lnTo>
                    <a:lnTo>
                      <a:pt x="0" y="14163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4999" b="-2469"/>
                </a:stretch>
              </a:blip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66675"/>
                <a:ext cx="4632960" cy="14830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Groq | Vapi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Cerebras | Azure DI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190487" y="4975860"/>
            <a:ext cx="3147060" cy="1700022"/>
            <a:chOff x="0" y="0"/>
            <a:chExt cx="4196080" cy="2266696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21336"/>
              <a:ext cx="4196080" cy="2245360"/>
              <a:chOff x="0" y="0"/>
              <a:chExt cx="4196080" cy="22453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5400" y="25400"/>
                <a:ext cx="4145280" cy="2194560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219456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43" name="Freeform 43"/>
              <p:cNvSpPr/>
              <p:nvPr/>
            </p:nvSpPr>
            <p:spPr>
              <a:xfrm>
                <a:off x="0" y="0"/>
                <a:ext cx="4196080" cy="2245360"/>
              </a:xfrm>
              <a:custGeom>
                <a:avLst/>
                <a:gdLst/>
                <a:ahLst/>
                <a:cxnLst/>
                <a:rect l="l" t="t" r="r" b="b"/>
                <a:pathLst>
                  <a:path w="4196080" h="2245360">
                    <a:moveTo>
                      <a:pt x="25400" y="0"/>
                    </a:moveTo>
                    <a:lnTo>
                      <a:pt x="4170680" y="0"/>
                    </a:lnTo>
                    <a:cubicBezTo>
                      <a:pt x="4184650" y="0"/>
                      <a:pt x="4196080" y="11430"/>
                      <a:pt x="4196080" y="25400"/>
                    </a:cubicBezTo>
                    <a:lnTo>
                      <a:pt x="4196080" y="2219960"/>
                    </a:lnTo>
                    <a:cubicBezTo>
                      <a:pt x="4196080" y="2233930"/>
                      <a:pt x="4184650" y="2245360"/>
                      <a:pt x="4170680" y="2245360"/>
                    </a:cubicBezTo>
                    <a:lnTo>
                      <a:pt x="25400" y="2245360"/>
                    </a:lnTo>
                    <a:cubicBezTo>
                      <a:pt x="11430" y="2245360"/>
                      <a:pt x="0" y="2233930"/>
                      <a:pt x="0" y="221996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219960"/>
                    </a:lnTo>
                    <a:lnTo>
                      <a:pt x="25400" y="2219960"/>
                    </a:lnTo>
                    <a:lnTo>
                      <a:pt x="25400" y="2194560"/>
                    </a:lnTo>
                    <a:lnTo>
                      <a:pt x="4170680" y="2194560"/>
                    </a:lnTo>
                    <a:lnTo>
                      <a:pt x="4170680" y="2219960"/>
                    </a:lnTo>
                    <a:lnTo>
                      <a:pt x="4145280" y="2219960"/>
                    </a:lnTo>
                    <a:lnTo>
                      <a:pt x="4145280" y="25400"/>
                    </a:lnTo>
                    <a:lnTo>
                      <a:pt x="4170680" y="25400"/>
                    </a:lnTo>
                    <a:lnTo>
                      <a:pt x="417068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0" y="0"/>
              <a:ext cx="4145280" cy="2194560"/>
              <a:chOff x="0" y="0"/>
              <a:chExt cx="4145280" cy="2194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145280" cy="2194560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219456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7925" r="-17925"/>
                </a:stretch>
              </a:blip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66675"/>
                <a:ext cx="4145280" cy="22612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Tables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ai_interactions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chorui_messages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4408170" y="5833867"/>
            <a:ext cx="782317" cy="50797"/>
            <a:chOff x="0" y="0"/>
            <a:chExt cx="1043089" cy="67729"/>
          </a:xfrm>
        </p:grpSpPr>
        <p:sp>
          <p:nvSpPr>
            <p:cNvPr id="48" name="Freeform 48"/>
            <p:cNvSpPr/>
            <p:nvPr/>
          </p:nvSpPr>
          <p:spPr>
            <a:xfrm>
              <a:off x="33909" y="0"/>
              <a:ext cx="975360" cy="67691"/>
            </a:xfrm>
            <a:custGeom>
              <a:avLst/>
              <a:gdLst/>
              <a:ahLst/>
              <a:cxnLst/>
              <a:rect l="l" t="t" r="r" b="b"/>
              <a:pathLst>
                <a:path w="975360" h="67691">
                  <a:moveTo>
                    <a:pt x="0" y="0"/>
                  </a:moveTo>
                  <a:lnTo>
                    <a:pt x="975360" y="0"/>
                  </a:lnTo>
                  <a:lnTo>
                    <a:pt x="97536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9509760" y="2011680"/>
            <a:ext cx="8229600" cy="797272"/>
            <a:chOff x="0" y="0"/>
            <a:chExt cx="10972800" cy="106303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972800" cy="1063030"/>
            </a:xfrm>
            <a:custGeom>
              <a:avLst/>
              <a:gdLst/>
              <a:ahLst/>
              <a:cxnLst/>
              <a:rect l="l" t="t" r="r" b="b"/>
              <a:pathLst>
                <a:path w="10972800" h="1063030">
                  <a:moveTo>
                    <a:pt x="0" y="0"/>
                  </a:moveTo>
                  <a:lnTo>
                    <a:pt x="10972800" y="0"/>
                  </a:lnTo>
                  <a:lnTo>
                    <a:pt x="109728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986" b="-14127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76200"/>
              <a:ext cx="10972800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Chorui Assistant Flow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039350" y="2815590"/>
            <a:ext cx="5158740" cy="1226820"/>
            <a:chOff x="0" y="0"/>
            <a:chExt cx="6878320" cy="1635760"/>
          </a:xfrm>
        </p:grpSpPr>
        <p:sp>
          <p:nvSpPr>
            <p:cNvPr id="53" name="Freeform 53"/>
            <p:cNvSpPr/>
            <p:nvPr/>
          </p:nvSpPr>
          <p:spPr>
            <a:xfrm>
              <a:off x="25400" y="25400"/>
              <a:ext cx="6827520" cy="1584960"/>
            </a:xfrm>
            <a:custGeom>
              <a:avLst/>
              <a:gdLst/>
              <a:ahLst/>
              <a:cxnLst/>
              <a:rect l="l" t="t" r="r" b="b"/>
              <a:pathLst>
                <a:path w="6827520" h="158496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6878320" cy="1635760"/>
            </a:xfrm>
            <a:custGeom>
              <a:avLst/>
              <a:gdLst/>
              <a:ahLst/>
              <a:cxnLst/>
              <a:rect l="l" t="t" r="r" b="b"/>
              <a:pathLst>
                <a:path w="6878320" h="163576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1610360"/>
                  </a:lnTo>
                  <a:cubicBezTo>
                    <a:pt x="6878320" y="1624330"/>
                    <a:pt x="6866889" y="1635760"/>
                    <a:pt x="685292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6852920" y="1584960"/>
                  </a:lnTo>
                  <a:lnTo>
                    <a:pt x="6852920" y="1610360"/>
                  </a:lnTo>
                  <a:lnTo>
                    <a:pt x="6827520" y="161036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0032997" y="2834640"/>
            <a:ext cx="5120640" cy="1188720"/>
            <a:chOff x="0" y="0"/>
            <a:chExt cx="6827520" cy="15849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827520" cy="1584960"/>
            </a:xfrm>
            <a:custGeom>
              <a:avLst/>
              <a:gdLst/>
              <a:ahLst/>
              <a:cxnLst/>
              <a:rect l="l" t="t" r="r" b="b"/>
              <a:pathLst>
                <a:path w="6827520" h="158496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35" b="-33935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682752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Query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593317" y="3997957"/>
            <a:ext cx="50797" cy="361693"/>
            <a:chOff x="0" y="0"/>
            <a:chExt cx="67729" cy="482257"/>
          </a:xfrm>
        </p:grpSpPr>
        <p:sp>
          <p:nvSpPr>
            <p:cNvPr id="59" name="Freeform 59"/>
            <p:cNvSpPr/>
            <p:nvPr/>
          </p:nvSpPr>
          <p:spPr>
            <a:xfrm>
              <a:off x="0" y="33909"/>
              <a:ext cx="67691" cy="414528"/>
            </a:xfrm>
            <a:custGeom>
              <a:avLst/>
              <a:gdLst/>
              <a:ahLst/>
              <a:cxnLst/>
              <a:rect l="l" t="t" r="r" b="b"/>
              <a:pathLst>
                <a:path w="67691" h="414528">
                  <a:moveTo>
                    <a:pt x="67691" y="0"/>
                  </a:moveTo>
                  <a:lnTo>
                    <a:pt x="67691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0039350" y="4315206"/>
            <a:ext cx="5158740" cy="1226820"/>
            <a:chOff x="0" y="0"/>
            <a:chExt cx="6878320" cy="1635760"/>
          </a:xfrm>
        </p:grpSpPr>
        <p:sp>
          <p:nvSpPr>
            <p:cNvPr id="61" name="Freeform 61"/>
            <p:cNvSpPr/>
            <p:nvPr/>
          </p:nvSpPr>
          <p:spPr>
            <a:xfrm>
              <a:off x="25400" y="25400"/>
              <a:ext cx="6827520" cy="1584960"/>
            </a:xfrm>
            <a:custGeom>
              <a:avLst/>
              <a:gdLst/>
              <a:ahLst/>
              <a:cxnLst/>
              <a:rect l="l" t="t" r="r" b="b"/>
              <a:pathLst>
                <a:path w="6827520" h="158496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6878320" cy="1635760"/>
            </a:xfrm>
            <a:custGeom>
              <a:avLst/>
              <a:gdLst/>
              <a:ahLst/>
              <a:cxnLst/>
              <a:rect l="l" t="t" r="r" b="b"/>
              <a:pathLst>
                <a:path w="6878320" h="163576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1610360"/>
                  </a:lnTo>
                  <a:cubicBezTo>
                    <a:pt x="6878320" y="1624330"/>
                    <a:pt x="6866889" y="1635760"/>
                    <a:pt x="685292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6852920" y="1584960"/>
                  </a:lnTo>
                  <a:lnTo>
                    <a:pt x="6852920" y="1610360"/>
                  </a:lnTo>
                  <a:lnTo>
                    <a:pt x="6827520" y="161036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0137772" y="4278698"/>
            <a:ext cx="5120640" cy="1263328"/>
            <a:chOff x="0" y="0"/>
            <a:chExt cx="6827520" cy="1684437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827520" cy="1684437"/>
            </a:xfrm>
            <a:custGeom>
              <a:avLst/>
              <a:gdLst/>
              <a:ahLst/>
              <a:cxnLst/>
              <a:rect l="l" t="t" r="r" b="b"/>
              <a:pathLst>
                <a:path w="6827520" h="1684437">
                  <a:moveTo>
                    <a:pt x="0" y="0"/>
                  </a:moveTo>
                  <a:lnTo>
                    <a:pt x="6827520" y="0"/>
                  </a:lnTo>
                  <a:lnTo>
                    <a:pt x="6827520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31" b="-2602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66675"/>
              <a:ext cx="6827520" cy="1751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Intent Normalizer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(role-aware context)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593317" y="5497573"/>
            <a:ext cx="50797" cy="361693"/>
            <a:chOff x="0" y="0"/>
            <a:chExt cx="67729" cy="482257"/>
          </a:xfrm>
        </p:grpSpPr>
        <p:sp>
          <p:nvSpPr>
            <p:cNvPr id="67" name="Freeform 67"/>
            <p:cNvSpPr/>
            <p:nvPr/>
          </p:nvSpPr>
          <p:spPr>
            <a:xfrm>
              <a:off x="0" y="33909"/>
              <a:ext cx="67691" cy="414528"/>
            </a:xfrm>
            <a:custGeom>
              <a:avLst/>
              <a:gdLst/>
              <a:ahLst/>
              <a:cxnLst/>
              <a:rect l="l" t="t" r="r" b="b"/>
              <a:pathLst>
                <a:path w="67691" h="414528">
                  <a:moveTo>
                    <a:pt x="67691" y="0"/>
                  </a:moveTo>
                  <a:lnTo>
                    <a:pt x="67691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0039350" y="5814822"/>
            <a:ext cx="5158740" cy="1226820"/>
            <a:chOff x="0" y="0"/>
            <a:chExt cx="6878320" cy="1635760"/>
          </a:xfrm>
        </p:grpSpPr>
        <p:sp>
          <p:nvSpPr>
            <p:cNvPr id="69" name="Freeform 69"/>
            <p:cNvSpPr/>
            <p:nvPr/>
          </p:nvSpPr>
          <p:spPr>
            <a:xfrm>
              <a:off x="25400" y="25400"/>
              <a:ext cx="6827520" cy="1584960"/>
            </a:xfrm>
            <a:custGeom>
              <a:avLst/>
              <a:gdLst/>
              <a:ahLst/>
              <a:cxnLst/>
              <a:rect l="l" t="t" r="r" b="b"/>
              <a:pathLst>
                <a:path w="6827520" h="158496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6878320" cy="1635760"/>
            </a:xfrm>
            <a:custGeom>
              <a:avLst/>
              <a:gdLst/>
              <a:ahLst/>
              <a:cxnLst/>
              <a:rect l="l" t="t" r="r" b="b"/>
              <a:pathLst>
                <a:path w="6878320" h="163576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1610360"/>
                  </a:lnTo>
                  <a:cubicBezTo>
                    <a:pt x="6878320" y="1624330"/>
                    <a:pt x="6866889" y="1635760"/>
                    <a:pt x="685292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6852920" y="1584960"/>
                  </a:lnTo>
                  <a:lnTo>
                    <a:pt x="6852920" y="1610360"/>
                  </a:lnTo>
                  <a:lnTo>
                    <a:pt x="6827520" y="161036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0058400" y="5833872"/>
            <a:ext cx="5120640" cy="1263328"/>
            <a:chOff x="0" y="0"/>
            <a:chExt cx="6827520" cy="168443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827520" cy="1684437"/>
            </a:xfrm>
            <a:custGeom>
              <a:avLst/>
              <a:gdLst/>
              <a:ahLst/>
              <a:cxnLst/>
              <a:rect l="l" t="t" r="r" b="b"/>
              <a:pathLst>
                <a:path w="6827520" h="1684437">
                  <a:moveTo>
                    <a:pt x="0" y="0"/>
                  </a:moveTo>
                  <a:lnTo>
                    <a:pt x="6827520" y="0"/>
                  </a:lnTo>
                  <a:lnTo>
                    <a:pt x="6827520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31" b="-26025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66675"/>
              <a:ext cx="6827520" cy="1751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Orchestrator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LLM call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593317" y="6997189"/>
            <a:ext cx="50797" cy="361693"/>
            <a:chOff x="0" y="0"/>
            <a:chExt cx="67729" cy="482257"/>
          </a:xfrm>
        </p:grpSpPr>
        <p:sp>
          <p:nvSpPr>
            <p:cNvPr id="75" name="Freeform 75"/>
            <p:cNvSpPr/>
            <p:nvPr/>
          </p:nvSpPr>
          <p:spPr>
            <a:xfrm>
              <a:off x="0" y="33909"/>
              <a:ext cx="67691" cy="414528"/>
            </a:xfrm>
            <a:custGeom>
              <a:avLst/>
              <a:gdLst/>
              <a:ahLst/>
              <a:cxnLst/>
              <a:rect l="l" t="t" r="r" b="b"/>
              <a:pathLst>
                <a:path w="67691" h="414528">
                  <a:moveTo>
                    <a:pt x="67691" y="0"/>
                  </a:moveTo>
                  <a:lnTo>
                    <a:pt x="67691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10039350" y="7314438"/>
            <a:ext cx="5158740" cy="1226820"/>
            <a:chOff x="0" y="0"/>
            <a:chExt cx="6878320" cy="1635760"/>
          </a:xfrm>
        </p:grpSpPr>
        <p:sp>
          <p:nvSpPr>
            <p:cNvPr id="77" name="Freeform 77"/>
            <p:cNvSpPr/>
            <p:nvPr/>
          </p:nvSpPr>
          <p:spPr>
            <a:xfrm>
              <a:off x="25400" y="25400"/>
              <a:ext cx="6827520" cy="1584960"/>
            </a:xfrm>
            <a:custGeom>
              <a:avLst/>
              <a:gdLst/>
              <a:ahLst/>
              <a:cxnLst/>
              <a:rect l="l" t="t" r="r" b="b"/>
              <a:pathLst>
                <a:path w="6827520" h="158496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78" name="Freeform 78"/>
            <p:cNvSpPr/>
            <p:nvPr/>
          </p:nvSpPr>
          <p:spPr>
            <a:xfrm>
              <a:off x="0" y="0"/>
              <a:ext cx="6878320" cy="1635760"/>
            </a:xfrm>
            <a:custGeom>
              <a:avLst/>
              <a:gdLst/>
              <a:ahLst/>
              <a:cxnLst/>
              <a:rect l="l" t="t" r="r" b="b"/>
              <a:pathLst>
                <a:path w="6878320" h="163576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1610360"/>
                  </a:lnTo>
                  <a:cubicBezTo>
                    <a:pt x="6878320" y="1624330"/>
                    <a:pt x="6866889" y="1635760"/>
                    <a:pt x="685292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6852920" y="1584960"/>
                  </a:lnTo>
                  <a:lnTo>
                    <a:pt x="6852920" y="1610360"/>
                  </a:lnTo>
                  <a:lnTo>
                    <a:pt x="6827520" y="161036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10058400" y="7333488"/>
            <a:ext cx="5120640" cy="1263328"/>
            <a:chOff x="0" y="0"/>
            <a:chExt cx="6827520" cy="1684437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827520" cy="1684437"/>
            </a:xfrm>
            <a:custGeom>
              <a:avLst/>
              <a:gdLst/>
              <a:ahLst/>
              <a:cxnLst/>
              <a:rect l="l" t="t" r="r" b="b"/>
              <a:pathLst>
                <a:path w="6827520" h="1684437">
                  <a:moveTo>
                    <a:pt x="0" y="0"/>
                  </a:moveTo>
                  <a:lnTo>
                    <a:pt x="6827520" y="0"/>
                  </a:lnTo>
                  <a:lnTo>
                    <a:pt x="6827520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31" b="-26025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6827520" cy="17511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Navigation Engine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(confidence gating)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5614647" y="7626096"/>
            <a:ext cx="2402843" cy="1762763"/>
            <a:chOff x="0" y="0"/>
            <a:chExt cx="3203791" cy="2350351"/>
          </a:xfrm>
        </p:grpSpPr>
        <p:grpSp>
          <p:nvGrpSpPr>
            <p:cNvPr id="83" name="Group 83"/>
            <p:cNvGrpSpPr/>
            <p:nvPr/>
          </p:nvGrpSpPr>
          <p:grpSpPr>
            <a:xfrm>
              <a:off x="0" y="0"/>
              <a:ext cx="3203791" cy="2350351"/>
              <a:chOff x="0" y="0"/>
              <a:chExt cx="3203791" cy="2350351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16891" y="16891"/>
                <a:ext cx="3169920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3169920" h="2316480">
                    <a:moveTo>
                      <a:pt x="0" y="0"/>
                    </a:moveTo>
                    <a:lnTo>
                      <a:pt x="3169920" y="0"/>
                    </a:lnTo>
                    <a:lnTo>
                      <a:pt x="316992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85" name="Freeform 85"/>
              <p:cNvSpPr/>
              <p:nvPr/>
            </p:nvSpPr>
            <p:spPr>
              <a:xfrm>
                <a:off x="0" y="0"/>
                <a:ext cx="3203702" cy="2350262"/>
              </a:xfrm>
              <a:custGeom>
                <a:avLst/>
                <a:gdLst/>
                <a:ahLst/>
                <a:cxnLst/>
                <a:rect l="l" t="t" r="r" b="b"/>
                <a:pathLst>
                  <a:path w="3203702" h="2350262">
                    <a:moveTo>
                      <a:pt x="16891" y="0"/>
                    </a:moveTo>
                    <a:lnTo>
                      <a:pt x="3186811" y="0"/>
                    </a:lnTo>
                    <a:cubicBezTo>
                      <a:pt x="3196209" y="0"/>
                      <a:pt x="3203702" y="7620"/>
                      <a:pt x="3203702" y="16891"/>
                    </a:cubicBezTo>
                    <a:lnTo>
                      <a:pt x="3203702" y="2333371"/>
                    </a:lnTo>
                    <a:cubicBezTo>
                      <a:pt x="3203702" y="2342769"/>
                      <a:pt x="3196082" y="2350262"/>
                      <a:pt x="3186811" y="2350262"/>
                    </a:cubicBezTo>
                    <a:lnTo>
                      <a:pt x="16891" y="2350262"/>
                    </a:lnTo>
                    <a:cubicBezTo>
                      <a:pt x="7493" y="2350262"/>
                      <a:pt x="0" y="2342642"/>
                      <a:pt x="0" y="23333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333371"/>
                    </a:lnTo>
                    <a:lnTo>
                      <a:pt x="16891" y="2333371"/>
                    </a:lnTo>
                    <a:lnTo>
                      <a:pt x="16891" y="2316480"/>
                    </a:lnTo>
                    <a:lnTo>
                      <a:pt x="3186811" y="2316480"/>
                    </a:lnTo>
                    <a:lnTo>
                      <a:pt x="3186811" y="2333371"/>
                    </a:lnTo>
                    <a:lnTo>
                      <a:pt x="3169920" y="2333371"/>
                    </a:lnTo>
                    <a:lnTo>
                      <a:pt x="3169920" y="16891"/>
                    </a:lnTo>
                    <a:lnTo>
                      <a:pt x="3186811" y="16891"/>
                    </a:lnTo>
                    <a:lnTo>
                      <a:pt x="31868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6" name="Group 86"/>
            <p:cNvGrpSpPr/>
            <p:nvPr/>
          </p:nvGrpSpPr>
          <p:grpSpPr>
            <a:xfrm>
              <a:off x="16935" y="33871"/>
              <a:ext cx="3169920" cy="2316480"/>
              <a:chOff x="0" y="0"/>
              <a:chExt cx="3169920" cy="231648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3169920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3169920" h="2316480">
                    <a:moveTo>
                      <a:pt x="0" y="0"/>
                    </a:moveTo>
                    <a:lnTo>
                      <a:pt x="3169920" y="0"/>
                    </a:lnTo>
                    <a:lnTo>
                      <a:pt x="316992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3760" r="-43760"/>
                </a:stretch>
              </a:blipFill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0" y="-57150"/>
                <a:ext cx="3169920" cy="23736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High → Navigate</a:t>
                </a:r>
              </a:p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Med → Confirm</a:t>
                </a:r>
              </a:p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Low → Clarify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15198090" y="7877051"/>
            <a:ext cx="416557" cy="50797"/>
            <a:chOff x="0" y="0"/>
            <a:chExt cx="555409" cy="67729"/>
          </a:xfrm>
        </p:grpSpPr>
        <p:sp>
          <p:nvSpPr>
            <p:cNvPr id="90" name="Freeform 90"/>
            <p:cNvSpPr/>
            <p:nvPr/>
          </p:nvSpPr>
          <p:spPr>
            <a:xfrm>
              <a:off x="33909" y="0"/>
              <a:ext cx="487680" cy="67691"/>
            </a:xfrm>
            <a:custGeom>
              <a:avLst/>
              <a:gdLst/>
              <a:ahLst/>
              <a:cxnLst/>
              <a:rect l="l" t="t" r="r" b="b"/>
              <a:pathLst>
                <a:path w="487680" h="67691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92" name="Group 92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95" name="TextBox 95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816514" y="3106080"/>
            <a:ext cx="3508891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Consent + Pll Guard</a:t>
            </a:r>
          </a:p>
        </p:txBody>
      </p:sp>
      <p:sp>
        <p:nvSpPr>
          <p:cNvPr id="98" name="Freeform 98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9" name="AutoShape 99"/>
          <p:cNvSpPr/>
          <p:nvPr/>
        </p:nvSpPr>
        <p:spPr>
          <a:xfrm flipV="1">
            <a:off x="4484092" y="3997957"/>
            <a:ext cx="706395" cy="1929708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>
            <a:off x="4408170" y="5897880"/>
            <a:ext cx="782317" cy="1728216"/>
          </a:xfrm>
          <a:prstGeom prst="line">
            <a:avLst/>
          </a:prstGeom>
          <a:ln w="38100" cap="flat">
            <a:solidFill>
              <a:srgbClr val="004B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1" name="Group 101"/>
          <p:cNvGrpSpPr/>
          <p:nvPr/>
        </p:nvGrpSpPr>
        <p:grpSpPr>
          <a:xfrm>
            <a:off x="5190487" y="6805546"/>
            <a:ext cx="3147060" cy="1976698"/>
            <a:chOff x="0" y="0"/>
            <a:chExt cx="4196080" cy="2635597"/>
          </a:xfrm>
        </p:grpSpPr>
        <p:grpSp>
          <p:nvGrpSpPr>
            <p:cNvPr id="102" name="Group 102"/>
            <p:cNvGrpSpPr/>
            <p:nvPr/>
          </p:nvGrpSpPr>
          <p:grpSpPr>
            <a:xfrm>
              <a:off x="0" y="21336"/>
              <a:ext cx="4196080" cy="2245360"/>
              <a:chOff x="0" y="0"/>
              <a:chExt cx="4196080" cy="224536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25400" y="25400"/>
                <a:ext cx="4145280" cy="2194560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219456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0" y="0"/>
                <a:ext cx="4196080" cy="2245360"/>
              </a:xfrm>
              <a:custGeom>
                <a:avLst/>
                <a:gdLst/>
                <a:ahLst/>
                <a:cxnLst/>
                <a:rect l="l" t="t" r="r" b="b"/>
                <a:pathLst>
                  <a:path w="4196080" h="2245360">
                    <a:moveTo>
                      <a:pt x="25400" y="0"/>
                    </a:moveTo>
                    <a:lnTo>
                      <a:pt x="4170680" y="0"/>
                    </a:lnTo>
                    <a:cubicBezTo>
                      <a:pt x="4184650" y="0"/>
                      <a:pt x="4196080" y="11430"/>
                      <a:pt x="4196080" y="25400"/>
                    </a:cubicBezTo>
                    <a:lnTo>
                      <a:pt x="4196080" y="2219960"/>
                    </a:lnTo>
                    <a:cubicBezTo>
                      <a:pt x="4196080" y="2233930"/>
                      <a:pt x="4184650" y="2245360"/>
                      <a:pt x="4170680" y="2245360"/>
                    </a:cubicBezTo>
                    <a:lnTo>
                      <a:pt x="25400" y="2245360"/>
                    </a:lnTo>
                    <a:cubicBezTo>
                      <a:pt x="11430" y="2245360"/>
                      <a:pt x="0" y="2233930"/>
                      <a:pt x="0" y="221996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219960"/>
                    </a:lnTo>
                    <a:lnTo>
                      <a:pt x="25400" y="2219960"/>
                    </a:lnTo>
                    <a:lnTo>
                      <a:pt x="25400" y="2194560"/>
                    </a:lnTo>
                    <a:lnTo>
                      <a:pt x="4170680" y="2194560"/>
                    </a:lnTo>
                    <a:lnTo>
                      <a:pt x="4170680" y="2219960"/>
                    </a:lnTo>
                    <a:lnTo>
                      <a:pt x="4145280" y="2219960"/>
                    </a:lnTo>
                    <a:lnTo>
                      <a:pt x="4145280" y="25400"/>
                    </a:lnTo>
                    <a:lnTo>
                      <a:pt x="4170680" y="25400"/>
                    </a:lnTo>
                    <a:lnTo>
                      <a:pt x="417068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grpSp>
          <p:nvGrpSpPr>
            <p:cNvPr id="105" name="Group 105"/>
            <p:cNvGrpSpPr/>
            <p:nvPr/>
          </p:nvGrpSpPr>
          <p:grpSpPr>
            <a:xfrm>
              <a:off x="0" y="0"/>
              <a:ext cx="4145280" cy="2635597"/>
              <a:chOff x="0" y="0"/>
              <a:chExt cx="4145280" cy="2635597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4145280" cy="2635597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2635597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635597"/>
                    </a:lnTo>
                    <a:lnTo>
                      <a:pt x="0" y="26355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7925" r="-17925" b="16733"/>
                </a:stretch>
              </a:blip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0" y="-66675"/>
                <a:ext cx="4145280" cy="27022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OCR Service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Navigation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Voice Agent</a:t>
                </a:r>
              </a:p>
              <a:p>
                <a:pPr algn="ctr">
                  <a:lnSpc>
                    <a:spcPts val="3600"/>
                  </a:lnSpc>
                </a:pPr>
                <a:endParaRPr lang="en-US" sz="3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</p:grpSp>
      <p:grpSp>
        <p:nvGrpSpPr>
          <p:cNvPr id="108" name="Group 108"/>
          <p:cNvGrpSpPr/>
          <p:nvPr/>
        </p:nvGrpSpPr>
        <p:grpSpPr>
          <a:xfrm>
            <a:off x="5190487" y="3158490"/>
            <a:ext cx="3147060" cy="1684020"/>
            <a:chOff x="0" y="0"/>
            <a:chExt cx="4196080" cy="2245360"/>
          </a:xfrm>
        </p:grpSpPr>
        <p:sp>
          <p:nvSpPr>
            <p:cNvPr id="109" name="Freeform 109"/>
            <p:cNvSpPr/>
            <p:nvPr/>
          </p:nvSpPr>
          <p:spPr>
            <a:xfrm>
              <a:off x="25400" y="2540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110" name="Freeform 110"/>
            <p:cNvSpPr/>
            <p:nvPr/>
          </p:nvSpPr>
          <p:spPr>
            <a:xfrm>
              <a:off x="0" y="0"/>
              <a:ext cx="4196080" cy="2245360"/>
            </a:xfrm>
            <a:custGeom>
              <a:avLst/>
              <a:gdLst/>
              <a:ahLst/>
              <a:cxnLst/>
              <a:rect l="l" t="t" r="r" b="b"/>
              <a:pathLst>
                <a:path w="4196080" h="224536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219960"/>
                  </a:lnTo>
                  <a:cubicBezTo>
                    <a:pt x="4196080" y="2233930"/>
                    <a:pt x="4184650" y="2245360"/>
                    <a:pt x="417068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4170680" y="2194560"/>
                  </a:lnTo>
                  <a:lnTo>
                    <a:pt x="4170680" y="2219960"/>
                  </a:lnTo>
                  <a:lnTo>
                    <a:pt x="4145280" y="221996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5190487" y="3142488"/>
            <a:ext cx="3108960" cy="1645920"/>
            <a:chOff x="0" y="0"/>
            <a:chExt cx="4145280" cy="219456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4145280" cy="2194560"/>
            </a:xfrm>
            <a:custGeom>
              <a:avLst/>
              <a:gdLst/>
              <a:ahLst/>
              <a:cxnLst/>
              <a:rect l="l" t="t" r="r" b="b"/>
              <a:pathLst>
                <a:path w="4145280" h="219456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r="-17925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66675"/>
              <a:ext cx="4145280" cy="2261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Services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Doctor Search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Chorui AI Assistant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5614647" y="5278879"/>
            <a:ext cx="2402843" cy="1762763"/>
            <a:chOff x="0" y="0"/>
            <a:chExt cx="3203791" cy="2350351"/>
          </a:xfrm>
        </p:grpSpPr>
        <p:grpSp>
          <p:nvGrpSpPr>
            <p:cNvPr id="115" name="Group 115"/>
            <p:cNvGrpSpPr/>
            <p:nvPr/>
          </p:nvGrpSpPr>
          <p:grpSpPr>
            <a:xfrm>
              <a:off x="0" y="0"/>
              <a:ext cx="3203791" cy="2350351"/>
              <a:chOff x="0" y="0"/>
              <a:chExt cx="3203791" cy="2350351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16891" y="16891"/>
                <a:ext cx="3169920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3169920" h="2316480">
                    <a:moveTo>
                      <a:pt x="0" y="0"/>
                    </a:moveTo>
                    <a:lnTo>
                      <a:pt x="3169920" y="0"/>
                    </a:lnTo>
                    <a:lnTo>
                      <a:pt x="316992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0" y="0"/>
                <a:ext cx="3203702" cy="2350262"/>
              </a:xfrm>
              <a:custGeom>
                <a:avLst/>
                <a:gdLst/>
                <a:ahLst/>
                <a:cxnLst/>
                <a:rect l="l" t="t" r="r" b="b"/>
                <a:pathLst>
                  <a:path w="3203702" h="2350262">
                    <a:moveTo>
                      <a:pt x="16891" y="0"/>
                    </a:moveTo>
                    <a:lnTo>
                      <a:pt x="3186811" y="0"/>
                    </a:lnTo>
                    <a:cubicBezTo>
                      <a:pt x="3196209" y="0"/>
                      <a:pt x="3203702" y="7620"/>
                      <a:pt x="3203702" y="16891"/>
                    </a:cubicBezTo>
                    <a:lnTo>
                      <a:pt x="3203702" y="2333371"/>
                    </a:lnTo>
                    <a:cubicBezTo>
                      <a:pt x="3203702" y="2342769"/>
                      <a:pt x="3196082" y="2350262"/>
                      <a:pt x="3186811" y="2350262"/>
                    </a:cubicBezTo>
                    <a:lnTo>
                      <a:pt x="16891" y="2350262"/>
                    </a:lnTo>
                    <a:cubicBezTo>
                      <a:pt x="7493" y="2350262"/>
                      <a:pt x="0" y="2342642"/>
                      <a:pt x="0" y="23333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333371"/>
                    </a:lnTo>
                    <a:lnTo>
                      <a:pt x="16891" y="2333371"/>
                    </a:lnTo>
                    <a:lnTo>
                      <a:pt x="16891" y="2316480"/>
                    </a:lnTo>
                    <a:lnTo>
                      <a:pt x="3186811" y="2316480"/>
                    </a:lnTo>
                    <a:lnTo>
                      <a:pt x="3186811" y="2333371"/>
                    </a:lnTo>
                    <a:lnTo>
                      <a:pt x="3169920" y="2333371"/>
                    </a:lnTo>
                    <a:lnTo>
                      <a:pt x="3169920" y="16891"/>
                    </a:lnTo>
                    <a:lnTo>
                      <a:pt x="3186811" y="16891"/>
                    </a:lnTo>
                    <a:lnTo>
                      <a:pt x="31868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18" name="Group 118"/>
            <p:cNvGrpSpPr/>
            <p:nvPr/>
          </p:nvGrpSpPr>
          <p:grpSpPr>
            <a:xfrm>
              <a:off x="16935" y="33871"/>
              <a:ext cx="3169920" cy="2316480"/>
              <a:chOff x="0" y="0"/>
              <a:chExt cx="3169920" cy="231648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3169920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3169920" h="2316480">
                    <a:moveTo>
                      <a:pt x="0" y="0"/>
                    </a:moveTo>
                    <a:lnTo>
                      <a:pt x="3169920" y="0"/>
                    </a:lnTo>
                    <a:lnTo>
                      <a:pt x="316992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3760" r="-43760"/>
                </a:stretch>
              </a:blip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0" y="-57150"/>
                <a:ext cx="3169920" cy="23736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High → Navigate</a:t>
                </a:r>
              </a:p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Med → Confirm</a:t>
                </a:r>
              </a:p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Low → Clarify</a:t>
                </a:r>
              </a:p>
            </p:txBody>
          </p:sp>
        </p:grpSp>
      </p:grpSp>
      <p:grpSp>
        <p:nvGrpSpPr>
          <p:cNvPr id="121" name="Group 121"/>
          <p:cNvGrpSpPr/>
          <p:nvPr/>
        </p:nvGrpSpPr>
        <p:grpSpPr>
          <a:xfrm>
            <a:off x="15198090" y="6558663"/>
            <a:ext cx="416557" cy="50797"/>
            <a:chOff x="0" y="0"/>
            <a:chExt cx="555409" cy="67729"/>
          </a:xfrm>
        </p:grpSpPr>
        <p:sp>
          <p:nvSpPr>
            <p:cNvPr id="122" name="Freeform 122"/>
            <p:cNvSpPr/>
            <p:nvPr/>
          </p:nvSpPr>
          <p:spPr>
            <a:xfrm>
              <a:off x="33909" y="0"/>
              <a:ext cx="487680" cy="67691"/>
            </a:xfrm>
            <a:custGeom>
              <a:avLst/>
              <a:gdLst/>
              <a:ahLst/>
              <a:cxnLst/>
              <a:rect l="l" t="t" r="r" b="b"/>
              <a:pathLst>
                <a:path w="487680" h="67691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23" name="Group 123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124" name="Group 124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27" name="AutoShape 127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8" name="AutoShape 128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9" name="AutoShape 129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0" name="AutoShape 130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1" name="AutoShape 131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2" name="AutoShape 132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" name="AutoShape 133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4" name="AutoShape 134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49" name="TextBox 14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65" name="AutoShape 165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id="176" name="TextBox 66">
            <a:extLst>
              <a:ext uri="{FF2B5EF4-FFF2-40B4-BE49-F238E27FC236}">
                <a16:creationId xmlns:a16="http://schemas.microsoft.com/office/drawing/2014/main" id="{8D83C453-A340-6F6B-C553-530D77D3D286}"/>
              </a:ext>
            </a:extLst>
          </p:cNvPr>
          <p:cNvSpPr txBox="1"/>
          <p:nvPr/>
        </p:nvSpPr>
        <p:spPr>
          <a:xfrm>
            <a:off x="1828800" y="9120439"/>
            <a:ext cx="5120640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5.5: AI Safety Layer</a:t>
            </a:r>
          </a:p>
        </p:txBody>
      </p:sp>
      <p:sp>
        <p:nvSpPr>
          <p:cNvPr id="177" name="TextBox 66">
            <a:extLst>
              <a:ext uri="{FF2B5EF4-FFF2-40B4-BE49-F238E27FC236}">
                <a16:creationId xmlns:a16="http://schemas.microsoft.com/office/drawing/2014/main" id="{7DFF816F-2691-04C2-D4C0-723D12558FD1}"/>
              </a:ext>
            </a:extLst>
          </p:cNvPr>
          <p:cNvSpPr txBox="1"/>
          <p:nvPr/>
        </p:nvSpPr>
        <p:spPr>
          <a:xfrm>
            <a:off x="10255225" y="9120439"/>
            <a:ext cx="4726952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5.6: </a:t>
            </a:r>
            <a:r>
              <a:rPr lang="en-US" sz="3000" i="1" dirty="0" err="1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Chorui</a:t>
            </a: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AI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7">
            <a:extLst>
              <a:ext uri="{FF2B5EF4-FFF2-40B4-BE49-F238E27FC236}">
                <a16:creationId xmlns:a16="http://schemas.microsoft.com/office/drawing/2014/main" id="{EA507A7C-5519-1C33-F871-A0CBE65B96CD}"/>
              </a:ext>
            </a:extLst>
          </p:cNvPr>
          <p:cNvGrpSpPr/>
          <p:nvPr/>
        </p:nvGrpSpPr>
        <p:grpSpPr>
          <a:xfrm>
            <a:off x="13245082" y="4651921"/>
            <a:ext cx="4008888" cy="587844"/>
            <a:chOff x="0" y="0"/>
            <a:chExt cx="5659120" cy="2976880"/>
          </a:xfrm>
        </p:grpSpPr>
        <p:sp>
          <p:nvSpPr>
            <p:cNvPr id="140" name="Freeform 8">
              <a:extLst>
                <a:ext uri="{FF2B5EF4-FFF2-40B4-BE49-F238E27FC236}">
                  <a16:creationId xmlns:a16="http://schemas.microsoft.com/office/drawing/2014/main" id="{E1E77D29-8502-C70E-6746-A11930949A0F}"/>
                </a:ext>
              </a:extLst>
            </p:cNvPr>
            <p:cNvSpPr/>
            <p:nvPr/>
          </p:nvSpPr>
          <p:spPr>
            <a:xfrm>
              <a:off x="25400" y="2540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41" name="Freeform 9">
              <a:extLst>
                <a:ext uri="{FF2B5EF4-FFF2-40B4-BE49-F238E27FC236}">
                  <a16:creationId xmlns:a16="http://schemas.microsoft.com/office/drawing/2014/main" id="{FDBCB2B7-732A-C4BE-A44B-409C15B3F4C9}"/>
                </a:ext>
              </a:extLst>
            </p:cNvPr>
            <p:cNvSpPr/>
            <p:nvPr/>
          </p:nvSpPr>
          <p:spPr>
            <a:xfrm>
              <a:off x="0" y="0"/>
              <a:ext cx="5659120" cy="2976880"/>
            </a:xfrm>
            <a:custGeom>
              <a:avLst/>
              <a:gdLst/>
              <a:ahLst/>
              <a:cxnLst/>
              <a:rect l="l" t="t" r="r" b="b"/>
              <a:pathLst>
                <a:path w="5659120" h="297688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21945600" cy="2095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39"/>
                </a:lnSpc>
              </a:pPr>
              <a:r>
                <a:rPr lang="en-US" sz="71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Pipeline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12470" y="2175510"/>
            <a:ext cx="4244340" cy="2232660"/>
            <a:chOff x="0" y="0"/>
            <a:chExt cx="5659120" cy="2976880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659120" cy="2976880"/>
            </a:xfrm>
            <a:custGeom>
              <a:avLst/>
              <a:gdLst/>
              <a:ahLst/>
              <a:cxnLst/>
              <a:rect l="l" t="t" r="r" b="b"/>
              <a:pathLst>
                <a:path w="5659120" h="297688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34593" y="2174720"/>
            <a:ext cx="4560610" cy="2789057"/>
            <a:chOff x="-472493" y="-792663"/>
            <a:chExt cx="6080813" cy="37187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r="-1694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-472493" y="-792663"/>
              <a:ext cx="5608320" cy="2992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37760" y="2194560"/>
            <a:ext cx="914400" cy="2194560"/>
            <a:chOff x="0" y="0"/>
            <a:chExt cx="1219200" cy="2926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19200" cy="2926080"/>
            </a:xfrm>
            <a:custGeom>
              <a:avLst/>
              <a:gdLst/>
              <a:ahLst/>
              <a:cxnLst/>
              <a:rect l="l" t="t" r="r" b="b"/>
              <a:pathLst>
                <a:path w="1219200" h="292608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r="-25792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33110" y="2175510"/>
            <a:ext cx="4244340" cy="2232660"/>
            <a:chOff x="0" y="0"/>
            <a:chExt cx="5659120" cy="2976880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5659120" cy="2976880"/>
            </a:xfrm>
            <a:custGeom>
              <a:avLst/>
              <a:gdLst/>
              <a:ahLst/>
              <a:cxnLst/>
              <a:rect l="l" t="t" r="r" b="b"/>
              <a:pathLst>
                <a:path w="5659120" h="297688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852160" y="2194560"/>
            <a:ext cx="4206240" cy="2194560"/>
            <a:chOff x="0" y="0"/>
            <a:chExt cx="5608320" cy="29260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r="-1694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5608320" cy="2992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Normalize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Orientation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Size, Format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0" y="2194560"/>
            <a:ext cx="914400" cy="2194560"/>
            <a:chOff x="0" y="0"/>
            <a:chExt cx="1219200" cy="29260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00" cy="2926080"/>
            </a:xfrm>
            <a:custGeom>
              <a:avLst/>
              <a:gdLst/>
              <a:ahLst/>
              <a:cxnLst/>
              <a:rect l="l" t="t" r="r" b="b"/>
              <a:pathLst>
                <a:path w="1219200" h="292608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r="-25792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53750" y="2175510"/>
            <a:ext cx="4244340" cy="2232660"/>
            <a:chOff x="0" y="0"/>
            <a:chExt cx="5659120" cy="2976880"/>
          </a:xfrm>
        </p:grpSpPr>
        <p:sp>
          <p:nvSpPr>
            <p:cNvPr id="26" name="Freeform 26"/>
            <p:cNvSpPr/>
            <p:nvPr/>
          </p:nvSpPr>
          <p:spPr>
            <a:xfrm>
              <a:off x="25400" y="2540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5659120" cy="2976880"/>
            </a:xfrm>
            <a:custGeom>
              <a:avLst/>
              <a:gdLst/>
              <a:ahLst/>
              <a:cxnLst/>
              <a:rect l="l" t="t" r="r" b="b"/>
              <a:pathLst>
                <a:path w="5659120" h="297688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0972800" y="2194560"/>
            <a:ext cx="4206240" cy="2194560"/>
            <a:chOff x="0" y="0"/>
            <a:chExt cx="5608320" cy="29260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r="-1694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5608320" cy="2992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YOLO ONNX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618720" y="4552950"/>
            <a:ext cx="914400" cy="914400"/>
            <a:chOff x="0" y="0"/>
            <a:chExt cx="121920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14300"/>
              <a:ext cx="1219200" cy="1333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 dirty="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⬇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386060" y="5467350"/>
            <a:ext cx="4244340" cy="2232660"/>
            <a:chOff x="0" y="0"/>
            <a:chExt cx="5659120" cy="2976880"/>
          </a:xfrm>
        </p:grpSpPr>
        <p:sp>
          <p:nvSpPr>
            <p:cNvPr id="35" name="Freeform 35"/>
            <p:cNvSpPr/>
            <p:nvPr/>
          </p:nvSpPr>
          <p:spPr>
            <a:xfrm>
              <a:off x="25400" y="2540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5659120" cy="2976880"/>
            </a:xfrm>
            <a:custGeom>
              <a:avLst/>
              <a:gdLst/>
              <a:ahLst/>
              <a:cxnLst/>
              <a:rect l="l" t="t" r="r" b="b"/>
              <a:pathLst>
                <a:path w="5659120" h="297688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0386060" y="5629275"/>
            <a:ext cx="4206240" cy="2194560"/>
            <a:chOff x="0" y="0"/>
            <a:chExt cx="5608320" cy="29260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r="-1694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5608320" cy="2973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Document Intelligence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Engine</a:t>
              </a:r>
            </a:p>
            <a:p>
              <a:pPr algn="ctr">
                <a:lnSpc>
                  <a:spcPts val="3359"/>
                </a:lnSpc>
              </a:pPr>
              <a:endParaRPr lang="en-US" sz="2799" b="1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20250" y="5505450"/>
            <a:ext cx="914400" cy="2194560"/>
            <a:chOff x="0" y="0"/>
            <a:chExt cx="1219200" cy="29260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19200" cy="2926080"/>
            </a:xfrm>
            <a:custGeom>
              <a:avLst/>
              <a:gdLst/>
              <a:ahLst/>
              <a:cxnLst/>
              <a:rect l="l" t="t" r="r" b="b"/>
              <a:pathLst>
                <a:path w="1219200" h="292608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r="-25792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556885" y="5486400"/>
            <a:ext cx="4244340" cy="2232660"/>
            <a:chOff x="0" y="0"/>
            <a:chExt cx="5659120" cy="2976880"/>
          </a:xfrm>
        </p:grpSpPr>
        <p:sp>
          <p:nvSpPr>
            <p:cNvPr id="44" name="Freeform 44"/>
            <p:cNvSpPr/>
            <p:nvPr/>
          </p:nvSpPr>
          <p:spPr>
            <a:xfrm>
              <a:off x="25400" y="2540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5659120" cy="2976880"/>
            </a:xfrm>
            <a:custGeom>
              <a:avLst/>
              <a:gdLst/>
              <a:ahLst/>
              <a:cxnLst/>
              <a:rect l="l" t="t" r="r" b="b"/>
              <a:pathLst>
                <a:path w="5659120" h="297688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5594985" y="5524500"/>
            <a:ext cx="4206240" cy="2194560"/>
            <a:chOff x="0" y="0"/>
            <a:chExt cx="5608320" cy="29260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r="-1694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5608320" cy="2973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Dosage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Parser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Grammar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760778" y="5486400"/>
            <a:ext cx="914400" cy="2194560"/>
            <a:chOff x="0" y="0"/>
            <a:chExt cx="1219200" cy="29260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19200" cy="2926080"/>
            </a:xfrm>
            <a:custGeom>
              <a:avLst/>
              <a:gdLst/>
              <a:ahLst/>
              <a:cxnLst/>
              <a:rect l="l" t="t" r="r" b="b"/>
              <a:pathLst>
                <a:path w="1219200" h="292608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r="-25792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12470" y="5467350"/>
            <a:ext cx="4244340" cy="2232660"/>
            <a:chOff x="0" y="0"/>
            <a:chExt cx="5659120" cy="2976880"/>
          </a:xfrm>
        </p:grpSpPr>
        <p:sp>
          <p:nvSpPr>
            <p:cNvPr id="53" name="Freeform 53"/>
            <p:cNvSpPr/>
            <p:nvPr/>
          </p:nvSpPr>
          <p:spPr>
            <a:xfrm>
              <a:off x="25400" y="2540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5659120" cy="2976880"/>
            </a:xfrm>
            <a:custGeom>
              <a:avLst/>
              <a:gdLst/>
              <a:ahLst/>
              <a:cxnLst/>
              <a:rect l="l" t="t" r="r" b="b"/>
              <a:pathLst>
                <a:path w="5659120" h="297688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731520" y="5486400"/>
            <a:ext cx="4206240" cy="2194560"/>
            <a:chOff x="0" y="0"/>
            <a:chExt cx="5608320" cy="29260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608320" cy="2926080"/>
            </a:xfrm>
            <a:custGeom>
              <a:avLst/>
              <a:gdLst/>
              <a:ahLst/>
              <a:cxnLst/>
              <a:rect l="l" t="t" r="r" b="b"/>
              <a:pathLst>
                <a:path w="5608320" h="292608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r="-16940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5608320" cy="2973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RapidFuzz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Medicine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Matcher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(≥ 0.7)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5198090" y="5467350"/>
            <a:ext cx="2415540" cy="2232660"/>
            <a:chOff x="0" y="0"/>
            <a:chExt cx="3220720" cy="2976880"/>
          </a:xfrm>
        </p:grpSpPr>
        <p:sp>
          <p:nvSpPr>
            <p:cNvPr id="59" name="Freeform 59"/>
            <p:cNvSpPr/>
            <p:nvPr/>
          </p:nvSpPr>
          <p:spPr>
            <a:xfrm>
              <a:off x="25400" y="25400"/>
              <a:ext cx="3169920" cy="2926080"/>
            </a:xfrm>
            <a:custGeom>
              <a:avLst/>
              <a:gdLst/>
              <a:ahLst/>
              <a:cxnLst/>
              <a:rect l="l" t="t" r="r" b="b"/>
              <a:pathLst>
                <a:path w="3169920" h="2926080">
                  <a:moveTo>
                    <a:pt x="0" y="0"/>
                  </a:moveTo>
                  <a:lnTo>
                    <a:pt x="3169920" y="0"/>
                  </a:lnTo>
                  <a:lnTo>
                    <a:pt x="31699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0" y="0"/>
              <a:ext cx="3220720" cy="2976880"/>
            </a:xfrm>
            <a:custGeom>
              <a:avLst/>
              <a:gdLst/>
              <a:ahLst/>
              <a:cxnLst/>
              <a:rect l="l" t="t" r="r" b="b"/>
              <a:pathLst>
                <a:path w="3220720" h="2976880">
                  <a:moveTo>
                    <a:pt x="25400" y="0"/>
                  </a:moveTo>
                  <a:lnTo>
                    <a:pt x="3195320" y="0"/>
                  </a:lnTo>
                  <a:cubicBezTo>
                    <a:pt x="3209290" y="0"/>
                    <a:pt x="3220720" y="11430"/>
                    <a:pt x="3220720" y="25400"/>
                  </a:cubicBezTo>
                  <a:lnTo>
                    <a:pt x="3220720" y="2951480"/>
                  </a:lnTo>
                  <a:cubicBezTo>
                    <a:pt x="3220720" y="2965450"/>
                    <a:pt x="3209290" y="2976880"/>
                    <a:pt x="31953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3195320" y="2926080"/>
                  </a:lnTo>
                  <a:lnTo>
                    <a:pt x="3195320" y="2951480"/>
                  </a:lnTo>
                  <a:lnTo>
                    <a:pt x="3169920" y="2951480"/>
                  </a:lnTo>
                  <a:lnTo>
                    <a:pt x="3169920" y="25400"/>
                  </a:lnTo>
                  <a:lnTo>
                    <a:pt x="3195320" y="25400"/>
                  </a:lnTo>
                  <a:lnTo>
                    <a:pt x="3195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5249525" y="5467350"/>
            <a:ext cx="2377440" cy="2194560"/>
            <a:chOff x="0" y="0"/>
            <a:chExt cx="3169920" cy="29260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169920" cy="2926080"/>
            </a:xfrm>
            <a:custGeom>
              <a:avLst/>
              <a:gdLst/>
              <a:ahLst/>
              <a:cxnLst/>
              <a:rect l="l" t="t" r="r" b="b"/>
              <a:pathLst>
                <a:path w="3169920" h="2926080">
                  <a:moveTo>
                    <a:pt x="0" y="0"/>
                  </a:moveTo>
                  <a:lnTo>
                    <a:pt x="3169920" y="0"/>
                  </a:lnTo>
                  <a:lnTo>
                    <a:pt x="31699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434" r="-6843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57150"/>
              <a:ext cx="3169920" cy="2983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Structured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478000" y="5467350"/>
            <a:ext cx="914400" cy="2194560"/>
            <a:chOff x="0" y="0"/>
            <a:chExt cx="1219200" cy="2926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19200" cy="2926080"/>
            </a:xfrm>
            <a:custGeom>
              <a:avLst/>
              <a:gdLst/>
              <a:ahLst/>
              <a:cxnLst/>
              <a:rect l="l" t="t" r="r" b="b"/>
              <a:pathLst>
                <a:path w="1219200" h="292608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r="-257928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18823" y="8125463"/>
            <a:ext cx="16850363" cy="1031243"/>
            <a:chOff x="0" y="0"/>
            <a:chExt cx="22467151" cy="1374991"/>
          </a:xfrm>
        </p:grpSpPr>
        <p:sp>
          <p:nvSpPr>
            <p:cNvPr id="68" name="Freeform 68"/>
            <p:cNvSpPr/>
            <p:nvPr/>
          </p:nvSpPr>
          <p:spPr>
            <a:xfrm>
              <a:off x="16891" y="16891"/>
              <a:ext cx="22433280" cy="1341120"/>
            </a:xfrm>
            <a:custGeom>
              <a:avLst/>
              <a:gdLst/>
              <a:ahLst/>
              <a:cxnLst/>
              <a:rect l="l" t="t" r="r" b="b"/>
              <a:pathLst>
                <a:path w="22433280" h="134112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22467063" cy="1374902"/>
            </a:xfrm>
            <a:custGeom>
              <a:avLst/>
              <a:gdLst/>
              <a:ahLst/>
              <a:cxnLst/>
              <a:rect l="l" t="t" r="r" b="b"/>
              <a:pathLst>
                <a:path w="22467063" h="1374902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358011"/>
                  </a:lnTo>
                  <a:cubicBezTo>
                    <a:pt x="22467063" y="1367409"/>
                    <a:pt x="22459443" y="1374902"/>
                    <a:pt x="22450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2450171" y="1341120"/>
                  </a:lnTo>
                  <a:lnTo>
                    <a:pt x="22450171" y="1358011"/>
                  </a:lnTo>
                  <a:lnTo>
                    <a:pt x="22433280" y="13580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914400" y="8138160"/>
            <a:ext cx="16459200" cy="1043248"/>
            <a:chOff x="0" y="0"/>
            <a:chExt cx="21945600" cy="139099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1945600" cy="1390997"/>
            </a:xfrm>
            <a:custGeom>
              <a:avLst/>
              <a:gdLst/>
              <a:ahLst/>
              <a:cxnLst/>
              <a:rect l="l" t="t" r="r" b="b"/>
              <a:pathLst>
                <a:path w="21945600" h="1390997">
                  <a:moveTo>
                    <a:pt x="0" y="0"/>
                  </a:moveTo>
                  <a:lnTo>
                    <a:pt x="21945600" y="0"/>
                  </a:lnTo>
                  <a:lnTo>
                    <a:pt x="21945600" y="1390997"/>
                  </a:lnTo>
                  <a:lnTo>
                    <a:pt x="0" y="1390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206" b="-255620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57150"/>
              <a:ext cx="21945600" cy="14481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 dirty="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thresholds (YOLO confidence, </a:t>
              </a:r>
              <a:r>
                <a:rPr lang="en-US" sz="2999" dirty="0" err="1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IoU</a:t>
              </a:r>
              <a:r>
                <a:rPr lang="en-US" sz="2999" dirty="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suppression, match floor) are environment-configurable  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 dirty="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| Curated 70,000+ entry medicine catalog  |  Bangla + English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74" name="Group 74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79" name="Freeform 79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0" name="Group 80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81" name="Group 81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84" name="AutoShape 84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5" name="AutoShape 85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6" name="AutoShape 86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7" name="AutoShape 87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" name="AutoShape 88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9" name="AutoShape 89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0" name="AutoShape 90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1" name="AutoShape 91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22" name="AutoShape 122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id="133" name="TextBox 66">
            <a:extLst>
              <a:ext uri="{FF2B5EF4-FFF2-40B4-BE49-F238E27FC236}">
                <a16:creationId xmlns:a16="http://schemas.microsoft.com/office/drawing/2014/main" id="{818DCEB9-002D-E55B-6007-BFB694B181D2}"/>
              </a:ext>
            </a:extLst>
          </p:cNvPr>
          <p:cNvSpPr txBox="1"/>
          <p:nvPr/>
        </p:nvSpPr>
        <p:spPr>
          <a:xfrm>
            <a:off x="5300119" y="9323269"/>
            <a:ext cx="7543800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5.6: OCR Pipeline Architecture Simplified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E12D9B2-DBA0-D081-8BB3-487C977A6DC9}"/>
              </a:ext>
            </a:extLst>
          </p:cNvPr>
          <p:cNvSpPr txBox="1"/>
          <p:nvPr/>
        </p:nvSpPr>
        <p:spPr>
          <a:xfrm>
            <a:off x="13245081" y="4638467"/>
            <a:ext cx="4008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Medicine Database (70k+)</a:t>
            </a:r>
            <a:endParaRPr lang="en-001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3291"/>
            <a:ext cx="16459200" cy="1450329"/>
            <a:chOff x="0" y="0"/>
            <a:chExt cx="21945600" cy="19337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2"/>
            </a:xfrm>
            <a:custGeom>
              <a:avLst/>
              <a:gdLst/>
              <a:ahLst/>
              <a:cxnLst/>
              <a:rect l="l" t="t" r="r" b="b"/>
              <a:pathLst>
                <a:path w="21945600" h="1933772">
                  <a:moveTo>
                    <a:pt x="0" y="0"/>
                  </a:moveTo>
                  <a:lnTo>
                    <a:pt x="21945600" y="0"/>
                  </a:lnTo>
                  <a:lnTo>
                    <a:pt x="21945600" y="1933772"/>
                  </a:lnTo>
                  <a:lnTo>
                    <a:pt x="0" y="19337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21945600" cy="20956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39"/>
                </a:lnSpc>
              </a:pPr>
              <a:r>
                <a:rPr lang="en-US" sz="7199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Appointment Booking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9389" y="1738570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346710" y="2175510"/>
            <a:ext cx="3147060" cy="2964180"/>
            <a:chOff x="0" y="0"/>
            <a:chExt cx="4196080" cy="3952240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4145280" cy="3901440"/>
            </a:xfrm>
            <a:custGeom>
              <a:avLst/>
              <a:gdLst/>
              <a:ahLst/>
              <a:cxnLst/>
              <a:rect l="l" t="t" r="r" b="b"/>
              <a:pathLst>
                <a:path w="4145280" h="390144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4196080" cy="3952240"/>
            </a:xfrm>
            <a:custGeom>
              <a:avLst/>
              <a:gdLst/>
              <a:ahLst/>
              <a:cxnLst/>
              <a:rect l="l" t="t" r="r" b="b"/>
              <a:pathLst>
                <a:path w="4196080" h="39522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84810" y="2312229"/>
            <a:ext cx="3108960" cy="2651760"/>
            <a:chOff x="0" y="0"/>
            <a:chExt cx="4145280" cy="353568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145280" cy="1950720"/>
              <a:chOff x="0" y="0"/>
              <a:chExt cx="4145280" cy="195072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145280" cy="1950720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195072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50720"/>
                    </a:lnTo>
                    <a:lnTo>
                      <a:pt x="0" y="1950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0378" r="-10378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66675"/>
                <a:ext cx="4145280" cy="201739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Search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Doctors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1950720"/>
              <a:ext cx="4145280" cy="1584960"/>
              <a:chOff x="0" y="0"/>
              <a:chExt cx="4145280" cy="158496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145280" cy="1584960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158496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960" b="-960"/>
                </a:stretch>
              </a:blip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66675"/>
                <a:ext cx="4145280" cy="16516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specialty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matching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3474720" y="2194560"/>
            <a:ext cx="457200" cy="2926080"/>
            <a:chOff x="0" y="0"/>
            <a:chExt cx="609600" cy="3901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9600" cy="3901440"/>
            </a:xfrm>
            <a:custGeom>
              <a:avLst/>
              <a:gdLst/>
              <a:ahLst/>
              <a:cxnLst/>
              <a:rect l="l" t="t" r="r" b="b"/>
              <a:pathLst>
                <a:path w="609600" h="3901440">
                  <a:moveTo>
                    <a:pt x="0" y="0"/>
                  </a:moveTo>
                  <a:lnTo>
                    <a:pt x="609600" y="0"/>
                  </a:lnTo>
                  <a:lnTo>
                    <a:pt x="609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1142" r="-77114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609600" cy="3977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912870" y="2175510"/>
            <a:ext cx="3147060" cy="2964180"/>
            <a:chOff x="0" y="0"/>
            <a:chExt cx="4196080" cy="3952240"/>
          </a:xfrm>
        </p:grpSpPr>
        <p:sp>
          <p:nvSpPr>
            <p:cNvPr id="21" name="Freeform 21"/>
            <p:cNvSpPr/>
            <p:nvPr/>
          </p:nvSpPr>
          <p:spPr>
            <a:xfrm>
              <a:off x="25400" y="25400"/>
              <a:ext cx="4145280" cy="3901440"/>
            </a:xfrm>
            <a:custGeom>
              <a:avLst/>
              <a:gdLst/>
              <a:ahLst/>
              <a:cxnLst/>
              <a:rect l="l" t="t" r="r" b="b"/>
              <a:pathLst>
                <a:path w="4145280" h="390144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4196080" cy="3952240"/>
            </a:xfrm>
            <a:custGeom>
              <a:avLst/>
              <a:gdLst/>
              <a:ahLst/>
              <a:cxnLst/>
              <a:rect l="l" t="t" r="r" b="b"/>
              <a:pathLst>
                <a:path w="4196080" h="39522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3950970" y="2274130"/>
            <a:ext cx="3108960" cy="2651760"/>
            <a:chOff x="0" y="0"/>
            <a:chExt cx="4145280" cy="353568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4145280" cy="1950720"/>
              <a:chOff x="0" y="0"/>
              <a:chExt cx="4145280" cy="195072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145280" cy="1950720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195072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50720"/>
                    </a:lnTo>
                    <a:lnTo>
                      <a:pt x="0" y="1950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0378" r="-10378"/>
                </a:stretch>
              </a:blip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66675"/>
                <a:ext cx="4145280" cy="201739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Fetch Live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Slots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1950720"/>
              <a:ext cx="4145280" cy="1584960"/>
              <a:chOff x="0" y="0"/>
              <a:chExt cx="4145280" cy="15849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145280" cy="1584960"/>
              </a:xfrm>
              <a:custGeom>
                <a:avLst/>
                <a:gdLst/>
                <a:ahLst/>
                <a:cxnLst/>
                <a:rect l="l" t="t" r="r" b="b"/>
                <a:pathLst>
                  <a:path w="4145280" h="158496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960" b="-960"/>
                </a:stretch>
              </a:blip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66675"/>
                <a:ext cx="4145280" cy="16516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Supabase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Realtime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7021324" y="2136970"/>
            <a:ext cx="457200" cy="2926080"/>
            <a:chOff x="0" y="0"/>
            <a:chExt cx="609600" cy="3901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9600" cy="3901440"/>
            </a:xfrm>
            <a:custGeom>
              <a:avLst/>
              <a:gdLst/>
              <a:ahLst/>
              <a:cxnLst/>
              <a:rect l="l" t="t" r="r" b="b"/>
              <a:pathLst>
                <a:path w="609600" h="3901440">
                  <a:moveTo>
                    <a:pt x="0" y="0"/>
                  </a:moveTo>
                  <a:lnTo>
                    <a:pt x="609600" y="0"/>
                  </a:lnTo>
                  <a:lnTo>
                    <a:pt x="609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1142" r="-77114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609600" cy="3977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79030" y="2175510"/>
            <a:ext cx="3147060" cy="2964180"/>
            <a:chOff x="0" y="0"/>
            <a:chExt cx="4196080" cy="3952240"/>
          </a:xfrm>
        </p:grpSpPr>
        <p:sp>
          <p:nvSpPr>
            <p:cNvPr id="34" name="Freeform 34"/>
            <p:cNvSpPr/>
            <p:nvPr/>
          </p:nvSpPr>
          <p:spPr>
            <a:xfrm>
              <a:off x="25400" y="25400"/>
              <a:ext cx="4145280" cy="3901440"/>
            </a:xfrm>
            <a:custGeom>
              <a:avLst/>
              <a:gdLst/>
              <a:ahLst/>
              <a:cxnLst/>
              <a:rect l="l" t="t" r="r" b="b"/>
              <a:pathLst>
                <a:path w="4145280" h="390144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4196080" cy="3952240"/>
            </a:xfrm>
            <a:custGeom>
              <a:avLst/>
              <a:gdLst/>
              <a:ahLst/>
              <a:cxnLst/>
              <a:rect l="l" t="t" r="r" b="b"/>
              <a:pathLst>
                <a:path w="4196080" h="39522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7498080" y="2286000"/>
            <a:ext cx="3108960" cy="1463040"/>
            <a:chOff x="0" y="0"/>
            <a:chExt cx="4145280" cy="19507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4145280" cy="2036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9"/>
                </a:lnSpc>
              </a:pPr>
              <a:r>
                <a:rPr lang="en-US" sz="3599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</a:t>
              </a:r>
            </a:p>
            <a:p>
              <a:pPr algn="ctr">
                <a:lnSpc>
                  <a:spcPts val="4319"/>
                </a:lnSpc>
              </a:pPr>
              <a:r>
                <a:rPr lang="en-US" sz="3599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 Hold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498080" y="3749040"/>
            <a:ext cx="3108960" cy="1188720"/>
            <a:chOff x="0" y="0"/>
            <a:chExt cx="4145280" cy="15849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145280" cy="1584960"/>
            </a:xfrm>
            <a:custGeom>
              <a:avLst/>
              <a:gdLst/>
              <a:ahLst/>
              <a:cxnLst/>
              <a:rect l="l" t="t" r="r" b="b"/>
              <a:pathLst>
                <a:path w="4145280" h="1584960">
                  <a:moveTo>
                    <a:pt x="0" y="0"/>
                  </a:moveTo>
                  <a:lnTo>
                    <a:pt x="4145280" y="0"/>
                  </a:lnTo>
                  <a:lnTo>
                    <a:pt x="4145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0" b="-96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41452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Temporary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reservation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607040" y="2194560"/>
            <a:ext cx="457200" cy="2926080"/>
            <a:chOff x="0" y="0"/>
            <a:chExt cx="609600" cy="39014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09600" cy="3901440"/>
            </a:xfrm>
            <a:custGeom>
              <a:avLst/>
              <a:gdLst/>
              <a:ahLst/>
              <a:cxnLst/>
              <a:rect l="l" t="t" r="r" b="b"/>
              <a:pathLst>
                <a:path w="609600" h="3901440">
                  <a:moveTo>
                    <a:pt x="0" y="0"/>
                  </a:moveTo>
                  <a:lnTo>
                    <a:pt x="609600" y="0"/>
                  </a:lnTo>
                  <a:lnTo>
                    <a:pt x="609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1142" r="-77114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609600" cy="3977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045190" y="2175510"/>
            <a:ext cx="3147060" cy="2964180"/>
            <a:chOff x="0" y="0"/>
            <a:chExt cx="4196080" cy="3952240"/>
          </a:xfrm>
        </p:grpSpPr>
        <p:sp>
          <p:nvSpPr>
            <p:cNvPr id="46" name="Freeform 46"/>
            <p:cNvSpPr/>
            <p:nvPr/>
          </p:nvSpPr>
          <p:spPr>
            <a:xfrm>
              <a:off x="25400" y="25400"/>
              <a:ext cx="4145280" cy="3901440"/>
            </a:xfrm>
            <a:custGeom>
              <a:avLst/>
              <a:gdLst/>
              <a:ahLst/>
              <a:cxnLst/>
              <a:rect l="l" t="t" r="r" b="b"/>
              <a:pathLst>
                <a:path w="4145280" h="390144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4196080" cy="3952240"/>
            </a:xfrm>
            <a:custGeom>
              <a:avLst/>
              <a:gdLst/>
              <a:ahLst/>
              <a:cxnLst/>
              <a:rect l="l" t="t" r="r" b="b"/>
              <a:pathLst>
                <a:path w="4196080" h="39522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064240" y="2286000"/>
            <a:ext cx="3108960" cy="1463040"/>
            <a:chOff x="0" y="0"/>
            <a:chExt cx="4145280" cy="19507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Commit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Booking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045190" y="3600010"/>
            <a:ext cx="3108960" cy="1519498"/>
            <a:chOff x="0" y="0"/>
            <a:chExt cx="4145280" cy="202599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145280" cy="2025997"/>
            </a:xfrm>
            <a:custGeom>
              <a:avLst/>
              <a:gdLst/>
              <a:ahLst/>
              <a:cxnLst/>
              <a:rect l="l" t="t" r="r" b="b"/>
              <a:pathLst>
                <a:path w="4145280" h="2025997">
                  <a:moveTo>
                    <a:pt x="0" y="0"/>
                  </a:moveTo>
                  <a:lnTo>
                    <a:pt x="4145280" y="0"/>
                  </a:lnTo>
                  <a:lnTo>
                    <a:pt x="4145280" y="2025997"/>
                  </a:lnTo>
                  <a:lnTo>
                    <a:pt x="0" y="2025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1" b="2101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66675"/>
              <a:ext cx="4145280" cy="209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Transactional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 after admin confirmation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173200" y="2194560"/>
            <a:ext cx="457200" cy="2926080"/>
            <a:chOff x="0" y="0"/>
            <a:chExt cx="609600" cy="39014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09600" cy="3901440"/>
            </a:xfrm>
            <a:custGeom>
              <a:avLst/>
              <a:gdLst/>
              <a:ahLst/>
              <a:cxnLst/>
              <a:rect l="l" t="t" r="r" b="b"/>
              <a:pathLst>
                <a:path w="609600" h="3901440">
                  <a:moveTo>
                    <a:pt x="0" y="0"/>
                  </a:moveTo>
                  <a:lnTo>
                    <a:pt x="609600" y="0"/>
                  </a:lnTo>
                  <a:lnTo>
                    <a:pt x="609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1142" r="-77114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76200"/>
              <a:ext cx="609600" cy="3977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611350" y="2175510"/>
            <a:ext cx="3147060" cy="2964180"/>
            <a:chOff x="0" y="0"/>
            <a:chExt cx="4196080" cy="3952240"/>
          </a:xfrm>
        </p:grpSpPr>
        <p:sp>
          <p:nvSpPr>
            <p:cNvPr id="58" name="Freeform 58"/>
            <p:cNvSpPr/>
            <p:nvPr/>
          </p:nvSpPr>
          <p:spPr>
            <a:xfrm>
              <a:off x="25400" y="25400"/>
              <a:ext cx="4145280" cy="3901440"/>
            </a:xfrm>
            <a:custGeom>
              <a:avLst/>
              <a:gdLst/>
              <a:ahLst/>
              <a:cxnLst/>
              <a:rect l="l" t="t" r="r" b="b"/>
              <a:pathLst>
                <a:path w="4145280" h="390144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4196080" cy="3952240"/>
            </a:xfrm>
            <a:custGeom>
              <a:avLst/>
              <a:gdLst/>
              <a:ahLst/>
              <a:cxnLst/>
              <a:rect l="l" t="t" r="r" b="b"/>
              <a:pathLst>
                <a:path w="4196080" h="39522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4630400" y="2286000"/>
            <a:ext cx="3108960" cy="1463040"/>
            <a:chOff x="0" y="0"/>
            <a:chExt cx="4145280" cy="19507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145280" cy="1950720"/>
            </a:xfrm>
            <a:custGeom>
              <a:avLst/>
              <a:gdLst/>
              <a:ahLst/>
              <a:cxnLst/>
              <a:rect l="l" t="t" r="r" b="b"/>
              <a:pathLst>
                <a:path w="4145280" h="195072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Notify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Parties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630400" y="3749040"/>
            <a:ext cx="3108960" cy="1188720"/>
            <a:chOff x="0" y="0"/>
            <a:chExt cx="4145280" cy="15849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145280" cy="1584960"/>
            </a:xfrm>
            <a:custGeom>
              <a:avLst/>
              <a:gdLst/>
              <a:ahLst/>
              <a:cxnLst/>
              <a:rect l="l" t="t" r="r" b="b"/>
              <a:pathLst>
                <a:path w="4145280" h="1584960">
                  <a:moveTo>
                    <a:pt x="0" y="0"/>
                  </a:moveTo>
                  <a:lnTo>
                    <a:pt x="4145280" y="0"/>
                  </a:lnTo>
                  <a:lnTo>
                    <a:pt x="4145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0" b="-960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66675"/>
              <a:ext cx="41452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Push + in-app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66875" y="5383616"/>
            <a:ext cx="16459200" cy="797272"/>
            <a:chOff x="0" y="0"/>
            <a:chExt cx="21945600" cy="106303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1945600" cy="1063030"/>
            </a:xfrm>
            <a:custGeom>
              <a:avLst/>
              <a:gdLst/>
              <a:ahLst/>
              <a:cxnLst/>
              <a:rect l="l" t="t" r="r" b="b"/>
              <a:pathLst>
                <a:path w="21945600" h="1063030">
                  <a:moveTo>
                    <a:pt x="0" y="0"/>
                  </a:moveTo>
                  <a:lnTo>
                    <a:pt x="21945600" y="0"/>
                  </a:lnTo>
                  <a:lnTo>
                    <a:pt x="219456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6380" b="-34813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76200"/>
              <a:ext cx="21945600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Decisions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580777" y="6311035"/>
            <a:ext cx="2759707" cy="3243505"/>
            <a:chOff x="0" y="0"/>
            <a:chExt cx="3679609" cy="4324674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0"/>
              <a:ext cx="3674529" cy="4324674"/>
              <a:chOff x="0" y="0"/>
              <a:chExt cx="3674529" cy="4324674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445" y="22801"/>
                <a:ext cx="3657594" cy="4278953"/>
              </a:xfrm>
              <a:custGeom>
                <a:avLst/>
                <a:gdLst/>
                <a:ahLst/>
                <a:cxnLst/>
                <a:rect l="l" t="t" r="r" b="b"/>
                <a:pathLst>
                  <a:path w="3657594" h="4278953">
                    <a:moveTo>
                      <a:pt x="0" y="0"/>
                    </a:moveTo>
                    <a:lnTo>
                      <a:pt x="3657594" y="0"/>
                    </a:lnTo>
                    <a:lnTo>
                      <a:pt x="3657594" y="4278953"/>
                    </a:lnTo>
                    <a:lnTo>
                      <a:pt x="0" y="4278953"/>
                    </a:lnTo>
                    <a:close/>
                  </a:path>
                </a:pathLst>
              </a:custGeom>
              <a:solidFill>
                <a:srgbClr val="FEF3C7"/>
              </a:solidFill>
            </p:spPr>
          </p:sp>
          <p:sp>
            <p:nvSpPr>
              <p:cNvPr id="72" name="Freeform 72"/>
              <p:cNvSpPr/>
              <p:nvPr/>
            </p:nvSpPr>
            <p:spPr>
              <a:xfrm>
                <a:off x="0" y="0"/>
                <a:ext cx="3674485" cy="4324554"/>
              </a:xfrm>
              <a:custGeom>
                <a:avLst/>
                <a:gdLst/>
                <a:ahLst/>
                <a:cxnLst/>
                <a:rect l="l" t="t" r="r" b="b"/>
                <a:pathLst>
                  <a:path w="3674485" h="4324554">
                    <a:moveTo>
                      <a:pt x="8445" y="0"/>
                    </a:moveTo>
                    <a:lnTo>
                      <a:pt x="3666039" y="0"/>
                    </a:lnTo>
                    <a:cubicBezTo>
                      <a:pt x="3670738" y="0"/>
                      <a:pt x="3674485" y="10286"/>
                      <a:pt x="3674485" y="22801"/>
                    </a:cubicBezTo>
                    <a:lnTo>
                      <a:pt x="3674485" y="4301754"/>
                    </a:lnTo>
                    <a:cubicBezTo>
                      <a:pt x="3674485" y="4314440"/>
                      <a:pt x="3670675" y="4324554"/>
                      <a:pt x="3666039" y="4324554"/>
                    </a:cubicBezTo>
                    <a:lnTo>
                      <a:pt x="8445" y="4324554"/>
                    </a:lnTo>
                    <a:cubicBezTo>
                      <a:pt x="3746" y="4324554"/>
                      <a:pt x="0" y="4314268"/>
                      <a:pt x="0" y="4301754"/>
                    </a:cubicBezTo>
                    <a:lnTo>
                      <a:pt x="0" y="22801"/>
                    </a:lnTo>
                    <a:cubicBezTo>
                      <a:pt x="0" y="10286"/>
                      <a:pt x="3810" y="0"/>
                      <a:pt x="8445" y="0"/>
                    </a:cubicBezTo>
                    <a:moveTo>
                      <a:pt x="8445" y="45772"/>
                    </a:moveTo>
                    <a:lnTo>
                      <a:pt x="8445" y="22801"/>
                    </a:lnTo>
                    <a:lnTo>
                      <a:pt x="16954" y="22801"/>
                    </a:lnTo>
                    <a:lnTo>
                      <a:pt x="16954" y="4301754"/>
                    </a:lnTo>
                    <a:lnTo>
                      <a:pt x="8445" y="4301754"/>
                    </a:lnTo>
                    <a:lnTo>
                      <a:pt x="8445" y="4278953"/>
                    </a:lnTo>
                    <a:lnTo>
                      <a:pt x="3666039" y="4278953"/>
                    </a:lnTo>
                    <a:lnTo>
                      <a:pt x="3666039" y="4301754"/>
                    </a:lnTo>
                    <a:lnTo>
                      <a:pt x="3657594" y="4301754"/>
                    </a:lnTo>
                    <a:lnTo>
                      <a:pt x="3657594" y="22801"/>
                    </a:lnTo>
                    <a:lnTo>
                      <a:pt x="3666039" y="22801"/>
                    </a:lnTo>
                    <a:lnTo>
                      <a:pt x="3666039" y="45772"/>
                    </a:lnTo>
                    <a:lnTo>
                      <a:pt x="8445" y="457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73" name="Group 73"/>
            <p:cNvGrpSpPr/>
            <p:nvPr/>
          </p:nvGrpSpPr>
          <p:grpSpPr>
            <a:xfrm>
              <a:off x="263309" y="0"/>
              <a:ext cx="3416300" cy="1505744"/>
              <a:chOff x="0" y="0"/>
              <a:chExt cx="3416300" cy="1505744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3416300" cy="1505744"/>
              </a:xfrm>
              <a:custGeom>
                <a:avLst/>
                <a:gdLst/>
                <a:ahLst/>
                <a:cxnLst/>
                <a:rect l="l" t="t" r="r" b="b"/>
                <a:pathLst>
                  <a:path w="3416300" h="1505744">
                    <a:moveTo>
                      <a:pt x="0" y="0"/>
                    </a:moveTo>
                    <a:lnTo>
                      <a:pt x="3416300" y="0"/>
                    </a:lnTo>
                    <a:lnTo>
                      <a:pt x="3416300" y="1505744"/>
                    </a:lnTo>
                    <a:lnTo>
                      <a:pt x="0" y="150574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5963" r="-99851" b="-20739"/>
                </a:stretch>
              </a:blipFill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0" y="-57150"/>
                <a:ext cx="3416300" cy="156289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840"/>
                  </a:lnSpc>
                </a:pPr>
                <a:r>
                  <a:rPr lang="en-US" sz="3200" b="1">
                    <a:solidFill>
                      <a:srgbClr val="2563E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AI Doctor Search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263309" y="1360401"/>
              <a:ext cx="3413760" cy="2584797"/>
              <a:chOff x="0" y="0"/>
              <a:chExt cx="3413760" cy="2584797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3413760" cy="2584797"/>
              </a:xfrm>
              <a:custGeom>
                <a:avLst/>
                <a:gdLst/>
                <a:ahLst/>
                <a:cxnLst/>
                <a:rect l="l" t="t" r="r" b="b"/>
                <a:pathLst>
                  <a:path w="3413760" h="2584797">
                    <a:moveTo>
                      <a:pt x="0" y="0"/>
                    </a:moveTo>
                    <a:lnTo>
                      <a:pt x="3413760" y="0"/>
                    </a:lnTo>
                    <a:lnTo>
                      <a:pt x="3413760" y="2584797"/>
                    </a:lnTo>
                    <a:lnTo>
                      <a:pt x="0" y="25847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091" r="-100000" b="13155"/>
                </a:stretch>
              </a:blip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0" y="-57150"/>
                <a:ext cx="3413760" cy="26419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Search Doctor using voice/text queries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3762762" y="6314264"/>
            <a:ext cx="2718149" cy="3246682"/>
            <a:chOff x="0" y="0"/>
            <a:chExt cx="2682240" cy="3203791"/>
          </a:xfrm>
        </p:grpSpPr>
        <p:sp>
          <p:nvSpPr>
            <p:cNvPr id="80" name="Freeform 80"/>
            <p:cNvSpPr/>
            <p:nvPr/>
          </p:nvSpPr>
          <p:spPr>
            <a:xfrm>
              <a:off x="6165" y="16891"/>
              <a:ext cx="2669878" cy="3169920"/>
            </a:xfrm>
            <a:custGeom>
              <a:avLst/>
              <a:gdLst/>
              <a:ahLst/>
              <a:cxnLst/>
              <a:rect l="l" t="t" r="r" b="b"/>
              <a:pathLst>
                <a:path w="2669878" h="3169920">
                  <a:moveTo>
                    <a:pt x="0" y="0"/>
                  </a:moveTo>
                  <a:lnTo>
                    <a:pt x="2669878" y="0"/>
                  </a:lnTo>
                  <a:lnTo>
                    <a:pt x="2669878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2682207" cy="3203702"/>
            </a:xfrm>
            <a:custGeom>
              <a:avLst/>
              <a:gdLst/>
              <a:ahLst/>
              <a:cxnLst/>
              <a:rect l="l" t="t" r="r" b="b"/>
              <a:pathLst>
                <a:path w="2682207" h="3203702">
                  <a:moveTo>
                    <a:pt x="6165" y="0"/>
                  </a:moveTo>
                  <a:lnTo>
                    <a:pt x="2676043" y="0"/>
                  </a:lnTo>
                  <a:cubicBezTo>
                    <a:pt x="2679473" y="0"/>
                    <a:pt x="2682207" y="7620"/>
                    <a:pt x="2682207" y="16891"/>
                  </a:cubicBezTo>
                  <a:lnTo>
                    <a:pt x="2682207" y="3186811"/>
                  </a:lnTo>
                  <a:cubicBezTo>
                    <a:pt x="2682207" y="3196209"/>
                    <a:pt x="2679426" y="3203702"/>
                    <a:pt x="2676043" y="3203702"/>
                  </a:cubicBezTo>
                  <a:lnTo>
                    <a:pt x="6165" y="3203702"/>
                  </a:lnTo>
                  <a:cubicBezTo>
                    <a:pt x="2735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2781" y="0"/>
                    <a:pt x="6165" y="0"/>
                  </a:cubicBezTo>
                  <a:moveTo>
                    <a:pt x="6165" y="33909"/>
                  </a:moveTo>
                  <a:lnTo>
                    <a:pt x="6165" y="16891"/>
                  </a:lnTo>
                  <a:lnTo>
                    <a:pt x="12376" y="16891"/>
                  </a:lnTo>
                  <a:lnTo>
                    <a:pt x="12376" y="3186811"/>
                  </a:lnTo>
                  <a:lnTo>
                    <a:pt x="6165" y="3186811"/>
                  </a:lnTo>
                  <a:lnTo>
                    <a:pt x="6165" y="3169920"/>
                  </a:lnTo>
                  <a:lnTo>
                    <a:pt x="2676043" y="3169920"/>
                  </a:lnTo>
                  <a:lnTo>
                    <a:pt x="2676043" y="3186811"/>
                  </a:lnTo>
                  <a:lnTo>
                    <a:pt x="2669878" y="3186811"/>
                  </a:lnTo>
                  <a:lnTo>
                    <a:pt x="2669878" y="16891"/>
                  </a:lnTo>
                  <a:lnTo>
                    <a:pt x="2676043" y="16891"/>
                  </a:lnTo>
                  <a:lnTo>
                    <a:pt x="2676043" y="33909"/>
                  </a:lnTo>
                  <a:lnTo>
                    <a:pt x="6165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3899922" y="6389555"/>
            <a:ext cx="2560320" cy="1129308"/>
            <a:chOff x="0" y="0"/>
            <a:chExt cx="3413760" cy="150574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413760" cy="1505744"/>
            </a:xfrm>
            <a:custGeom>
              <a:avLst/>
              <a:gdLst/>
              <a:ahLst/>
              <a:cxnLst/>
              <a:rect l="l" t="t" r="r" b="b"/>
              <a:pathLst>
                <a:path w="3413760" h="1505744">
                  <a:moveTo>
                    <a:pt x="0" y="0"/>
                  </a:moveTo>
                  <a:lnTo>
                    <a:pt x="3413760" y="0"/>
                  </a:lnTo>
                  <a:lnTo>
                    <a:pt x="3413760" y="1505744"/>
                  </a:lnTo>
                  <a:lnTo>
                    <a:pt x="0" y="1505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963" r="-100000" b="-20739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57150"/>
              <a:ext cx="3413760" cy="15628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 Broadcast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899922" y="7461699"/>
            <a:ext cx="2355304" cy="1490923"/>
            <a:chOff x="0" y="0"/>
            <a:chExt cx="3140405" cy="1987897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140405" cy="1987897"/>
            </a:xfrm>
            <a:custGeom>
              <a:avLst/>
              <a:gdLst/>
              <a:ahLst/>
              <a:cxnLst/>
              <a:rect l="l" t="t" r="r" b="b"/>
              <a:pathLst>
                <a:path w="3140405" h="1987897">
                  <a:moveTo>
                    <a:pt x="0" y="0"/>
                  </a:moveTo>
                  <a:lnTo>
                    <a:pt x="3140405" y="0"/>
                  </a:lnTo>
                  <a:lnTo>
                    <a:pt x="3140405" y="1987897"/>
                  </a:lnTo>
                  <a:lnTo>
                    <a:pt x="0" y="19878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23" r="-117408" b="-12920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57150"/>
              <a:ext cx="3140405" cy="2045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Supabase channels push slot changes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518045" y="6311035"/>
            <a:ext cx="2678430" cy="3246708"/>
            <a:chOff x="0" y="0"/>
            <a:chExt cx="2643025" cy="3203791"/>
          </a:xfrm>
        </p:grpSpPr>
        <p:sp>
          <p:nvSpPr>
            <p:cNvPr id="89" name="Freeform 89"/>
            <p:cNvSpPr/>
            <p:nvPr/>
          </p:nvSpPr>
          <p:spPr>
            <a:xfrm>
              <a:off x="6075" y="16891"/>
              <a:ext cx="2630843" cy="3169920"/>
            </a:xfrm>
            <a:custGeom>
              <a:avLst/>
              <a:gdLst/>
              <a:ahLst/>
              <a:cxnLst/>
              <a:rect l="l" t="t" r="r" b="b"/>
              <a:pathLst>
                <a:path w="2630843" h="3169920">
                  <a:moveTo>
                    <a:pt x="0" y="0"/>
                  </a:moveTo>
                  <a:lnTo>
                    <a:pt x="2630843" y="0"/>
                  </a:lnTo>
                  <a:lnTo>
                    <a:pt x="2630843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90" name="Freeform 90"/>
            <p:cNvSpPr/>
            <p:nvPr/>
          </p:nvSpPr>
          <p:spPr>
            <a:xfrm>
              <a:off x="0" y="0"/>
              <a:ext cx="2642993" cy="3203702"/>
            </a:xfrm>
            <a:custGeom>
              <a:avLst/>
              <a:gdLst/>
              <a:ahLst/>
              <a:cxnLst/>
              <a:rect l="l" t="t" r="r" b="b"/>
              <a:pathLst>
                <a:path w="2642993" h="3203702">
                  <a:moveTo>
                    <a:pt x="6075" y="0"/>
                  </a:moveTo>
                  <a:lnTo>
                    <a:pt x="2636918" y="0"/>
                  </a:lnTo>
                  <a:cubicBezTo>
                    <a:pt x="2640298" y="0"/>
                    <a:pt x="2642993" y="7620"/>
                    <a:pt x="2642993" y="16891"/>
                  </a:cubicBezTo>
                  <a:lnTo>
                    <a:pt x="2642993" y="3186811"/>
                  </a:lnTo>
                  <a:cubicBezTo>
                    <a:pt x="2642993" y="3196209"/>
                    <a:pt x="2640252" y="3203702"/>
                    <a:pt x="2636918" y="3203702"/>
                  </a:cubicBezTo>
                  <a:lnTo>
                    <a:pt x="6075" y="3203702"/>
                  </a:lnTo>
                  <a:cubicBezTo>
                    <a:pt x="2695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2740" y="0"/>
                    <a:pt x="6075" y="0"/>
                  </a:cubicBezTo>
                  <a:moveTo>
                    <a:pt x="6075" y="33909"/>
                  </a:moveTo>
                  <a:lnTo>
                    <a:pt x="6075" y="16891"/>
                  </a:lnTo>
                  <a:lnTo>
                    <a:pt x="12195" y="16891"/>
                  </a:lnTo>
                  <a:lnTo>
                    <a:pt x="12195" y="3186811"/>
                  </a:lnTo>
                  <a:lnTo>
                    <a:pt x="6075" y="3186811"/>
                  </a:lnTo>
                  <a:lnTo>
                    <a:pt x="6075" y="3169920"/>
                  </a:lnTo>
                  <a:lnTo>
                    <a:pt x="2636918" y="3169920"/>
                  </a:lnTo>
                  <a:lnTo>
                    <a:pt x="2636918" y="3186811"/>
                  </a:lnTo>
                  <a:lnTo>
                    <a:pt x="2630843" y="3186811"/>
                  </a:lnTo>
                  <a:lnTo>
                    <a:pt x="2630843" y="16891"/>
                  </a:lnTo>
                  <a:lnTo>
                    <a:pt x="2636918" y="16891"/>
                  </a:lnTo>
                  <a:lnTo>
                    <a:pt x="2636918" y="33909"/>
                  </a:lnTo>
                  <a:lnTo>
                    <a:pt x="6075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6636155" y="6389555"/>
            <a:ext cx="2560320" cy="1129308"/>
            <a:chOff x="0" y="0"/>
            <a:chExt cx="3413760" cy="1505744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413760" cy="1505744"/>
            </a:xfrm>
            <a:custGeom>
              <a:avLst/>
              <a:gdLst/>
              <a:ahLst/>
              <a:cxnLst/>
              <a:rect l="l" t="t" r="r" b="b"/>
              <a:pathLst>
                <a:path w="3413760" h="1505744">
                  <a:moveTo>
                    <a:pt x="0" y="0"/>
                  </a:moveTo>
                  <a:lnTo>
                    <a:pt x="3413760" y="0"/>
                  </a:lnTo>
                  <a:lnTo>
                    <a:pt x="3413760" y="1505744"/>
                  </a:lnTo>
                  <a:lnTo>
                    <a:pt x="0" y="1505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963" r="-100000" b="-20739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57150"/>
              <a:ext cx="3413760" cy="15628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 dirty="0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Reschedule 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1" dirty="0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589394" y="7518862"/>
            <a:ext cx="2607081" cy="1938598"/>
            <a:chOff x="0" y="0"/>
            <a:chExt cx="3476107" cy="2584797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476107" cy="2584797"/>
            </a:xfrm>
            <a:custGeom>
              <a:avLst/>
              <a:gdLst/>
              <a:ahLst/>
              <a:cxnLst/>
              <a:rect l="l" t="t" r="r" b="b"/>
              <a:pathLst>
                <a:path w="3476107" h="2584797">
                  <a:moveTo>
                    <a:pt x="0" y="0"/>
                  </a:moveTo>
                  <a:lnTo>
                    <a:pt x="3476107" y="0"/>
                  </a:lnTo>
                  <a:lnTo>
                    <a:pt x="3476107" y="2584797"/>
                  </a:lnTo>
                  <a:lnTo>
                    <a:pt x="0" y="2584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91" r="-96412" b="13155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57150"/>
              <a:ext cx="3476107" cy="2641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Bidirectional requests between patient and doctor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98" name="Group 98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01" name="AutoShape 101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" name="AutoShape 102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3" name="AutoShape 103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" name="AutoShape 104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" name="AutoShape 105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6" name="AutoShape 106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7" name="AutoShape 107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8" name="AutoShape 108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39" name="AutoShape 139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51" name="Group 151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54" name="TextBox 154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156" name="Freeform 156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7" name="AutoShape 157"/>
          <p:cNvSpPr/>
          <p:nvPr/>
        </p:nvSpPr>
        <p:spPr>
          <a:xfrm flipV="1">
            <a:off x="385613" y="3619516"/>
            <a:ext cx="3069552" cy="19050"/>
          </a:xfrm>
          <a:prstGeom prst="line">
            <a:avLst/>
          </a:prstGeom>
          <a:ln w="38100" cap="flat">
            <a:solidFill>
              <a:srgbClr val="041F5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8" name="AutoShape 158"/>
          <p:cNvSpPr/>
          <p:nvPr/>
        </p:nvSpPr>
        <p:spPr>
          <a:xfrm>
            <a:off x="3912870" y="3580967"/>
            <a:ext cx="3108454" cy="19043"/>
          </a:xfrm>
          <a:prstGeom prst="line">
            <a:avLst/>
          </a:prstGeom>
          <a:ln w="38100" cap="flat">
            <a:solidFill>
              <a:srgbClr val="041F5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9" name="AutoShape 159"/>
          <p:cNvSpPr/>
          <p:nvPr/>
        </p:nvSpPr>
        <p:spPr>
          <a:xfrm>
            <a:off x="7498080" y="3600010"/>
            <a:ext cx="3108454" cy="0"/>
          </a:xfrm>
          <a:prstGeom prst="line">
            <a:avLst/>
          </a:prstGeom>
          <a:ln w="38100" cap="flat">
            <a:solidFill>
              <a:srgbClr val="041F5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0" name="AutoShape 160"/>
          <p:cNvSpPr/>
          <p:nvPr/>
        </p:nvSpPr>
        <p:spPr>
          <a:xfrm>
            <a:off x="11083796" y="3619517"/>
            <a:ext cx="3108454" cy="0"/>
          </a:xfrm>
          <a:prstGeom prst="line">
            <a:avLst/>
          </a:prstGeom>
          <a:ln w="38100" cap="flat">
            <a:solidFill>
              <a:srgbClr val="041F5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1" name="AutoShape 161"/>
          <p:cNvSpPr/>
          <p:nvPr/>
        </p:nvSpPr>
        <p:spPr>
          <a:xfrm>
            <a:off x="14649450" y="3600467"/>
            <a:ext cx="3108454" cy="0"/>
          </a:xfrm>
          <a:prstGeom prst="line">
            <a:avLst/>
          </a:prstGeom>
          <a:ln w="38100" cap="flat">
            <a:solidFill>
              <a:srgbClr val="041F5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2" name="Group 162"/>
          <p:cNvGrpSpPr/>
          <p:nvPr/>
        </p:nvGrpSpPr>
        <p:grpSpPr>
          <a:xfrm>
            <a:off x="10678565" y="5383616"/>
            <a:ext cx="3048000" cy="797272"/>
            <a:chOff x="0" y="0"/>
            <a:chExt cx="21945600" cy="1063030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21945600" cy="1063030"/>
            </a:xfrm>
            <a:custGeom>
              <a:avLst/>
              <a:gdLst/>
              <a:ahLst/>
              <a:cxnLst/>
              <a:rect l="l" t="t" r="r" b="b"/>
              <a:pathLst>
                <a:path w="21945600" h="1063030">
                  <a:moveTo>
                    <a:pt x="0" y="0"/>
                  </a:moveTo>
                  <a:lnTo>
                    <a:pt x="21945600" y="0"/>
                  </a:lnTo>
                  <a:lnTo>
                    <a:pt x="219456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6380" b="-348133"/>
              </a:stretch>
            </a:blipFill>
          </p:spPr>
        </p:sp>
        <p:sp>
          <p:nvSpPr>
            <p:cNvPr id="164" name="TextBox 164"/>
            <p:cNvSpPr txBox="1"/>
            <p:nvPr/>
          </p:nvSpPr>
          <p:spPr>
            <a:xfrm>
              <a:off x="0" y="-76200"/>
              <a:ext cx="21945600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 b="1" dirty="0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Used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1005777" y="6314238"/>
            <a:ext cx="5316217" cy="3243505"/>
            <a:chOff x="0" y="0"/>
            <a:chExt cx="7088289" cy="4324674"/>
          </a:xfrm>
        </p:grpSpPr>
        <p:grpSp>
          <p:nvGrpSpPr>
            <p:cNvPr id="166" name="Group 166"/>
            <p:cNvGrpSpPr/>
            <p:nvPr/>
          </p:nvGrpSpPr>
          <p:grpSpPr>
            <a:xfrm>
              <a:off x="0" y="0"/>
              <a:ext cx="3674529" cy="4324674"/>
              <a:chOff x="0" y="0"/>
              <a:chExt cx="3674529" cy="4324674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8445" y="22801"/>
                <a:ext cx="3657594" cy="4278953"/>
              </a:xfrm>
              <a:custGeom>
                <a:avLst/>
                <a:gdLst/>
                <a:ahLst/>
                <a:cxnLst/>
                <a:rect l="l" t="t" r="r" b="b"/>
                <a:pathLst>
                  <a:path w="3657594" h="4278953">
                    <a:moveTo>
                      <a:pt x="0" y="0"/>
                    </a:moveTo>
                    <a:lnTo>
                      <a:pt x="3657594" y="0"/>
                    </a:lnTo>
                    <a:lnTo>
                      <a:pt x="3657594" y="4278953"/>
                    </a:lnTo>
                    <a:lnTo>
                      <a:pt x="0" y="4278953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id="168" name="Freeform 168"/>
              <p:cNvSpPr/>
              <p:nvPr/>
            </p:nvSpPr>
            <p:spPr>
              <a:xfrm>
                <a:off x="0" y="0"/>
                <a:ext cx="3674485" cy="4324554"/>
              </a:xfrm>
              <a:custGeom>
                <a:avLst/>
                <a:gdLst/>
                <a:ahLst/>
                <a:cxnLst/>
                <a:rect l="l" t="t" r="r" b="b"/>
                <a:pathLst>
                  <a:path w="3674485" h="4324554">
                    <a:moveTo>
                      <a:pt x="8445" y="0"/>
                    </a:moveTo>
                    <a:lnTo>
                      <a:pt x="3666039" y="0"/>
                    </a:lnTo>
                    <a:cubicBezTo>
                      <a:pt x="3670738" y="0"/>
                      <a:pt x="3674485" y="10286"/>
                      <a:pt x="3674485" y="22801"/>
                    </a:cubicBezTo>
                    <a:lnTo>
                      <a:pt x="3674485" y="4301754"/>
                    </a:lnTo>
                    <a:cubicBezTo>
                      <a:pt x="3674485" y="4314440"/>
                      <a:pt x="3670675" y="4324554"/>
                      <a:pt x="3666039" y="4324554"/>
                    </a:cubicBezTo>
                    <a:lnTo>
                      <a:pt x="8445" y="4324554"/>
                    </a:lnTo>
                    <a:cubicBezTo>
                      <a:pt x="3746" y="4324554"/>
                      <a:pt x="0" y="4314268"/>
                      <a:pt x="0" y="4301754"/>
                    </a:cubicBezTo>
                    <a:lnTo>
                      <a:pt x="0" y="22801"/>
                    </a:lnTo>
                    <a:cubicBezTo>
                      <a:pt x="0" y="10286"/>
                      <a:pt x="3810" y="0"/>
                      <a:pt x="8445" y="0"/>
                    </a:cubicBezTo>
                    <a:moveTo>
                      <a:pt x="8445" y="45772"/>
                    </a:moveTo>
                    <a:lnTo>
                      <a:pt x="8445" y="22801"/>
                    </a:lnTo>
                    <a:lnTo>
                      <a:pt x="16954" y="22801"/>
                    </a:lnTo>
                    <a:lnTo>
                      <a:pt x="16954" y="4301754"/>
                    </a:lnTo>
                    <a:lnTo>
                      <a:pt x="8445" y="4301754"/>
                    </a:lnTo>
                    <a:lnTo>
                      <a:pt x="8445" y="4278953"/>
                    </a:lnTo>
                    <a:lnTo>
                      <a:pt x="3666039" y="4278953"/>
                    </a:lnTo>
                    <a:lnTo>
                      <a:pt x="3666039" y="4301754"/>
                    </a:lnTo>
                    <a:lnTo>
                      <a:pt x="3657594" y="4301754"/>
                    </a:lnTo>
                    <a:lnTo>
                      <a:pt x="3657594" y="22801"/>
                    </a:lnTo>
                    <a:lnTo>
                      <a:pt x="3666039" y="22801"/>
                    </a:lnTo>
                    <a:lnTo>
                      <a:pt x="3666039" y="45772"/>
                    </a:lnTo>
                    <a:lnTo>
                      <a:pt x="8445" y="457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69" name="Group 169"/>
            <p:cNvGrpSpPr/>
            <p:nvPr/>
          </p:nvGrpSpPr>
          <p:grpSpPr>
            <a:xfrm>
              <a:off x="260769" y="65697"/>
              <a:ext cx="6827520" cy="975360"/>
              <a:chOff x="0" y="0"/>
              <a:chExt cx="6827520" cy="97536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6827520" cy="975360"/>
              </a:xfrm>
              <a:custGeom>
                <a:avLst/>
                <a:gdLst/>
                <a:ahLst/>
                <a:cxnLst/>
                <a:rect l="l" t="t" r="r" b="b"/>
                <a:pathLst>
                  <a:path w="6827520" h="97536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86395" b="-86395"/>
                </a:stretch>
              </a:blip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0" y="-57150"/>
                <a:ext cx="6827520" cy="10325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840"/>
                  </a:lnSpc>
                </a:pPr>
                <a:r>
                  <a:rPr lang="en-US" sz="3200" b="1">
                    <a:solidFill>
                      <a:srgbClr val="2563E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Soft Holds</a:t>
                </a: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263309" y="1360401"/>
              <a:ext cx="3413760" cy="2584797"/>
              <a:chOff x="0" y="0"/>
              <a:chExt cx="3413760" cy="258479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3413760" cy="2584797"/>
              </a:xfrm>
              <a:custGeom>
                <a:avLst/>
                <a:gdLst/>
                <a:ahLst/>
                <a:cxnLst/>
                <a:rect l="l" t="t" r="r" b="b"/>
                <a:pathLst>
                  <a:path w="3413760" h="2584797">
                    <a:moveTo>
                      <a:pt x="0" y="0"/>
                    </a:moveTo>
                    <a:lnTo>
                      <a:pt x="3413760" y="0"/>
                    </a:lnTo>
                    <a:lnTo>
                      <a:pt x="3413760" y="2584797"/>
                    </a:lnTo>
                    <a:lnTo>
                      <a:pt x="0" y="25847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091" r="-100000" b="13155"/>
                </a:stretch>
              </a:blip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0" y="-57150"/>
                <a:ext cx="3413760" cy="26419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Temporary reservation prevents race conditions</a:t>
                </a:r>
              </a:p>
            </p:txBody>
          </p:sp>
        </p:grpSp>
      </p:grpSp>
      <p:grpSp>
        <p:nvGrpSpPr>
          <p:cNvPr id="175" name="Group 175"/>
          <p:cNvGrpSpPr/>
          <p:nvPr/>
        </p:nvGrpSpPr>
        <p:grpSpPr>
          <a:xfrm>
            <a:off x="13378583" y="6311035"/>
            <a:ext cx="2755897" cy="3243505"/>
            <a:chOff x="0" y="0"/>
            <a:chExt cx="3674529" cy="4324674"/>
          </a:xfrm>
        </p:grpSpPr>
        <p:grpSp>
          <p:nvGrpSpPr>
            <p:cNvPr id="176" name="Group 176"/>
            <p:cNvGrpSpPr/>
            <p:nvPr/>
          </p:nvGrpSpPr>
          <p:grpSpPr>
            <a:xfrm>
              <a:off x="0" y="0"/>
              <a:ext cx="3674529" cy="4324674"/>
              <a:chOff x="0" y="0"/>
              <a:chExt cx="3674529" cy="4324674"/>
            </a:xfrm>
          </p:grpSpPr>
          <p:sp>
            <p:nvSpPr>
              <p:cNvPr id="177" name="Freeform 177"/>
              <p:cNvSpPr/>
              <p:nvPr/>
            </p:nvSpPr>
            <p:spPr>
              <a:xfrm>
                <a:off x="8445" y="22801"/>
                <a:ext cx="3657594" cy="4278953"/>
              </a:xfrm>
              <a:custGeom>
                <a:avLst/>
                <a:gdLst/>
                <a:ahLst/>
                <a:cxnLst/>
                <a:rect l="l" t="t" r="r" b="b"/>
                <a:pathLst>
                  <a:path w="3657594" h="4278953">
                    <a:moveTo>
                      <a:pt x="0" y="0"/>
                    </a:moveTo>
                    <a:lnTo>
                      <a:pt x="3657594" y="0"/>
                    </a:lnTo>
                    <a:lnTo>
                      <a:pt x="3657594" y="4278953"/>
                    </a:lnTo>
                    <a:lnTo>
                      <a:pt x="0" y="4278953"/>
                    </a:lnTo>
                    <a:close/>
                  </a:path>
                </a:pathLst>
              </a:custGeom>
              <a:solidFill>
                <a:srgbClr val="FEF3C7"/>
              </a:solidFill>
            </p:spPr>
          </p:sp>
          <p:sp>
            <p:nvSpPr>
              <p:cNvPr id="178" name="Freeform 178"/>
              <p:cNvSpPr/>
              <p:nvPr/>
            </p:nvSpPr>
            <p:spPr>
              <a:xfrm>
                <a:off x="0" y="0"/>
                <a:ext cx="3674485" cy="4324554"/>
              </a:xfrm>
              <a:custGeom>
                <a:avLst/>
                <a:gdLst/>
                <a:ahLst/>
                <a:cxnLst/>
                <a:rect l="l" t="t" r="r" b="b"/>
                <a:pathLst>
                  <a:path w="3674485" h="4324554">
                    <a:moveTo>
                      <a:pt x="8445" y="0"/>
                    </a:moveTo>
                    <a:lnTo>
                      <a:pt x="3666039" y="0"/>
                    </a:lnTo>
                    <a:cubicBezTo>
                      <a:pt x="3670738" y="0"/>
                      <a:pt x="3674485" y="10286"/>
                      <a:pt x="3674485" y="22801"/>
                    </a:cubicBezTo>
                    <a:lnTo>
                      <a:pt x="3674485" y="4301754"/>
                    </a:lnTo>
                    <a:cubicBezTo>
                      <a:pt x="3674485" y="4314440"/>
                      <a:pt x="3670675" y="4324554"/>
                      <a:pt x="3666039" y="4324554"/>
                    </a:cubicBezTo>
                    <a:lnTo>
                      <a:pt x="8445" y="4324554"/>
                    </a:lnTo>
                    <a:cubicBezTo>
                      <a:pt x="3746" y="4324554"/>
                      <a:pt x="0" y="4314268"/>
                      <a:pt x="0" y="4301754"/>
                    </a:cubicBezTo>
                    <a:lnTo>
                      <a:pt x="0" y="22801"/>
                    </a:lnTo>
                    <a:cubicBezTo>
                      <a:pt x="0" y="10286"/>
                      <a:pt x="3810" y="0"/>
                      <a:pt x="8445" y="0"/>
                    </a:cubicBezTo>
                    <a:moveTo>
                      <a:pt x="8445" y="45772"/>
                    </a:moveTo>
                    <a:lnTo>
                      <a:pt x="8445" y="22801"/>
                    </a:lnTo>
                    <a:lnTo>
                      <a:pt x="16954" y="22801"/>
                    </a:lnTo>
                    <a:lnTo>
                      <a:pt x="16954" y="4301754"/>
                    </a:lnTo>
                    <a:lnTo>
                      <a:pt x="8445" y="4301754"/>
                    </a:lnTo>
                    <a:lnTo>
                      <a:pt x="8445" y="4278953"/>
                    </a:lnTo>
                    <a:lnTo>
                      <a:pt x="3666039" y="4278953"/>
                    </a:lnTo>
                    <a:lnTo>
                      <a:pt x="3666039" y="4301754"/>
                    </a:lnTo>
                    <a:lnTo>
                      <a:pt x="3657594" y="4301754"/>
                    </a:lnTo>
                    <a:lnTo>
                      <a:pt x="3657594" y="22801"/>
                    </a:lnTo>
                    <a:lnTo>
                      <a:pt x="3666039" y="22801"/>
                    </a:lnTo>
                    <a:lnTo>
                      <a:pt x="3666039" y="45772"/>
                    </a:lnTo>
                    <a:lnTo>
                      <a:pt x="8445" y="457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79" name="Group 179"/>
            <p:cNvGrpSpPr/>
            <p:nvPr/>
          </p:nvGrpSpPr>
          <p:grpSpPr>
            <a:xfrm>
              <a:off x="129115" y="0"/>
              <a:ext cx="3416300" cy="1505744"/>
              <a:chOff x="0" y="0"/>
              <a:chExt cx="3416300" cy="1505744"/>
            </a:xfrm>
          </p:grpSpPr>
          <p:sp>
            <p:nvSpPr>
              <p:cNvPr id="180" name="Freeform 180"/>
              <p:cNvSpPr/>
              <p:nvPr/>
            </p:nvSpPr>
            <p:spPr>
              <a:xfrm>
                <a:off x="0" y="0"/>
                <a:ext cx="3416300" cy="1505744"/>
              </a:xfrm>
              <a:custGeom>
                <a:avLst/>
                <a:gdLst/>
                <a:ahLst/>
                <a:cxnLst/>
                <a:rect l="l" t="t" r="r" b="b"/>
                <a:pathLst>
                  <a:path w="3416300" h="1505744">
                    <a:moveTo>
                      <a:pt x="0" y="0"/>
                    </a:moveTo>
                    <a:lnTo>
                      <a:pt x="3416300" y="0"/>
                    </a:lnTo>
                    <a:lnTo>
                      <a:pt x="3416300" y="1505744"/>
                    </a:lnTo>
                    <a:lnTo>
                      <a:pt x="0" y="150574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5963" r="-99851" b="-20739"/>
                </a:stretch>
              </a:blipFill>
            </p:spPr>
          </p:sp>
          <p:sp>
            <p:nvSpPr>
              <p:cNvPr id="181" name="TextBox 181"/>
              <p:cNvSpPr txBox="1"/>
              <p:nvPr/>
            </p:nvSpPr>
            <p:spPr>
              <a:xfrm>
                <a:off x="0" y="-57150"/>
                <a:ext cx="3416300" cy="156289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840"/>
                  </a:lnSpc>
                </a:pPr>
                <a:r>
                  <a:rPr lang="en-US" sz="3200" b="1" dirty="0">
                    <a:solidFill>
                      <a:srgbClr val="2563E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Conversational voice agent</a:t>
                </a:r>
              </a:p>
            </p:txBody>
          </p:sp>
        </p:grpSp>
        <p:grpSp>
          <p:nvGrpSpPr>
            <p:cNvPr id="182" name="Group 182"/>
            <p:cNvGrpSpPr/>
            <p:nvPr/>
          </p:nvGrpSpPr>
          <p:grpSpPr>
            <a:xfrm>
              <a:off x="129115" y="1505744"/>
              <a:ext cx="3413760" cy="2584797"/>
              <a:chOff x="0" y="0"/>
              <a:chExt cx="3413760" cy="2584797"/>
            </a:xfrm>
          </p:grpSpPr>
          <p:sp>
            <p:nvSpPr>
              <p:cNvPr id="183" name="Freeform 183"/>
              <p:cNvSpPr/>
              <p:nvPr/>
            </p:nvSpPr>
            <p:spPr>
              <a:xfrm>
                <a:off x="0" y="0"/>
                <a:ext cx="3413760" cy="2584797"/>
              </a:xfrm>
              <a:custGeom>
                <a:avLst/>
                <a:gdLst/>
                <a:ahLst/>
                <a:cxnLst/>
                <a:rect l="l" t="t" r="r" b="b"/>
                <a:pathLst>
                  <a:path w="3413760" h="2584797">
                    <a:moveTo>
                      <a:pt x="0" y="0"/>
                    </a:moveTo>
                    <a:lnTo>
                      <a:pt x="3413760" y="0"/>
                    </a:lnTo>
                    <a:lnTo>
                      <a:pt x="3413760" y="2584797"/>
                    </a:lnTo>
                    <a:lnTo>
                      <a:pt x="0" y="25847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091" r="-100000" b="13155"/>
                </a:stretch>
              </a:blipFill>
            </p:spPr>
          </p:sp>
          <p:sp>
            <p:nvSpPr>
              <p:cNvPr id="184" name="TextBox 184"/>
              <p:cNvSpPr txBox="1"/>
              <p:nvPr/>
            </p:nvSpPr>
            <p:spPr>
              <a:xfrm>
                <a:off x="0" y="-57150"/>
                <a:ext cx="3413760" cy="264194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Vapi Voice agent which can hold talks with the patient</a:t>
                </a: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5662" y="640407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Consultation &amp; Prescription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0258" y="1864357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346710" y="2175510"/>
            <a:ext cx="3147060" cy="2049780"/>
            <a:chOff x="0" y="0"/>
            <a:chExt cx="4196080" cy="2733040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4196080" cy="2733040"/>
            </a:xfrm>
            <a:custGeom>
              <a:avLst/>
              <a:gdLst/>
              <a:ahLst/>
              <a:cxnLst/>
              <a:rect l="l" t="t" r="r" b="b"/>
              <a:pathLst>
                <a:path w="4196080" h="27330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65760" y="2194560"/>
            <a:ext cx="3108960" cy="2011680"/>
            <a:chOff x="0" y="0"/>
            <a:chExt cx="4145280" cy="26822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r="-3301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Appointment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74720" y="2194560"/>
            <a:ext cx="457200" cy="2011680"/>
            <a:chOff x="0" y="0"/>
            <a:chExt cx="609600" cy="26822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9600" cy="2682240"/>
            </a:xfrm>
            <a:custGeom>
              <a:avLst/>
              <a:gdLst/>
              <a:ahLst/>
              <a:cxnLst/>
              <a:rect l="l" t="t" r="r" b="b"/>
              <a:pathLst>
                <a:path w="609600" h="2682240">
                  <a:moveTo>
                    <a:pt x="0" y="0"/>
                  </a:moveTo>
                  <a:lnTo>
                    <a:pt x="609600" y="0"/>
                  </a:lnTo>
                  <a:lnTo>
                    <a:pt x="60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4535" r="-514535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609600" cy="2758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12870" y="2175510"/>
            <a:ext cx="3147060" cy="2049780"/>
            <a:chOff x="0" y="0"/>
            <a:chExt cx="4196080" cy="2733040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196080" cy="2733040"/>
            </a:xfrm>
            <a:custGeom>
              <a:avLst/>
              <a:gdLst/>
              <a:ahLst/>
              <a:cxnLst/>
              <a:rect l="l" t="t" r="r" b="b"/>
              <a:pathLst>
                <a:path w="4196080" h="27330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931920" y="2194560"/>
            <a:ext cx="3108960" cy="2011680"/>
            <a:chOff x="0" y="0"/>
            <a:chExt cx="4145280" cy="26822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r="-3301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Patient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0880" y="2194560"/>
            <a:ext cx="457200" cy="2011680"/>
            <a:chOff x="0" y="0"/>
            <a:chExt cx="609600" cy="26822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9600" cy="2682240"/>
            </a:xfrm>
            <a:custGeom>
              <a:avLst/>
              <a:gdLst/>
              <a:ahLst/>
              <a:cxnLst/>
              <a:rect l="l" t="t" r="r" b="b"/>
              <a:pathLst>
                <a:path w="609600" h="2682240">
                  <a:moveTo>
                    <a:pt x="0" y="0"/>
                  </a:moveTo>
                  <a:lnTo>
                    <a:pt x="609600" y="0"/>
                  </a:lnTo>
                  <a:lnTo>
                    <a:pt x="60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4535" r="-51453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609600" cy="2758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79030" y="2175510"/>
            <a:ext cx="3147060" cy="2049780"/>
            <a:chOff x="0" y="0"/>
            <a:chExt cx="4196080" cy="2733040"/>
          </a:xfrm>
        </p:grpSpPr>
        <p:sp>
          <p:nvSpPr>
            <p:cNvPr id="26" name="Freeform 26"/>
            <p:cNvSpPr/>
            <p:nvPr/>
          </p:nvSpPr>
          <p:spPr>
            <a:xfrm>
              <a:off x="25400" y="2540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4196080" cy="2733040"/>
            </a:xfrm>
            <a:custGeom>
              <a:avLst/>
              <a:gdLst/>
              <a:ahLst/>
              <a:cxnLst/>
              <a:rect l="l" t="t" r="r" b="b"/>
              <a:pathLst>
                <a:path w="4196080" h="27330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498080" y="2194560"/>
            <a:ext cx="3108960" cy="2011680"/>
            <a:chOff x="0" y="0"/>
            <a:chExt cx="4145280" cy="26822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r="-3301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AI-Assisted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Note Drafting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607040" y="2194560"/>
            <a:ext cx="457200" cy="2011680"/>
            <a:chOff x="0" y="0"/>
            <a:chExt cx="609600" cy="26822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09600" cy="2682240"/>
            </a:xfrm>
            <a:custGeom>
              <a:avLst/>
              <a:gdLst/>
              <a:ahLst/>
              <a:cxnLst/>
              <a:rect l="l" t="t" r="r" b="b"/>
              <a:pathLst>
                <a:path w="609600" h="2682240">
                  <a:moveTo>
                    <a:pt x="0" y="0"/>
                  </a:moveTo>
                  <a:lnTo>
                    <a:pt x="609600" y="0"/>
                  </a:lnTo>
                  <a:lnTo>
                    <a:pt x="60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4535" r="-51453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609600" cy="2758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45190" y="2175510"/>
            <a:ext cx="3147060" cy="2049780"/>
            <a:chOff x="0" y="0"/>
            <a:chExt cx="4196080" cy="2733040"/>
          </a:xfrm>
        </p:grpSpPr>
        <p:sp>
          <p:nvSpPr>
            <p:cNvPr id="35" name="Freeform 35"/>
            <p:cNvSpPr/>
            <p:nvPr/>
          </p:nvSpPr>
          <p:spPr>
            <a:xfrm>
              <a:off x="25400" y="2540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4196080" cy="2733040"/>
            </a:xfrm>
            <a:custGeom>
              <a:avLst/>
              <a:gdLst/>
              <a:ahLst/>
              <a:cxnLst/>
              <a:rect l="l" t="t" r="r" b="b"/>
              <a:pathLst>
                <a:path w="4196080" h="27330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1064240" y="2194560"/>
            <a:ext cx="3108960" cy="2011680"/>
            <a:chOff x="0" y="0"/>
            <a:chExt cx="4145280" cy="26822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r="-3301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Issue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173200" y="2194560"/>
            <a:ext cx="457200" cy="2011680"/>
            <a:chOff x="0" y="0"/>
            <a:chExt cx="609600" cy="26822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09600" cy="2682240"/>
            </a:xfrm>
            <a:custGeom>
              <a:avLst/>
              <a:gdLst/>
              <a:ahLst/>
              <a:cxnLst/>
              <a:rect l="l" t="t" r="r" b="b"/>
              <a:pathLst>
                <a:path w="609600" h="2682240">
                  <a:moveTo>
                    <a:pt x="0" y="0"/>
                  </a:moveTo>
                  <a:lnTo>
                    <a:pt x="609600" y="0"/>
                  </a:lnTo>
                  <a:lnTo>
                    <a:pt x="60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4535" r="-51453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609600" cy="2758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611350" y="2175510"/>
            <a:ext cx="3147060" cy="2049780"/>
            <a:chOff x="0" y="0"/>
            <a:chExt cx="4196080" cy="2733040"/>
          </a:xfrm>
        </p:grpSpPr>
        <p:sp>
          <p:nvSpPr>
            <p:cNvPr id="44" name="Freeform 44"/>
            <p:cNvSpPr/>
            <p:nvPr/>
          </p:nvSpPr>
          <p:spPr>
            <a:xfrm>
              <a:off x="25400" y="2540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4196080" cy="2733040"/>
            </a:xfrm>
            <a:custGeom>
              <a:avLst/>
              <a:gdLst/>
              <a:ahLst/>
              <a:cxnLst/>
              <a:rect l="l" t="t" r="r" b="b"/>
              <a:pathLst>
                <a:path w="4196080" h="273304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4630400" y="2194560"/>
            <a:ext cx="3108960" cy="2011680"/>
            <a:chOff x="0" y="0"/>
            <a:chExt cx="4145280" cy="26822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45280" cy="2682240"/>
            </a:xfrm>
            <a:custGeom>
              <a:avLst/>
              <a:gdLst/>
              <a:ahLst/>
              <a:cxnLst/>
              <a:rect l="l" t="t" r="r" b="b"/>
              <a:pathLst>
                <a:path w="4145280" h="268224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r="-33019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Notify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48640" y="4758690"/>
            <a:ext cx="16459200" cy="797272"/>
            <a:chOff x="0" y="0"/>
            <a:chExt cx="21945600" cy="106303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945600" cy="1063030"/>
            </a:xfrm>
            <a:custGeom>
              <a:avLst/>
              <a:gdLst/>
              <a:ahLst/>
              <a:cxnLst/>
              <a:rect l="l" t="t" r="r" b="b"/>
              <a:pathLst>
                <a:path w="21945600" h="1063030">
                  <a:moveTo>
                    <a:pt x="0" y="0"/>
                  </a:moveTo>
                  <a:lnTo>
                    <a:pt x="21945600" y="0"/>
                  </a:lnTo>
                  <a:lnTo>
                    <a:pt x="219456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6380" b="-348133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76200"/>
              <a:ext cx="21945600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Available During Consultation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35943" y="5839463"/>
            <a:ext cx="4048763" cy="2768603"/>
            <a:chOff x="0" y="0"/>
            <a:chExt cx="5398351" cy="3691471"/>
          </a:xfrm>
        </p:grpSpPr>
        <p:sp>
          <p:nvSpPr>
            <p:cNvPr id="53" name="Freeform 53"/>
            <p:cNvSpPr/>
            <p:nvPr/>
          </p:nvSpPr>
          <p:spPr>
            <a:xfrm>
              <a:off x="16891" y="16891"/>
              <a:ext cx="5364480" cy="3657600"/>
            </a:xfrm>
            <a:custGeom>
              <a:avLst/>
              <a:gdLst/>
              <a:ahLst/>
              <a:cxnLst/>
              <a:rect l="l" t="t" r="r" b="b"/>
              <a:pathLst>
                <a:path w="5364480" h="365760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5398262" cy="3691382"/>
            </a:xfrm>
            <a:custGeom>
              <a:avLst/>
              <a:gdLst/>
              <a:ahLst/>
              <a:cxnLst/>
              <a:rect l="l" t="t" r="r" b="b"/>
              <a:pathLst>
                <a:path w="5398262" h="369138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548640" y="5888736"/>
            <a:ext cx="4023360" cy="914400"/>
            <a:chOff x="0" y="0"/>
            <a:chExt cx="5364480" cy="12192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364480" cy="1219200"/>
            </a:xfrm>
            <a:custGeom>
              <a:avLst/>
              <a:gdLst/>
              <a:ahLst/>
              <a:cxnLst/>
              <a:rect l="l" t="t" r="r" b="b"/>
              <a:pathLst>
                <a:path w="5364480" h="121920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53644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Summary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48640" y="6803136"/>
            <a:ext cx="4023360" cy="1554480"/>
            <a:chOff x="0" y="0"/>
            <a:chExt cx="5364480" cy="2072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364480" cy="2072640"/>
            </a:xfrm>
            <a:custGeom>
              <a:avLst/>
              <a:gdLst/>
              <a:ahLst/>
              <a:cxnLst/>
              <a:rect l="l" t="t" r="r" b="b"/>
              <a:pathLst>
                <a:path w="5364480" h="207264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" b="-43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5364480" cy="2129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AI-generated context from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consent-filtered records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925063" y="5839463"/>
            <a:ext cx="4048763" cy="2768603"/>
            <a:chOff x="0" y="0"/>
            <a:chExt cx="5398351" cy="3691471"/>
          </a:xfrm>
        </p:grpSpPr>
        <p:sp>
          <p:nvSpPr>
            <p:cNvPr id="62" name="Freeform 62"/>
            <p:cNvSpPr/>
            <p:nvPr/>
          </p:nvSpPr>
          <p:spPr>
            <a:xfrm>
              <a:off x="16891" y="16891"/>
              <a:ext cx="5364480" cy="3657600"/>
            </a:xfrm>
            <a:custGeom>
              <a:avLst/>
              <a:gdLst/>
              <a:ahLst/>
              <a:cxnLst/>
              <a:rect l="l" t="t" r="r" b="b"/>
              <a:pathLst>
                <a:path w="5364480" h="365760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5398262" cy="3691382"/>
            </a:xfrm>
            <a:custGeom>
              <a:avLst/>
              <a:gdLst/>
              <a:ahLst/>
              <a:cxnLst/>
              <a:rect l="l" t="t" r="r" b="b"/>
              <a:pathLst>
                <a:path w="5398262" h="369138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4937760" y="5888736"/>
            <a:ext cx="4023360" cy="914400"/>
            <a:chOff x="0" y="0"/>
            <a:chExt cx="5364480" cy="1219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364480" cy="1219200"/>
            </a:xfrm>
            <a:custGeom>
              <a:avLst/>
              <a:gdLst/>
              <a:ahLst/>
              <a:cxnLst/>
              <a:rect l="l" t="t" r="r" b="b"/>
              <a:pathLst>
                <a:path w="5364480" h="121920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66675"/>
              <a:ext cx="53644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 Query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937760" y="6803136"/>
            <a:ext cx="4023360" cy="1554480"/>
            <a:chOff x="0" y="0"/>
            <a:chExt cx="5364480" cy="2072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364480" cy="2072640"/>
            </a:xfrm>
            <a:custGeom>
              <a:avLst/>
              <a:gdLst/>
              <a:ahLst/>
              <a:cxnLst/>
              <a:rect l="l" t="t" r="r" b="b"/>
              <a:pathLst>
                <a:path w="5364480" h="207264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" b="-431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5364480" cy="2129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 information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lookup for conditions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314183" y="5839463"/>
            <a:ext cx="4048763" cy="2768603"/>
            <a:chOff x="0" y="0"/>
            <a:chExt cx="5398351" cy="3691471"/>
          </a:xfrm>
        </p:grpSpPr>
        <p:sp>
          <p:nvSpPr>
            <p:cNvPr id="71" name="Freeform 71"/>
            <p:cNvSpPr/>
            <p:nvPr/>
          </p:nvSpPr>
          <p:spPr>
            <a:xfrm>
              <a:off x="16891" y="16891"/>
              <a:ext cx="5364480" cy="3657600"/>
            </a:xfrm>
            <a:custGeom>
              <a:avLst/>
              <a:gdLst/>
              <a:ahLst/>
              <a:cxnLst/>
              <a:rect l="l" t="t" r="r" b="b"/>
              <a:pathLst>
                <a:path w="5364480" h="365760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5398262" cy="3691382"/>
            </a:xfrm>
            <a:custGeom>
              <a:avLst/>
              <a:gdLst/>
              <a:ahLst/>
              <a:cxnLst/>
              <a:rect l="l" t="t" r="r" b="b"/>
              <a:pathLst>
                <a:path w="5398262" h="369138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326880" y="5888736"/>
            <a:ext cx="4023360" cy="914400"/>
            <a:chOff x="0" y="0"/>
            <a:chExt cx="5364480" cy="12192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364480" cy="1219200"/>
            </a:xfrm>
            <a:custGeom>
              <a:avLst/>
              <a:gdLst/>
              <a:ahLst/>
              <a:cxnLst/>
              <a:rect l="l" t="t" r="r" b="b"/>
              <a:pathLst>
                <a:path w="5364480" h="121920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66675"/>
              <a:ext cx="53644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Voice-to-Notes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326880" y="6803136"/>
            <a:ext cx="4023360" cy="1554480"/>
            <a:chOff x="0" y="0"/>
            <a:chExt cx="5364480" cy="20726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364480" cy="2072640"/>
            </a:xfrm>
            <a:custGeom>
              <a:avLst/>
              <a:gdLst/>
              <a:ahLst/>
              <a:cxnLst/>
              <a:rect l="l" t="t" r="r" b="b"/>
              <a:pathLst>
                <a:path w="5364480" h="207264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" b="-43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57150"/>
              <a:ext cx="5364480" cy="2129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Speech recognition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consultation notes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3703303" y="5839463"/>
            <a:ext cx="4048763" cy="2768603"/>
            <a:chOff x="0" y="0"/>
            <a:chExt cx="5398351" cy="3691471"/>
          </a:xfrm>
        </p:grpSpPr>
        <p:sp>
          <p:nvSpPr>
            <p:cNvPr id="80" name="Freeform 80"/>
            <p:cNvSpPr/>
            <p:nvPr/>
          </p:nvSpPr>
          <p:spPr>
            <a:xfrm>
              <a:off x="16891" y="16891"/>
              <a:ext cx="5364480" cy="3657600"/>
            </a:xfrm>
            <a:custGeom>
              <a:avLst/>
              <a:gdLst/>
              <a:ahLst/>
              <a:cxnLst/>
              <a:rect l="l" t="t" r="r" b="b"/>
              <a:pathLst>
                <a:path w="5364480" h="365760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5398262" cy="3691382"/>
            </a:xfrm>
            <a:custGeom>
              <a:avLst/>
              <a:gdLst/>
              <a:ahLst/>
              <a:cxnLst/>
              <a:rect l="l" t="t" r="r" b="b"/>
              <a:pathLst>
                <a:path w="5398262" h="369138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13716000" y="5888736"/>
            <a:ext cx="4023360" cy="914400"/>
            <a:chOff x="0" y="0"/>
            <a:chExt cx="5364480" cy="12192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364480" cy="1219200"/>
            </a:xfrm>
            <a:custGeom>
              <a:avLst/>
              <a:gdLst/>
              <a:ahLst/>
              <a:cxnLst/>
              <a:rect l="l" t="t" r="r" b="b"/>
              <a:pathLst>
                <a:path w="5364480" h="121920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66675"/>
              <a:ext cx="53644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SOAP Drafting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716000" y="6803136"/>
            <a:ext cx="4023360" cy="1554480"/>
            <a:chOff x="0" y="0"/>
            <a:chExt cx="5364480" cy="207264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364480" cy="2072640"/>
            </a:xfrm>
            <a:custGeom>
              <a:avLst/>
              <a:gdLst/>
              <a:ahLst/>
              <a:cxnLst/>
              <a:rect l="l" t="t" r="r" b="b"/>
              <a:pathLst>
                <a:path w="5364480" h="207264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" b="-431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57150"/>
              <a:ext cx="5364480" cy="2129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note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generation from context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89" name="Group 89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92" name="TextBox 92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94" name="Freeform 94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5" name="Group 95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96" name="Group 96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99" name="AutoShape 99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0" name="AutoShape 100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1" name="AutoShape 101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2" name="AutoShape 102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3" name="AutoShape 103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" name="AutoShape 104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5" name="AutoShape 105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6" name="AutoShape 106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37" name="AutoShape 137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0100" y="53849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21945600" cy="2095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39"/>
                </a:lnSpc>
              </a:pPr>
              <a:r>
                <a:rPr lang="en-US" sz="7199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Schema — 7 Layers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7868" y="1712120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48640" y="1868294"/>
            <a:ext cx="4061460" cy="3147060"/>
            <a:chOff x="0" y="0"/>
            <a:chExt cx="5415280" cy="4196080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5364480" cy="4145280"/>
            </a:xfrm>
            <a:custGeom>
              <a:avLst/>
              <a:gdLst/>
              <a:ahLst/>
              <a:cxnLst/>
              <a:rect l="l" t="t" r="r" b="b"/>
              <a:pathLst>
                <a:path w="5364480" h="41452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415280" cy="4196080"/>
            </a:xfrm>
            <a:custGeom>
              <a:avLst/>
              <a:gdLst/>
              <a:ahLst/>
              <a:cxnLst/>
              <a:rect l="l" t="t" r="r" b="b"/>
              <a:pathLst>
                <a:path w="5415280" h="41960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27097" y="2795391"/>
            <a:ext cx="3304537" cy="12697"/>
            <a:chOff x="0" y="0"/>
            <a:chExt cx="4406049" cy="16929"/>
          </a:xfrm>
        </p:grpSpPr>
        <p:sp>
          <p:nvSpPr>
            <p:cNvPr id="11" name="Freeform 11"/>
            <p:cNvSpPr/>
            <p:nvPr/>
          </p:nvSpPr>
          <p:spPr>
            <a:xfrm>
              <a:off x="8509" y="0"/>
              <a:ext cx="4389120" cy="16891"/>
            </a:xfrm>
            <a:custGeom>
              <a:avLst/>
              <a:gdLst/>
              <a:ahLst/>
              <a:cxnLst/>
              <a:rect l="l" t="t" r="r" b="b"/>
              <a:pathLst>
                <a:path w="4389120" h="16891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90550" y="1978784"/>
            <a:ext cx="4023360" cy="2926080"/>
            <a:chOff x="0" y="0"/>
            <a:chExt cx="5364480" cy="390144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364480" cy="1097280"/>
              <a:chOff x="0" y="0"/>
              <a:chExt cx="5364480" cy="10972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36448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5364480" h="10972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5260" b="-45260"/>
                </a:stretch>
              </a:blip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76200"/>
                <a:ext cx="5364480" cy="117348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560"/>
                  </a:lnSpc>
                </a:pPr>
                <a:r>
                  <a:rPr lang="en-US" sz="38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Identity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1219200"/>
              <a:ext cx="5364480" cy="2682240"/>
              <a:chOff x="0" y="0"/>
              <a:chExt cx="5364480" cy="268224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364480" cy="2682240"/>
              </a:xfrm>
              <a:custGeom>
                <a:avLst/>
                <a:gdLst/>
                <a:ahLst/>
                <a:cxnLst/>
                <a:rect l="l" t="t" r="r" b="b"/>
                <a:pathLst>
                  <a:path w="5364480" h="268224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/>
                </a:stretch>
              </a:blip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66675"/>
                <a:ext cx="5364480" cy="274891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profiles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doctor_profiles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patient_profiles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4937760" y="1868294"/>
            <a:ext cx="4061460" cy="3147060"/>
            <a:chOff x="0" y="0"/>
            <a:chExt cx="5415280" cy="4196080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5364480" cy="4145280"/>
            </a:xfrm>
            <a:custGeom>
              <a:avLst/>
              <a:gdLst/>
              <a:ahLst/>
              <a:cxnLst/>
              <a:rect l="l" t="t" r="r" b="b"/>
              <a:pathLst>
                <a:path w="5364480" h="41452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5415280" cy="4196080"/>
            </a:xfrm>
            <a:custGeom>
              <a:avLst/>
              <a:gdLst/>
              <a:ahLst/>
              <a:cxnLst/>
              <a:rect l="l" t="t" r="r" b="b"/>
              <a:pathLst>
                <a:path w="5415280" h="41960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316217" y="2795391"/>
            <a:ext cx="3304537" cy="12697"/>
            <a:chOff x="0" y="0"/>
            <a:chExt cx="4406049" cy="16929"/>
          </a:xfrm>
        </p:grpSpPr>
        <p:sp>
          <p:nvSpPr>
            <p:cNvPr id="23" name="Freeform 23"/>
            <p:cNvSpPr/>
            <p:nvPr/>
          </p:nvSpPr>
          <p:spPr>
            <a:xfrm>
              <a:off x="8509" y="0"/>
              <a:ext cx="4389120" cy="16891"/>
            </a:xfrm>
            <a:custGeom>
              <a:avLst/>
              <a:gdLst/>
              <a:ahLst/>
              <a:cxnLst/>
              <a:rect l="l" t="t" r="r" b="b"/>
              <a:pathLst>
                <a:path w="4389120" h="16891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5007381" y="2001644"/>
            <a:ext cx="4023360" cy="2926080"/>
            <a:chOff x="0" y="0"/>
            <a:chExt cx="5364480" cy="390144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5364480" cy="1097280"/>
              <a:chOff x="0" y="0"/>
              <a:chExt cx="5364480" cy="10972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536448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5364480" h="10972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5260" b="-45260"/>
                </a:stretch>
              </a:blip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76200"/>
                <a:ext cx="5364480" cy="117348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560"/>
                  </a:lnSpc>
                </a:pPr>
                <a:r>
                  <a:rPr lang="en-US" sz="3800" b="1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Scheduling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219200"/>
              <a:ext cx="5364480" cy="2682240"/>
              <a:chOff x="0" y="0"/>
              <a:chExt cx="5364480" cy="268224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5364480" cy="2682240"/>
              </a:xfrm>
              <a:custGeom>
                <a:avLst/>
                <a:gdLst/>
                <a:ahLst/>
                <a:cxnLst/>
                <a:rect l="l" t="t" r="r" b="b"/>
                <a:pathLst>
                  <a:path w="5364480" h="268224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r="-14151"/>
                </a:stretch>
              </a:blip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66675"/>
                <a:ext cx="5364480" cy="274891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appointments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availability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overrides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9326880" y="1868294"/>
            <a:ext cx="4061460" cy="3147060"/>
            <a:chOff x="0" y="0"/>
            <a:chExt cx="5415280" cy="4196080"/>
          </a:xfrm>
        </p:grpSpPr>
        <p:sp>
          <p:nvSpPr>
            <p:cNvPr id="32" name="Freeform 32"/>
            <p:cNvSpPr/>
            <p:nvPr/>
          </p:nvSpPr>
          <p:spPr>
            <a:xfrm>
              <a:off x="25400" y="25400"/>
              <a:ext cx="5364480" cy="4145280"/>
            </a:xfrm>
            <a:custGeom>
              <a:avLst/>
              <a:gdLst/>
              <a:ahLst/>
              <a:cxnLst/>
              <a:rect l="l" t="t" r="r" b="b"/>
              <a:pathLst>
                <a:path w="5364480" h="41452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5415280" cy="4196080"/>
            </a:xfrm>
            <a:custGeom>
              <a:avLst/>
              <a:gdLst/>
              <a:ahLst/>
              <a:cxnLst/>
              <a:rect l="l" t="t" r="r" b="b"/>
              <a:pathLst>
                <a:path w="5415280" h="41960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345930" y="1978784"/>
            <a:ext cx="4023360" cy="822960"/>
            <a:chOff x="0" y="0"/>
            <a:chExt cx="5364480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64480" cy="1097280"/>
            </a:xfrm>
            <a:custGeom>
              <a:avLst/>
              <a:gdLst/>
              <a:ahLst/>
              <a:cxnLst/>
              <a:rect l="l" t="t" r="r" b="b"/>
              <a:pathLst>
                <a:path w="5364480" h="10972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60"/>
                </a:lnSpc>
              </a:pPr>
              <a:r>
                <a:rPr lang="en-US" sz="38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05337" y="2795391"/>
            <a:ext cx="3304537" cy="12697"/>
            <a:chOff x="0" y="0"/>
            <a:chExt cx="4406049" cy="16929"/>
          </a:xfrm>
        </p:grpSpPr>
        <p:sp>
          <p:nvSpPr>
            <p:cNvPr id="38" name="Freeform 38"/>
            <p:cNvSpPr/>
            <p:nvPr/>
          </p:nvSpPr>
          <p:spPr>
            <a:xfrm>
              <a:off x="8509" y="0"/>
              <a:ext cx="4389120" cy="16891"/>
            </a:xfrm>
            <a:custGeom>
              <a:avLst/>
              <a:gdLst/>
              <a:ahLst/>
              <a:cxnLst/>
              <a:rect l="l" t="t" r="r" b="b"/>
              <a:pathLst>
                <a:path w="4389120" h="16891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345930" y="2893184"/>
            <a:ext cx="4023360" cy="2011680"/>
            <a:chOff x="0" y="0"/>
            <a:chExt cx="5364480" cy="26822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364480" cy="2682240"/>
            </a:xfrm>
            <a:custGeom>
              <a:avLst/>
              <a:gdLst/>
              <a:ahLst/>
              <a:cxnLst/>
              <a:rect l="l" t="t" r="r" b="b"/>
              <a:pathLst>
                <a:path w="5364480" h="268224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consultations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prescriptions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medication_rx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716000" y="1868294"/>
            <a:ext cx="4061460" cy="3147060"/>
            <a:chOff x="0" y="0"/>
            <a:chExt cx="5415280" cy="4196080"/>
          </a:xfrm>
        </p:grpSpPr>
        <p:sp>
          <p:nvSpPr>
            <p:cNvPr id="43" name="Freeform 43"/>
            <p:cNvSpPr/>
            <p:nvPr/>
          </p:nvSpPr>
          <p:spPr>
            <a:xfrm>
              <a:off x="25400" y="25400"/>
              <a:ext cx="5364480" cy="4145280"/>
            </a:xfrm>
            <a:custGeom>
              <a:avLst/>
              <a:gdLst/>
              <a:ahLst/>
              <a:cxnLst/>
              <a:rect l="l" t="t" r="r" b="b"/>
              <a:pathLst>
                <a:path w="5364480" h="41452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5415280" cy="4196080"/>
            </a:xfrm>
            <a:custGeom>
              <a:avLst/>
              <a:gdLst/>
              <a:ahLst/>
              <a:cxnLst/>
              <a:rect l="l" t="t" r="r" b="b"/>
              <a:pathLst>
                <a:path w="5415280" h="41960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3735050" y="1978784"/>
            <a:ext cx="4023360" cy="822960"/>
            <a:chOff x="0" y="0"/>
            <a:chExt cx="5364480" cy="10972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364480" cy="1097280"/>
            </a:xfrm>
            <a:custGeom>
              <a:avLst/>
              <a:gdLst/>
              <a:ahLst/>
              <a:cxnLst/>
              <a:rect l="l" t="t" r="r" b="b"/>
              <a:pathLst>
                <a:path w="5364480" h="10972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59"/>
                </a:lnSpc>
              </a:pPr>
              <a:r>
                <a:rPr lang="en-US" sz="3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Data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094457" y="2795391"/>
            <a:ext cx="3304537" cy="12697"/>
            <a:chOff x="0" y="0"/>
            <a:chExt cx="4406049" cy="16929"/>
          </a:xfrm>
        </p:grpSpPr>
        <p:sp>
          <p:nvSpPr>
            <p:cNvPr id="49" name="Freeform 49"/>
            <p:cNvSpPr/>
            <p:nvPr/>
          </p:nvSpPr>
          <p:spPr>
            <a:xfrm>
              <a:off x="8509" y="0"/>
              <a:ext cx="4389120" cy="16891"/>
            </a:xfrm>
            <a:custGeom>
              <a:avLst/>
              <a:gdLst/>
              <a:ahLst/>
              <a:cxnLst/>
              <a:rect l="l" t="t" r="r" b="b"/>
              <a:pathLst>
                <a:path w="4389120" h="16891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3735050" y="2893184"/>
            <a:ext cx="4023360" cy="2011680"/>
            <a:chOff x="0" y="0"/>
            <a:chExt cx="5364480" cy="26822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364480" cy="2682240"/>
            </a:xfrm>
            <a:custGeom>
              <a:avLst/>
              <a:gdLst/>
              <a:ahLst/>
              <a:cxnLst/>
              <a:rect l="l" t="t" r="r" b="b"/>
              <a:pathLst>
                <a:path w="5364480" h="268224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medical_reports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health_metrics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medicines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8640" y="5525894"/>
            <a:ext cx="4061460" cy="3147060"/>
            <a:chOff x="0" y="0"/>
            <a:chExt cx="5415280" cy="4196080"/>
          </a:xfrm>
        </p:grpSpPr>
        <p:sp>
          <p:nvSpPr>
            <p:cNvPr id="54" name="Freeform 54"/>
            <p:cNvSpPr/>
            <p:nvPr/>
          </p:nvSpPr>
          <p:spPr>
            <a:xfrm>
              <a:off x="25400" y="25400"/>
              <a:ext cx="5364480" cy="4145280"/>
            </a:xfrm>
            <a:custGeom>
              <a:avLst/>
              <a:gdLst/>
              <a:ahLst/>
              <a:cxnLst/>
              <a:rect l="l" t="t" r="r" b="b"/>
              <a:pathLst>
                <a:path w="5364480" h="41452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5415280" cy="4196080"/>
            </a:xfrm>
            <a:custGeom>
              <a:avLst/>
              <a:gdLst/>
              <a:ahLst/>
              <a:cxnLst/>
              <a:rect l="l" t="t" r="r" b="b"/>
              <a:pathLst>
                <a:path w="5415280" h="41960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567690" y="5636384"/>
            <a:ext cx="4023360" cy="822960"/>
            <a:chOff x="0" y="0"/>
            <a:chExt cx="5364480" cy="10972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364480" cy="1097280"/>
            </a:xfrm>
            <a:custGeom>
              <a:avLst/>
              <a:gdLst/>
              <a:ahLst/>
              <a:cxnLst/>
              <a:rect l="l" t="t" r="r" b="b"/>
              <a:pathLst>
                <a:path w="5364480" h="10972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59"/>
                </a:lnSpc>
              </a:pPr>
              <a:r>
                <a:rPr lang="en-US" sz="3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 Control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27097" y="6452991"/>
            <a:ext cx="3304537" cy="12697"/>
            <a:chOff x="0" y="0"/>
            <a:chExt cx="4406049" cy="16929"/>
          </a:xfrm>
        </p:grpSpPr>
        <p:sp>
          <p:nvSpPr>
            <p:cNvPr id="60" name="Freeform 60"/>
            <p:cNvSpPr/>
            <p:nvPr/>
          </p:nvSpPr>
          <p:spPr>
            <a:xfrm>
              <a:off x="8509" y="0"/>
              <a:ext cx="4389120" cy="16891"/>
            </a:xfrm>
            <a:custGeom>
              <a:avLst/>
              <a:gdLst/>
              <a:ahLst/>
              <a:cxnLst/>
              <a:rect l="l" t="t" r="r" b="b"/>
              <a:pathLst>
                <a:path w="4389120" h="16891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567690" y="6550784"/>
            <a:ext cx="4023360" cy="2011680"/>
            <a:chOff x="0" y="0"/>
            <a:chExt cx="5364480" cy="26822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364480" cy="2682240"/>
            </a:xfrm>
            <a:custGeom>
              <a:avLst/>
              <a:gdLst/>
              <a:ahLst/>
              <a:cxnLst/>
              <a:rect l="l" t="t" r="r" b="b"/>
              <a:pathLst>
                <a:path w="5364480" h="268224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patient_access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data_sharing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consents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937760" y="5525894"/>
            <a:ext cx="4061460" cy="3147060"/>
            <a:chOff x="0" y="0"/>
            <a:chExt cx="5415280" cy="4196080"/>
          </a:xfrm>
        </p:grpSpPr>
        <p:sp>
          <p:nvSpPr>
            <p:cNvPr id="65" name="Freeform 65"/>
            <p:cNvSpPr/>
            <p:nvPr/>
          </p:nvSpPr>
          <p:spPr>
            <a:xfrm>
              <a:off x="25400" y="25400"/>
              <a:ext cx="5364480" cy="4145280"/>
            </a:xfrm>
            <a:custGeom>
              <a:avLst/>
              <a:gdLst/>
              <a:ahLst/>
              <a:cxnLst/>
              <a:rect l="l" t="t" r="r" b="b"/>
              <a:pathLst>
                <a:path w="5364480" h="41452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5415280" cy="4196080"/>
            </a:xfrm>
            <a:custGeom>
              <a:avLst/>
              <a:gdLst/>
              <a:ahLst/>
              <a:cxnLst/>
              <a:rect l="l" t="t" r="r" b="b"/>
              <a:pathLst>
                <a:path w="5415280" h="41960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4956810" y="5636384"/>
            <a:ext cx="4023360" cy="822960"/>
            <a:chOff x="0" y="0"/>
            <a:chExt cx="5364480" cy="10972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364480" cy="1097280"/>
            </a:xfrm>
            <a:custGeom>
              <a:avLst/>
              <a:gdLst/>
              <a:ahLst/>
              <a:cxnLst/>
              <a:rect l="l" t="t" r="r" b="b"/>
              <a:pathLst>
                <a:path w="5364480" h="10972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59"/>
                </a:lnSpc>
              </a:pPr>
              <a:r>
                <a:rPr lang="en-US" sz="3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+ Notif.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316217" y="6452991"/>
            <a:ext cx="3304537" cy="12697"/>
            <a:chOff x="0" y="0"/>
            <a:chExt cx="4406049" cy="16929"/>
          </a:xfrm>
        </p:grpSpPr>
        <p:sp>
          <p:nvSpPr>
            <p:cNvPr id="71" name="Freeform 71"/>
            <p:cNvSpPr/>
            <p:nvPr/>
          </p:nvSpPr>
          <p:spPr>
            <a:xfrm>
              <a:off x="8509" y="0"/>
              <a:ext cx="4389120" cy="16891"/>
            </a:xfrm>
            <a:custGeom>
              <a:avLst/>
              <a:gdLst/>
              <a:ahLst/>
              <a:cxnLst/>
              <a:rect l="l" t="t" r="r" b="b"/>
              <a:pathLst>
                <a:path w="4389120" h="16891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4956810" y="6550784"/>
            <a:ext cx="4023360" cy="2011680"/>
            <a:chOff x="0" y="0"/>
            <a:chExt cx="5364480" cy="268224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364480" cy="2682240"/>
            </a:xfrm>
            <a:custGeom>
              <a:avLst/>
              <a:gdLst/>
              <a:ahLst/>
              <a:cxnLst/>
              <a:rect l="l" t="t" r="r" b="b"/>
              <a:pathLst>
                <a:path w="5364480" h="268224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ai_interactions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chorui_messages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reminders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326880" y="5525894"/>
            <a:ext cx="4061460" cy="3147060"/>
            <a:chOff x="0" y="0"/>
            <a:chExt cx="5415280" cy="4196080"/>
          </a:xfrm>
        </p:grpSpPr>
        <p:sp>
          <p:nvSpPr>
            <p:cNvPr id="76" name="Freeform 76"/>
            <p:cNvSpPr/>
            <p:nvPr/>
          </p:nvSpPr>
          <p:spPr>
            <a:xfrm>
              <a:off x="25400" y="25400"/>
              <a:ext cx="5364480" cy="4145280"/>
            </a:xfrm>
            <a:custGeom>
              <a:avLst/>
              <a:gdLst/>
              <a:ahLst/>
              <a:cxnLst/>
              <a:rect l="l" t="t" r="r" b="b"/>
              <a:pathLst>
                <a:path w="5364480" h="41452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7" name="Freeform 77"/>
            <p:cNvSpPr/>
            <p:nvPr/>
          </p:nvSpPr>
          <p:spPr>
            <a:xfrm>
              <a:off x="0" y="0"/>
              <a:ext cx="5415280" cy="4196080"/>
            </a:xfrm>
            <a:custGeom>
              <a:avLst/>
              <a:gdLst/>
              <a:ahLst/>
              <a:cxnLst/>
              <a:rect l="l" t="t" r="r" b="b"/>
              <a:pathLst>
                <a:path w="5415280" h="41960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9345930" y="5636384"/>
            <a:ext cx="4023360" cy="822960"/>
            <a:chOff x="0" y="0"/>
            <a:chExt cx="5364480" cy="10972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5364480" cy="1097280"/>
            </a:xfrm>
            <a:custGeom>
              <a:avLst/>
              <a:gdLst/>
              <a:ahLst/>
              <a:cxnLst/>
              <a:rect l="l" t="t" r="r" b="b"/>
              <a:pathLst>
                <a:path w="5364480" h="10972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59"/>
                </a:lnSpc>
              </a:pPr>
              <a:r>
                <a:rPr lang="en-US" sz="37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Infrastructure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705337" y="6452991"/>
            <a:ext cx="3304537" cy="12697"/>
            <a:chOff x="0" y="0"/>
            <a:chExt cx="4406049" cy="16929"/>
          </a:xfrm>
        </p:grpSpPr>
        <p:sp>
          <p:nvSpPr>
            <p:cNvPr id="82" name="Freeform 82"/>
            <p:cNvSpPr/>
            <p:nvPr/>
          </p:nvSpPr>
          <p:spPr>
            <a:xfrm>
              <a:off x="8509" y="0"/>
              <a:ext cx="4389120" cy="16891"/>
            </a:xfrm>
            <a:custGeom>
              <a:avLst/>
              <a:gdLst/>
              <a:ahLst/>
              <a:cxnLst/>
              <a:rect l="l" t="t" r="r" b="b"/>
              <a:pathLst>
                <a:path w="4389120" h="16891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9345930" y="6550784"/>
            <a:ext cx="4023360" cy="2011680"/>
            <a:chOff x="0" y="0"/>
            <a:chExt cx="5364480" cy="268224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364480" cy="2682240"/>
            </a:xfrm>
            <a:custGeom>
              <a:avLst/>
              <a:gdLst/>
              <a:ahLst/>
              <a:cxnLst/>
              <a:rect l="l" t="t" r="r" b="b"/>
              <a:pathLst>
                <a:path w="5364480" h="268224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media_files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doctor_action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alembic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35945" y="8814991"/>
            <a:ext cx="17216109" cy="976083"/>
            <a:chOff x="0" y="-443399"/>
            <a:chExt cx="22954812" cy="130144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2920961" cy="858043"/>
            </a:xfrm>
            <a:custGeom>
              <a:avLst/>
              <a:gdLst/>
              <a:ahLst/>
              <a:cxnLst/>
              <a:rect l="l" t="t" r="r" b="b"/>
              <a:pathLst>
                <a:path w="22920961" h="858043">
                  <a:moveTo>
                    <a:pt x="0" y="0"/>
                  </a:moveTo>
                  <a:lnTo>
                    <a:pt x="22920961" y="0"/>
                  </a:lnTo>
                  <a:lnTo>
                    <a:pt x="22920961" y="858043"/>
                  </a:lnTo>
                  <a:lnTo>
                    <a:pt x="0" y="858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773" b="-470236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33852" y="-443399"/>
              <a:ext cx="22920960" cy="934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39"/>
                </a:lnSpc>
              </a:pPr>
              <a:r>
                <a:rPr lang="en-US" sz="3199" b="1" i="1" dirty="0">
                  <a:solidFill>
                    <a:srgbClr val="2563E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41 </a:t>
              </a:r>
              <a:r>
                <a:rPr lang="en-US" sz="3199" b="1" i="1" dirty="0" err="1">
                  <a:solidFill>
                    <a:srgbClr val="2563E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SQLAlchemy</a:t>
              </a:r>
              <a:r>
                <a:rPr lang="en-US" sz="3199" b="1" i="1" dirty="0">
                  <a:solidFill>
                    <a:srgbClr val="2563E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 models  |  47 Alembic migrations  |  Consent-gated access throughout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90" name="Group 90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93" name="AutoShape 93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4" name="AutoShape 94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5" name="AutoShape 95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6" name="AutoShape 96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7" name="AutoShape 97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8" name="AutoShape 98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9" name="AutoShape 99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0" name="AutoShape 100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31" name="AutoShape 131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43" name="Group 143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5" name="TextBox 14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46" name="TextBox 146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148" name="Freeform 148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9" name="TextBox 66">
            <a:extLst>
              <a:ext uri="{FF2B5EF4-FFF2-40B4-BE49-F238E27FC236}">
                <a16:creationId xmlns:a16="http://schemas.microsoft.com/office/drawing/2014/main" id="{7545AF86-6B79-18DB-4FAC-0C48BBD467D8}"/>
              </a:ext>
            </a:extLst>
          </p:cNvPr>
          <p:cNvSpPr txBox="1"/>
          <p:nvPr/>
        </p:nvSpPr>
        <p:spPr>
          <a:xfrm>
            <a:off x="5257800" y="9514729"/>
            <a:ext cx="7543800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7.1: Database Schema Simplified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&amp; DevOps Pipeline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346710" y="2175510"/>
            <a:ext cx="3147060" cy="2415540"/>
            <a:chOff x="0" y="0"/>
            <a:chExt cx="4196080" cy="3220720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4196080" cy="3220720"/>
            </a:xfrm>
            <a:custGeom>
              <a:avLst/>
              <a:gdLst/>
              <a:ahLst/>
              <a:cxnLst/>
              <a:rect l="l" t="t" r="r" b="b"/>
              <a:pathLst>
                <a:path w="4196080" h="322072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65760" y="2213610"/>
            <a:ext cx="3108960" cy="2377440"/>
            <a:chOff x="0" y="0"/>
            <a:chExt cx="4145280" cy="31699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14" r="-48114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Push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74720" y="2194560"/>
            <a:ext cx="457200" cy="2377440"/>
            <a:chOff x="0" y="0"/>
            <a:chExt cx="609600" cy="31699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9600" cy="3169920"/>
            </a:xfrm>
            <a:custGeom>
              <a:avLst/>
              <a:gdLst/>
              <a:ahLst/>
              <a:cxnLst/>
              <a:rect l="l" t="t" r="r" b="b"/>
              <a:pathLst>
                <a:path w="609600" h="3169920">
                  <a:moveTo>
                    <a:pt x="0" y="0"/>
                  </a:moveTo>
                  <a:lnTo>
                    <a:pt x="609600" y="0"/>
                  </a:lnTo>
                  <a:lnTo>
                    <a:pt x="60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7178" r="-61717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609600" cy="3246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12870" y="2175510"/>
            <a:ext cx="3147060" cy="2415540"/>
            <a:chOff x="0" y="0"/>
            <a:chExt cx="4196080" cy="3220720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196080" cy="3220720"/>
            </a:xfrm>
            <a:custGeom>
              <a:avLst/>
              <a:gdLst/>
              <a:ahLst/>
              <a:cxnLst/>
              <a:rect l="l" t="t" r="r" b="b"/>
              <a:pathLst>
                <a:path w="4196080" h="322072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950970" y="2213610"/>
            <a:ext cx="3108960" cy="2377440"/>
            <a:chOff x="0" y="0"/>
            <a:chExt cx="4145280" cy="3169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14" r="-4811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Actions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CI/CD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0880" y="2194560"/>
            <a:ext cx="457200" cy="2377440"/>
            <a:chOff x="0" y="0"/>
            <a:chExt cx="609600" cy="31699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9600" cy="3169920"/>
            </a:xfrm>
            <a:custGeom>
              <a:avLst/>
              <a:gdLst/>
              <a:ahLst/>
              <a:cxnLst/>
              <a:rect l="l" t="t" r="r" b="b"/>
              <a:pathLst>
                <a:path w="609600" h="3169920">
                  <a:moveTo>
                    <a:pt x="0" y="0"/>
                  </a:moveTo>
                  <a:lnTo>
                    <a:pt x="609600" y="0"/>
                  </a:lnTo>
                  <a:lnTo>
                    <a:pt x="60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7178" r="-61717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609600" cy="3246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79030" y="2175510"/>
            <a:ext cx="3147060" cy="2415540"/>
            <a:chOff x="0" y="0"/>
            <a:chExt cx="4196080" cy="3220720"/>
          </a:xfrm>
        </p:grpSpPr>
        <p:sp>
          <p:nvSpPr>
            <p:cNvPr id="26" name="Freeform 26"/>
            <p:cNvSpPr/>
            <p:nvPr/>
          </p:nvSpPr>
          <p:spPr>
            <a:xfrm>
              <a:off x="25400" y="2540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4196080" cy="3220720"/>
            </a:xfrm>
            <a:custGeom>
              <a:avLst/>
              <a:gdLst/>
              <a:ahLst/>
              <a:cxnLst/>
              <a:rect l="l" t="t" r="r" b="b"/>
              <a:pathLst>
                <a:path w="4196080" h="322072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517130" y="2213610"/>
            <a:ext cx="3108960" cy="2377440"/>
            <a:chOff x="0" y="0"/>
            <a:chExt cx="4145280" cy="31699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607040" y="2194560"/>
            <a:ext cx="457200" cy="2377440"/>
            <a:chOff x="0" y="0"/>
            <a:chExt cx="609600" cy="31699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09600" cy="3169920"/>
            </a:xfrm>
            <a:custGeom>
              <a:avLst/>
              <a:gdLst/>
              <a:ahLst/>
              <a:cxnLst/>
              <a:rect l="l" t="t" r="r" b="b"/>
              <a:pathLst>
                <a:path w="609600" h="3169920">
                  <a:moveTo>
                    <a:pt x="0" y="0"/>
                  </a:moveTo>
                  <a:lnTo>
                    <a:pt x="609600" y="0"/>
                  </a:lnTo>
                  <a:lnTo>
                    <a:pt x="60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7178" r="-61717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609600" cy="3246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45190" y="2175510"/>
            <a:ext cx="3147060" cy="2415540"/>
            <a:chOff x="0" y="0"/>
            <a:chExt cx="4196080" cy="3220720"/>
          </a:xfrm>
        </p:grpSpPr>
        <p:sp>
          <p:nvSpPr>
            <p:cNvPr id="35" name="Freeform 35"/>
            <p:cNvSpPr/>
            <p:nvPr/>
          </p:nvSpPr>
          <p:spPr>
            <a:xfrm>
              <a:off x="25400" y="2540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4196080" cy="3220720"/>
            </a:xfrm>
            <a:custGeom>
              <a:avLst/>
              <a:gdLst/>
              <a:ahLst/>
              <a:cxnLst/>
              <a:rect l="l" t="t" r="r" b="b"/>
              <a:pathLst>
                <a:path w="4196080" h="322072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1045190" y="2194560"/>
            <a:ext cx="3108960" cy="2377440"/>
            <a:chOff x="0" y="0"/>
            <a:chExt cx="4145280" cy="31699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14" r="-4811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Container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173200" y="2194560"/>
            <a:ext cx="457200" cy="2377440"/>
            <a:chOff x="0" y="0"/>
            <a:chExt cx="609600" cy="31699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09600" cy="3169920"/>
            </a:xfrm>
            <a:custGeom>
              <a:avLst/>
              <a:gdLst/>
              <a:ahLst/>
              <a:cxnLst/>
              <a:rect l="l" t="t" r="r" b="b"/>
              <a:pathLst>
                <a:path w="609600" h="3169920">
                  <a:moveTo>
                    <a:pt x="0" y="0"/>
                  </a:moveTo>
                  <a:lnTo>
                    <a:pt x="609600" y="0"/>
                  </a:lnTo>
                  <a:lnTo>
                    <a:pt x="60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7178" r="-61717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609600" cy="3246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611350" y="2175510"/>
            <a:ext cx="3147060" cy="2415540"/>
            <a:chOff x="0" y="0"/>
            <a:chExt cx="4196080" cy="3220720"/>
          </a:xfrm>
        </p:grpSpPr>
        <p:sp>
          <p:nvSpPr>
            <p:cNvPr id="44" name="Freeform 44"/>
            <p:cNvSpPr/>
            <p:nvPr/>
          </p:nvSpPr>
          <p:spPr>
            <a:xfrm>
              <a:off x="25400" y="2540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4196080" cy="3220720"/>
            </a:xfrm>
            <a:custGeom>
              <a:avLst/>
              <a:gdLst/>
              <a:ahLst/>
              <a:cxnLst/>
              <a:rect l="l" t="t" r="r" b="b"/>
              <a:pathLst>
                <a:path w="4196080" h="322072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4636744" y="2175510"/>
            <a:ext cx="3108960" cy="2377440"/>
            <a:chOff x="0" y="0"/>
            <a:chExt cx="4145280" cy="31699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45280" cy="3169920"/>
            </a:xfrm>
            <a:custGeom>
              <a:avLst/>
              <a:gdLst/>
              <a:ahLst/>
              <a:cxnLst/>
              <a:rect l="l" t="t" r="r" b="b"/>
              <a:pathLst>
                <a:path w="4145280" h="316992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14" r="-4811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Regular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Monitoring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63228" y="4922805"/>
            <a:ext cx="16459200" cy="797272"/>
            <a:chOff x="0" y="0"/>
            <a:chExt cx="21945600" cy="106303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945600" cy="1063030"/>
            </a:xfrm>
            <a:custGeom>
              <a:avLst/>
              <a:gdLst/>
              <a:ahLst/>
              <a:cxnLst/>
              <a:rect l="l" t="t" r="r" b="b"/>
              <a:pathLst>
                <a:path w="21945600" h="1063030">
                  <a:moveTo>
                    <a:pt x="0" y="0"/>
                  </a:moveTo>
                  <a:lnTo>
                    <a:pt x="21945600" y="0"/>
                  </a:lnTo>
                  <a:lnTo>
                    <a:pt x="219456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6380" b="-348133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76200"/>
              <a:ext cx="21945600" cy="11392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 Architecture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37247" y="5720077"/>
            <a:ext cx="6413497" cy="707641"/>
            <a:chOff x="0" y="0"/>
            <a:chExt cx="8551329" cy="943521"/>
          </a:xfrm>
        </p:grpSpPr>
        <p:sp>
          <p:nvSpPr>
            <p:cNvPr id="53" name="Freeform 53"/>
            <p:cNvSpPr/>
            <p:nvPr/>
          </p:nvSpPr>
          <p:spPr>
            <a:xfrm>
              <a:off x="8509" y="8509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8551418" cy="943610"/>
            </a:xfrm>
            <a:custGeom>
              <a:avLst/>
              <a:gdLst/>
              <a:ahLst/>
              <a:cxnLst/>
              <a:rect l="l" t="t" r="r" b="b"/>
              <a:pathLst>
                <a:path w="8551418" h="943610">
                  <a:moveTo>
                    <a:pt x="8509" y="0"/>
                  </a:moveTo>
                  <a:lnTo>
                    <a:pt x="8542909" y="0"/>
                  </a:lnTo>
                  <a:cubicBezTo>
                    <a:pt x="8547608" y="0"/>
                    <a:pt x="8551418" y="3810"/>
                    <a:pt x="8551418" y="8509"/>
                  </a:cubicBezTo>
                  <a:lnTo>
                    <a:pt x="8551418" y="935101"/>
                  </a:lnTo>
                  <a:cubicBezTo>
                    <a:pt x="8551418" y="939800"/>
                    <a:pt x="8547608" y="943610"/>
                    <a:pt x="85429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8542909" y="926592"/>
                  </a:lnTo>
                  <a:lnTo>
                    <a:pt x="8542909" y="935101"/>
                  </a:lnTo>
                  <a:lnTo>
                    <a:pt x="8534400" y="935101"/>
                  </a:lnTo>
                  <a:lnTo>
                    <a:pt x="8534400" y="8509"/>
                  </a:lnTo>
                  <a:lnTo>
                    <a:pt x="8542909" y="8509"/>
                  </a:lnTo>
                  <a:lnTo>
                    <a:pt x="8542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6126480" y="5726430"/>
            <a:ext cx="6035040" cy="694944"/>
            <a:chOff x="0" y="0"/>
            <a:chExt cx="8046720" cy="92659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046720" cy="926592"/>
            </a:xfrm>
            <a:custGeom>
              <a:avLst/>
              <a:gdLst/>
              <a:ahLst/>
              <a:cxnLst/>
              <a:rect l="l" t="t" r="r" b="b"/>
              <a:pathLst>
                <a:path w="8046720" h="926592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212" b="-119212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57150"/>
              <a:ext cx="804672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— Locust, k6, Lighthouse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565647" y="6488173"/>
            <a:ext cx="9156697" cy="707641"/>
            <a:chOff x="0" y="0"/>
            <a:chExt cx="12208929" cy="943521"/>
          </a:xfrm>
        </p:grpSpPr>
        <p:sp>
          <p:nvSpPr>
            <p:cNvPr id="59" name="Freeform 59"/>
            <p:cNvSpPr/>
            <p:nvPr/>
          </p:nvSpPr>
          <p:spPr>
            <a:xfrm>
              <a:off x="8509" y="8509"/>
              <a:ext cx="12192000" cy="926592"/>
            </a:xfrm>
            <a:custGeom>
              <a:avLst/>
              <a:gdLst/>
              <a:ahLst/>
              <a:cxnLst/>
              <a:rect l="l" t="t" r="r" b="b"/>
              <a:pathLst>
                <a:path w="12192000" h="926592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0" y="0"/>
              <a:ext cx="12209018" cy="943610"/>
            </a:xfrm>
            <a:custGeom>
              <a:avLst/>
              <a:gdLst/>
              <a:ahLst/>
              <a:cxnLst/>
              <a:rect l="l" t="t" r="r" b="b"/>
              <a:pathLst>
                <a:path w="12209018" h="943610">
                  <a:moveTo>
                    <a:pt x="8509" y="0"/>
                  </a:moveTo>
                  <a:lnTo>
                    <a:pt x="12200509" y="0"/>
                  </a:lnTo>
                  <a:cubicBezTo>
                    <a:pt x="12205208" y="0"/>
                    <a:pt x="12209018" y="3810"/>
                    <a:pt x="12209018" y="8509"/>
                  </a:cubicBezTo>
                  <a:lnTo>
                    <a:pt x="12209018" y="935101"/>
                  </a:lnTo>
                  <a:cubicBezTo>
                    <a:pt x="12209018" y="939800"/>
                    <a:pt x="12205208" y="943610"/>
                    <a:pt x="122005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12200509" y="926592"/>
                  </a:lnTo>
                  <a:lnTo>
                    <a:pt x="12200509" y="935101"/>
                  </a:lnTo>
                  <a:lnTo>
                    <a:pt x="12192000" y="935101"/>
                  </a:lnTo>
                  <a:lnTo>
                    <a:pt x="12192000" y="8509"/>
                  </a:lnTo>
                  <a:lnTo>
                    <a:pt x="12200509" y="8509"/>
                  </a:lnTo>
                  <a:lnTo>
                    <a:pt x="12200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4754880" y="6494526"/>
            <a:ext cx="8778240" cy="694944"/>
            <a:chOff x="0" y="0"/>
            <a:chExt cx="11704320" cy="92659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704320" cy="926592"/>
            </a:xfrm>
            <a:custGeom>
              <a:avLst/>
              <a:gdLst/>
              <a:ahLst/>
              <a:cxnLst/>
              <a:rect l="l" t="t" r="r" b="b"/>
              <a:pathLst>
                <a:path w="11704320" h="926592">
                  <a:moveTo>
                    <a:pt x="0" y="0"/>
                  </a:moveTo>
                  <a:lnTo>
                    <a:pt x="11704320" y="0"/>
                  </a:lnTo>
                  <a:lnTo>
                    <a:pt x="11704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126" b="-196126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57150"/>
              <a:ext cx="1170432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— JWT, RBAC, cross-user isolation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194047" y="7256269"/>
            <a:ext cx="11899897" cy="707641"/>
            <a:chOff x="0" y="0"/>
            <a:chExt cx="15866529" cy="943521"/>
          </a:xfrm>
        </p:grpSpPr>
        <p:sp>
          <p:nvSpPr>
            <p:cNvPr id="65" name="Freeform 65"/>
            <p:cNvSpPr/>
            <p:nvPr/>
          </p:nvSpPr>
          <p:spPr>
            <a:xfrm>
              <a:off x="8509" y="8509"/>
              <a:ext cx="15849601" cy="926592"/>
            </a:xfrm>
            <a:custGeom>
              <a:avLst/>
              <a:gdLst/>
              <a:ahLst/>
              <a:cxnLst/>
              <a:rect l="l" t="t" r="r" b="b"/>
              <a:pathLst>
                <a:path w="15849601" h="926592">
                  <a:moveTo>
                    <a:pt x="0" y="0"/>
                  </a:moveTo>
                  <a:lnTo>
                    <a:pt x="15849601" y="0"/>
                  </a:lnTo>
                  <a:lnTo>
                    <a:pt x="1584960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15866618" cy="943610"/>
            </a:xfrm>
            <a:custGeom>
              <a:avLst/>
              <a:gdLst/>
              <a:ahLst/>
              <a:cxnLst/>
              <a:rect l="l" t="t" r="r" b="b"/>
              <a:pathLst>
                <a:path w="15866618" h="943610">
                  <a:moveTo>
                    <a:pt x="8509" y="0"/>
                  </a:moveTo>
                  <a:lnTo>
                    <a:pt x="15858110" y="0"/>
                  </a:lnTo>
                  <a:cubicBezTo>
                    <a:pt x="15862808" y="0"/>
                    <a:pt x="15866618" y="3810"/>
                    <a:pt x="15866618" y="8509"/>
                  </a:cubicBezTo>
                  <a:lnTo>
                    <a:pt x="15866618" y="935101"/>
                  </a:lnTo>
                  <a:cubicBezTo>
                    <a:pt x="15866618" y="939800"/>
                    <a:pt x="15862808" y="943610"/>
                    <a:pt x="15858110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15858110" y="926592"/>
                  </a:lnTo>
                  <a:lnTo>
                    <a:pt x="15858110" y="935101"/>
                  </a:lnTo>
                  <a:lnTo>
                    <a:pt x="15849600" y="935101"/>
                  </a:lnTo>
                  <a:lnTo>
                    <a:pt x="15849600" y="8509"/>
                  </a:lnTo>
                  <a:lnTo>
                    <a:pt x="15858110" y="8509"/>
                  </a:lnTo>
                  <a:lnTo>
                    <a:pt x="158581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3383280" y="7262622"/>
            <a:ext cx="11521440" cy="694944"/>
            <a:chOff x="0" y="0"/>
            <a:chExt cx="15361920" cy="92659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5361920" cy="926592"/>
            </a:xfrm>
            <a:custGeom>
              <a:avLst/>
              <a:gdLst/>
              <a:ahLst/>
              <a:cxnLst/>
              <a:rect l="l" t="t" r="r" b="b"/>
              <a:pathLst>
                <a:path w="15361920" h="926592">
                  <a:moveTo>
                    <a:pt x="0" y="0"/>
                  </a:moveTo>
                  <a:lnTo>
                    <a:pt x="15361920" y="0"/>
                  </a:lnTo>
                  <a:lnTo>
                    <a:pt x="15361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041" b="-273041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1536192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— Playwright critical flows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822447" y="8024365"/>
            <a:ext cx="14643097" cy="707641"/>
            <a:chOff x="0" y="0"/>
            <a:chExt cx="19524129" cy="943521"/>
          </a:xfrm>
        </p:grpSpPr>
        <p:sp>
          <p:nvSpPr>
            <p:cNvPr id="71" name="Freeform 71"/>
            <p:cNvSpPr/>
            <p:nvPr/>
          </p:nvSpPr>
          <p:spPr>
            <a:xfrm>
              <a:off x="8509" y="8509"/>
              <a:ext cx="19507201" cy="926592"/>
            </a:xfrm>
            <a:custGeom>
              <a:avLst/>
              <a:gdLst/>
              <a:ahLst/>
              <a:cxnLst/>
              <a:rect l="l" t="t" r="r" b="b"/>
              <a:pathLst>
                <a:path w="19507201" h="926592">
                  <a:moveTo>
                    <a:pt x="0" y="0"/>
                  </a:moveTo>
                  <a:lnTo>
                    <a:pt x="19507201" y="0"/>
                  </a:lnTo>
                  <a:lnTo>
                    <a:pt x="1950720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19524218" cy="943610"/>
            </a:xfrm>
            <a:custGeom>
              <a:avLst/>
              <a:gdLst/>
              <a:ahLst/>
              <a:cxnLst/>
              <a:rect l="l" t="t" r="r" b="b"/>
              <a:pathLst>
                <a:path w="19524218" h="943610">
                  <a:moveTo>
                    <a:pt x="8509" y="0"/>
                  </a:moveTo>
                  <a:lnTo>
                    <a:pt x="19515710" y="0"/>
                  </a:lnTo>
                  <a:cubicBezTo>
                    <a:pt x="19520408" y="0"/>
                    <a:pt x="19524218" y="3810"/>
                    <a:pt x="19524218" y="8509"/>
                  </a:cubicBezTo>
                  <a:lnTo>
                    <a:pt x="19524218" y="935101"/>
                  </a:lnTo>
                  <a:cubicBezTo>
                    <a:pt x="19524218" y="939800"/>
                    <a:pt x="19520408" y="943610"/>
                    <a:pt x="19515710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19515710" y="926592"/>
                  </a:lnTo>
                  <a:lnTo>
                    <a:pt x="19515710" y="935101"/>
                  </a:lnTo>
                  <a:lnTo>
                    <a:pt x="19507200" y="935101"/>
                  </a:lnTo>
                  <a:lnTo>
                    <a:pt x="19507200" y="8509"/>
                  </a:lnTo>
                  <a:lnTo>
                    <a:pt x="19515710" y="8509"/>
                  </a:lnTo>
                  <a:lnTo>
                    <a:pt x="195157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2011680" y="8030718"/>
            <a:ext cx="14264640" cy="694944"/>
            <a:chOff x="0" y="0"/>
            <a:chExt cx="19019520" cy="92659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9019520" cy="926592"/>
            </a:xfrm>
            <a:custGeom>
              <a:avLst/>
              <a:gdLst/>
              <a:ahLst/>
              <a:cxnLst/>
              <a:rect l="l" t="t" r="r" b="b"/>
              <a:pathLst>
                <a:path w="19019520" h="926592">
                  <a:moveTo>
                    <a:pt x="0" y="0"/>
                  </a:moveTo>
                  <a:lnTo>
                    <a:pt x="19019520" y="0"/>
                  </a:lnTo>
                  <a:lnTo>
                    <a:pt x="1901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9956" b="-349956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57150"/>
              <a:ext cx="1901952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 — API + OCR + AI contracts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42287" y="8792461"/>
            <a:ext cx="17203417" cy="707641"/>
            <a:chOff x="0" y="0"/>
            <a:chExt cx="22937889" cy="943521"/>
          </a:xfrm>
        </p:grpSpPr>
        <p:sp>
          <p:nvSpPr>
            <p:cNvPr id="77" name="Freeform 77"/>
            <p:cNvSpPr/>
            <p:nvPr/>
          </p:nvSpPr>
          <p:spPr>
            <a:xfrm>
              <a:off x="8509" y="8509"/>
              <a:ext cx="22920961" cy="926592"/>
            </a:xfrm>
            <a:custGeom>
              <a:avLst/>
              <a:gdLst/>
              <a:ahLst/>
              <a:cxnLst/>
              <a:rect l="l" t="t" r="r" b="b"/>
              <a:pathLst>
                <a:path w="22920961" h="926592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id="78" name="Freeform 78"/>
            <p:cNvSpPr/>
            <p:nvPr/>
          </p:nvSpPr>
          <p:spPr>
            <a:xfrm>
              <a:off x="0" y="0"/>
              <a:ext cx="22937978" cy="943610"/>
            </a:xfrm>
            <a:custGeom>
              <a:avLst/>
              <a:gdLst/>
              <a:ahLst/>
              <a:cxnLst/>
              <a:rect l="l" t="t" r="r" b="b"/>
              <a:pathLst>
                <a:path w="22937978" h="943610">
                  <a:moveTo>
                    <a:pt x="8509" y="0"/>
                  </a:moveTo>
                  <a:lnTo>
                    <a:pt x="22929470" y="0"/>
                  </a:lnTo>
                  <a:cubicBezTo>
                    <a:pt x="22934169" y="0"/>
                    <a:pt x="22937978" y="3810"/>
                    <a:pt x="22937978" y="8509"/>
                  </a:cubicBezTo>
                  <a:lnTo>
                    <a:pt x="22937978" y="935101"/>
                  </a:lnTo>
                  <a:cubicBezTo>
                    <a:pt x="22937978" y="939800"/>
                    <a:pt x="22934169" y="943610"/>
                    <a:pt x="22929470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22929470" y="926592"/>
                  </a:lnTo>
                  <a:lnTo>
                    <a:pt x="22929470" y="935101"/>
                  </a:lnTo>
                  <a:lnTo>
                    <a:pt x="22920961" y="935101"/>
                  </a:lnTo>
                  <a:lnTo>
                    <a:pt x="22920961" y="8509"/>
                  </a:lnTo>
                  <a:lnTo>
                    <a:pt x="22929470" y="8509"/>
                  </a:lnTo>
                  <a:lnTo>
                    <a:pt x="229294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731520" y="8755952"/>
            <a:ext cx="16824960" cy="737806"/>
            <a:chOff x="0" y="-57150"/>
            <a:chExt cx="22433280" cy="983742"/>
          </a:xfrm>
        </p:grpSpPr>
        <p:sp>
          <p:nvSpPr>
            <p:cNvPr id="80" name="Freeform 80"/>
            <p:cNvSpPr/>
            <p:nvPr/>
          </p:nvSpPr>
          <p:spPr>
            <a:xfrm>
              <a:off x="0" y="-1"/>
              <a:ext cx="22433280" cy="926593"/>
            </a:xfrm>
            <a:custGeom>
              <a:avLst/>
              <a:gdLst/>
              <a:ahLst/>
              <a:cxnLst/>
              <a:rect l="l" t="t" r="r" b="b"/>
              <a:pathLst>
                <a:path w="22433280" h="926592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743" b="-421743"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57150"/>
              <a:ext cx="22433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 dirty="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 — Backend services, routes, frontend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83" name="Group 83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86" name="AutoShape 86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7" name="AutoShape 87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" name="AutoShape 88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9" name="AutoShape 89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0" name="AutoShape 90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1" name="AutoShape 91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2" name="AutoShape 92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3" name="AutoShape 93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24" name="AutoShape 124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36" name="Group 136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39" name="TextBox 139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141" name="Freeform 141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2" name="TextBox 66">
            <a:extLst>
              <a:ext uri="{FF2B5EF4-FFF2-40B4-BE49-F238E27FC236}">
                <a16:creationId xmlns:a16="http://schemas.microsoft.com/office/drawing/2014/main" id="{84334B17-3BA3-ED29-923B-D82E63F28CD2}"/>
              </a:ext>
            </a:extLst>
          </p:cNvPr>
          <p:cNvSpPr txBox="1"/>
          <p:nvPr/>
        </p:nvSpPr>
        <p:spPr>
          <a:xfrm>
            <a:off x="5408023" y="9517637"/>
            <a:ext cx="7935686" cy="6900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600"/>
              </a:lnSpc>
            </a:pPr>
            <a:r>
              <a:rPr lang="en-US" sz="3000" i="1" dirty="0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7.6: Testing Pyramid Architecture Simplified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8914" y="586191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— All Targets Met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5403" y="1795646"/>
            <a:ext cx="15255534" cy="23509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49" name="AutoShape 49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66" name="Freeform 66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7" name="Group 67"/>
          <p:cNvGrpSpPr/>
          <p:nvPr/>
        </p:nvGrpSpPr>
        <p:grpSpPr>
          <a:xfrm>
            <a:off x="355882" y="2270390"/>
            <a:ext cx="5630671" cy="2511508"/>
            <a:chOff x="0" y="0"/>
            <a:chExt cx="7249160" cy="3233420"/>
          </a:xfrm>
        </p:grpSpPr>
        <p:sp>
          <p:nvSpPr>
            <p:cNvPr id="68" name="Freeform 68"/>
            <p:cNvSpPr/>
            <p:nvPr/>
          </p:nvSpPr>
          <p:spPr>
            <a:xfrm>
              <a:off x="12700" y="13495"/>
              <a:ext cx="7223760" cy="3206430"/>
            </a:xfrm>
            <a:custGeom>
              <a:avLst/>
              <a:gdLst/>
              <a:ahLst/>
              <a:cxnLst/>
              <a:rect l="l" t="t" r="r" b="b"/>
              <a:pathLst>
                <a:path w="7223760" h="320643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7249160" cy="3233420"/>
            </a:xfrm>
            <a:custGeom>
              <a:avLst/>
              <a:gdLst/>
              <a:ahLst/>
              <a:cxnLst/>
              <a:rect l="l" t="t" r="r" b="b"/>
              <a:pathLst>
                <a:path w="7249160" h="323342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355882" y="2270390"/>
            <a:ext cx="133368" cy="2363540"/>
            <a:chOff x="0" y="0"/>
            <a:chExt cx="171704" cy="3042920"/>
          </a:xfrm>
        </p:grpSpPr>
        <p:sp>
          <p:nvSpPr>
            <p:cNvPr id="71" name="Freeform 71"/>
            <p:cNvSpPr/>
            <p:nvPr/>
          </p:nvSpPr>
          <p:spPr>
            <a:xfrm>
              <a:off x="12700" y="12700"/>
              <a:ext cx="146304" cy="3017520"/>
            </a:xfrm>
            <a:custGeom>
              <a:avLst/>
              <a:gdLst/>
              <a:ahLst/>
              <a:cxnLst/>
              <a:rect l="l" t="t" r="r" b="b"/>
              <a:pathLst>
                <a:path w="146304" h="3017520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171704" cy="3042920"/>
            </a:xfrm>
            <a:custGeom>
              <a:avLst/>
              <a:gdLst/>
              <a:ahLst/>
              <a:cxnLst/>
              <a:rect l="l" t="t" r="r" b="b"/>
              <a:pathLst>
                <a:path w="171704" h="3042920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720869" y="2493328"/>
            <a:ext cx="5042746" cy="576998"/>
            <a:chOff x="0" y="0"/>
            <a:chExt cx="6492240" cy="74285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492240" cy="742851"/>
            </a:xfrm>
            <a:custGeom>
              <a:avLst/>
              <a:gdLst/>
              <a:ahLst/>
              <a:cxnLst/>
              <a:rect l="l" t="t" r="r" b="b"/>
              <a:pathLst>
                <a:path w="6492240" h="742851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209" b="-113374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p50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0869" y="2873344"/>
            <a:ext cx="2769959" cy="1163860"/>
            <a:chOff x="0" y="0"/>
            <a:chExt cx="3566160" cy="149840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566160" cy="1498402"/>
            </a:xfrm>
            <a:custGeom>
              <a:avLst/>
              <a:gdLst/>
              <a:ahLst/>
              <a:cxnLst/>
              <a:rect l="l" t="t" r="r" b="b"/>
              <a:pathLst>
                <a:path w="3566160" h="1498402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6" b="10908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 dirty="0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150 </a:t>
              </a:r>
              <a:r>
                <a:rPr lang="en-US" sz="5600" b="1" dirty="0" err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</a:t>
              </a:r>
              <a:endParaRPr lang="en-US" sz="5600" b="1" dirty="0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632877" y="2702002"/>
            <a:ext cx="2130738" cy="576998"/>
            <a:chOff x="0" y="0"/>
            <a:chExt cx="2743200" cy="742851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743200" cy="742851"/>
            </a:xfrm>
            <a:custGeom>
              <a:avLst/>
              <a:gdLst/>
              <a:ahLst/>
              <a:cxnLst/>
              <a:rect l="l" t="t" r="r" b="b"/>
              <a:pathLst>
                <a:path w="2743200" h="742851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81" b="-2727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3632877" y="3217449"/>
            <a:ext cx="2130738" cy="49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200 ms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5266443" y="2990501"/>
            <a:ext cx="426148" cy="426148"/>
            <a:chOff x="0" y="0"/>
            <a:chExt cx="548640" cy="548640"/>
          </a:xfrm>
        </p:grpSpPr>
        <p:sp>
          <p:nvSpPr>
            <p:cNvPr id="84" name="Freeform 84" descr="preencoded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5" name="TextBox 85"/>
          <p:cNvSpPr txBox="1"/>
          <p:nvPr/>
        </p:nvSpPr>
        <p:spPr>
          <a:xfrm>
            <a:off x="720869" y="3856670"/>
            <a:ext cx="5042746" cy="88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1" dirty="0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Booking and search feel instant, no waiting between taps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6179898" y="2270390"/>
            <a:ext cx="5630671" cy="2511508"/>
            <a:chOff x="0" y="0"/>
            <a:chExt cx="7249160" cy="3233420"/>
          </a:xfrm>
        </p:grpSpPr>
        <p:sp>
          <p:nvSpPr>
            <p:cNvPr id="87" name="Freeform 87"/>
            <p:cNvSpPr/>
            <p:nvPr/>
          </p:nvSpPr>
          <p:spPr>
            <a:xfrm>
              <a:off x="12700" y="13495"/>
              <a:ext cx="7223760" cy="3206430"/>
            </a:xfrm>
            <a:custGeom>
              <a:avLst/>
              <a:gdLst/>
              <a:ahLst/>
              <a:cxnLst/>
              <a:rect l="l" t="t" r="r" b="b"/>
              <a:pathLst>
                <a:path w="7223760" h="320643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7249160" cy="3233420"/>
            </a:xfrm>
            <a:custGeom>
              <a:avLst/>
              <a:gdLst/>
              <a:ahLst/>
              <a:cxnLst/>
              <a:rect l="l" t="t" r="r" b="b"/>
              <a:pathLst>
                <a:path w="7249160" h="323342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6179898" y="2270390"/>
            <a:ext cx="133368" cy="2363540"/>
            <a:chOff x="0" y="0"/>
            <a:chExt cx="171704" cy="3042920"/>
          </a:xfrm>
        </p:grpSpPr>
        <p:sp>
          <p:nvSpPr>
            <p:cNvPr id="90" name="Freeform 90"/>
            <p:cNvSpPr/>
            <p:nvPr/>
          </p:nvSpPr>
          <p:spPr>
            <a:xfrm>
              <a:off x="12700" y="12700"/>
              <a:ext cx="146304" cy="3017520"/>
            </a:xfrm>
            <a:custGeom>
              <a:avLst/>
              <a:gdLst/>
              <a:ahLst/>
              <a:cxnLst/>
              <a:rect l="l" t="t" r="r" b="b"/>
              <a:pathLst>
                <a:path w="146304" h="3017520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171704" cy="3042920"/>
            </a:xfrm>
            <a:custGeom>
              <a:avLst/>
              <a:gdLst/>
              <a:ahLst/>
              <a:cxnLst/>
              <a:rect l="l" t="t" r="r" b="b"/>
              <a:pathLst>
                <a:path w="171704" h="3042920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92" name="Group 92"/>
          <p:cNvGrpSpPr/>
          <p:nvPr/>
        </p:nvGrpSpPr>
        <p:grpSpPr>
          <a:xfrm>
            <a:off x="6544885" y="2493328"/>
            <a:ext cx="5042746" cy="576998"/>
            <a:chOff x="0" y="0"/>
            <a:chExt cx="6492240" cy="74285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492240" cy="742851"/>
            </a:xfrm>
            <a:custGeom>
              <a:avLst/>
              <a:gdLst/>
              <a:ahLst/>
              <a:cxnLst/>
              <a:rect l="l" t="t" r="r" b="b"/>
              <a:pathLst>
                <a:path w="6492240" h="742851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209" b="-113374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p95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544885" y="2873344"/>
            <a:ext cx="2769959" cy="1163860"/>
            <a:chOff x="0" y="0"/>
            <a:chExt cx="3566160" cy="149840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566160" cy="1498402"/>
            </a:xfrm>
            <a:custGeom>
              <a:avLst/>
              <a:gdLst/>
              <a:ahLst/>
              <a:cxnLst/>
              <a:rect l="l" t="t" r="r" b="b"/>
              <a:pathLst>
                <a:path w="3566160" h="1498402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6" b="10908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 dirty="0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320 </a:t>
              </a:r>
              <a:r>
                <a:rPr lang="en-US" sz="5600" b="1" dirty="0" err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</a:t>
              </a:r>
              <a:endParaRPr lang="en-US" sz="5600" b="1" dirty="0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456893" y="2697601"/>
            <a:ext cx="2130738" cy="576998"/>
            <a:chOff x="0" y="0"/>
            <a:chExt cx="2743200" cy="742851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2743200" cy="742851"/>
            </a:xfrm>
            <a:custGeom>
              <a:avLst/>
              <a:gdLst/>
              <a:ahLst/>
              <a:cxnLst/>
              <a:rect l="l" t="t" r="r" b="b"/>
              <a:pathLst>
                <a:path w="2743200" h="742851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81" b="-2727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9456893" y="3217449"/>
            <a:ext cx="2130738" cy="49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500 ms</a:t>
            </a:r>
          </a:p>
        </p:txBody>
      </p:sp>
      <p:grpSp>
        <p:nvGrpSpPr>
          <p:cNvPr id="102" name="Group 102"/>
          <p:cNvGrpSpPr/>
          <p:nvPr/>
        </p:nvGrpSpPr>
        <p:grpSpPr>
          <a:xfrm>
            <a:off x="11090459" y="2990501"/>
            <a:ext cx="426148" cy="426148"/>
            <a:chOff x="0" y="0"/>
            <a:chExt cx="548640" cy="548640"/>
          </a:xfrm>
        </p:grpSpPr>
        <p:sp>
          <p:nvSpPr>
            <p:cNvPr id="103" name="Freeform 103" descr="preencoded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4" name="TextBox 104"/>
          <p:cNvSpPr txBox="1"/>
          <p:nvPr/>
        </p:nvSpPr>
        <p:spPr>
          <a:xfrm>
            <a:off x="6544885" y="3856670"/>
            <a:ext cx="5042746" cy="92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1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Even tail-latency stays inside an interactive budget</a:t>
            </a:r>
          </a:p>
        </p:txBody>
      </p:sp>
      <p:grpSp>
        <p:nvGrpSpPr>
          <p:cNvPr id="105" name="Group 105"/>
          <p:cNvGrpSpPr/>
          <p:nvPr/>
        </p:nvGrpSpPr>
        <p:grpSpPr>
          <a:xfrm>
            <a:off x="12003914" y="2270390"/>
            <a:ext cx="5630671" cy="2513610"/>
            <a:chOff x="0" y="0"/>
            <a:chExt cx="7249160" cy="3236125"/>
          </a:xfrm>
        </p:grpSpPr>
        <p:sp>
          <p:nvSpPr>
            <p:cNvPr id="106" name="Freeform 106"/>
            <p:cNvSpPr/>
            <p:nvPr/>
          </p:nvSpPr>
          <p:spPr>
            <a:xfrm>
              <a:off x="12700" y="13506"/>
              <a:ext cx="7223760" cy="3209113"/>
            </a:xfrm>
            <a:custGeom>
              <a:avLst/>
              <a:gdLst/>
              <a:ahLst/>
              <a:cxnLst/>
              <a:rect l="l" t="t" r="r" b="b"/>
              <a:pathLst>
                <a:path w="7223760" h="3209113">
                  <a:moveTo>
                    <a:pt x="0" y="0"/>
                  </a:moveTo>
                  <a:lnTo>
                    <a:pt x="7223760" y="0"/>
                  </a:lnTo>
                  <a:lnTo>
                    <a:pt x="7223760" y="3209113"/>
                  </a:lnTo>
                  <a:lnTo>
                    <a:pt x="0" y="32091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7" name="Freeform 107"/>
            <p:cNvSpPr/>
            <p:nvPr/>
          </p:nvSpPr>
          <p:spPr>
            <a:xfrm>
              <a:off x="0" y="0"/>
              <a:ext cx="7249160" cy="3236126"/>
            </a:xfrm>
            <a:custGeom>
              <a:avLst/>
              <a:gdLst/>
              <a:ahLst/>
              <a:cxnLst/>
              <a:rect l="l" t="t" r="r" b="b"/>
              <a:pathLst>
                <a:path w="7249160" h="3236126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8"/>
                    <a:pt x="7249160" y="13506"/>
                  </a:cubicBezTo>
                  <a:lnTo>
                    <a:pt x="7249160" y="3222619"/>
                  </a:lnTo>
                  <a:cubicBezTo>
                    <a:pt x="7249160" y="3230048"/>
                    <a:pt x="7243445" y="3236126"/>
                    <a:pt x="7236460" y="3236126"/>
                  </a:cubicBezTo>
                  <a:lnTo>
                    <a:pt x="12700" y="3236126"/>
                  </a:lnTo>
                  <a:cubicBezTo>
                    <a:pt x="5715" y="3236126"/>
                    <a:pt x="0" y="3230048"/>
                    <a:pt x="0" y="3222619"/>
                  </a:cubicBezTo>
                  <a:lnTo>
                    <a:pt x="0" y="13506"/>
                  </a:lnTo>
                  <a:cubicBezTo>
                    <a:pt x="0" y="6078"/>
                    <a:pt x="5715" y="0"/>
                    <a:pt x="12700" y="0"/>
                  </a:cubicBezTo>
                  <a:moveTo>
                    <a:pt x="12700" y="27013"/>
                  </a:moveTo>
                  <a:lnTo>
                    <a:pt x="12700" y="13506"/>
                  </a:lnTo>
                  <a:lnTo>
                    <a:pt x="25400" y="13506"/>
                  </a:lnTo>
                  <a:lnTo>
                    <a:pt x="25400" y="3222619"/>
                  </a:lnTo>
                  <a:lnTo>
                    <a:pt x="12700" y="3222619"/>
                  </a:lnTo>
                  <a:lnTo>
                    <a:pt x="12700" y="3209113"/>
                  </a:lnTo>
                  <a:lnTo>
                    <a:pt x="7236460" y="3209113"/>
                  </a:lnTo>
                  <a:lnTo>
                    <a:pt x="7236460" y="3222619"/>
                  </a:lnTo>
                  <a:lnTo>
                    <a:pt x="7223760" y="3222619"/>
                  </a:lnTo>
                  <a:lnTo>
                    <a:pt x="7223760" y="13506"/>
                  </a:lnTo>
                  <a:lnTo>
                    <a:pt x="7236460" y="13506"/>
                  </a:lnTo>
                  <a:lnTo>
                    <a:pt x="7236460" y="27013"/>
                  </a:lnTo>
                  <a:lnTo>
                    <a:pt x="12700" y="27013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8" name="Group 108"/>
          <p:cNvGrpSpPr/>
          <p:nvPr/>
        </p:nvGrpSpPr>
        <p:grpSpPr>
          <a:xfrm>
            <a:off x="12003914" y="2270390"/>
            <a:ext cx="133368" cy="2363540"/>
            <a:chOff x="0" y="0"/>
            <a:chExt cx="171704" cy="3042920"/>
          </a:xfrm>
        </p:grpSpPr>
        <p:sp>
          <p:nvSpPr>
            <p:cNvPr id="109" name="Freeform 109"/>
            <p:cNvSpPr/>
            <p:nvPr/>
          </p:nvSpPr>
          <p:spPr>
            <a:xfrm>
              <a:off x="12700" y="12700"/>
              <a:ext cx="146304" cy="3017520"/>
            </a:xfrm>
            <a:custGeom>
              <a:avLst/>
              <a:gdLst/>
              <a:ahLst/>
              <a:cxnLst/>
              <a:rect l="l" t="t" r="r" b="b"/>
              <a:pathLst>
                <a:path w="146304" h="3017520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10" name="Freeform 110"/>
            <p:cNvSpPr/>
            <p:nvPr/>
          </p:nvSpPr>
          <p:spPr>
            <a:xfrm>
              <a:off x="0" y="0"/>
              <a:ext cx="171704" cy="3042920"/>
            </a:xfrm>
            <a:custGeom>
              <a:avLst/>
              <a:gdLst/>
              <a:ahLst/>
              <a:cxnLst/>
              <a:rect l="l" t="t" r="r" b="b"/>
              <a:pathLst>
                <a:path w="171704" h="3042920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12368901" y="2493328"/>
            <a:ext cx="5042746" cy="576998"/>
            <a:chOff x="0" y="0"/>
            <a:chExt cx="6492240" cy="742851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6492240" cy="742851"/>
            </a:xfrm>
            <a:custGeom>
              <a:avLst/>
              <a:gdLst/>
              <a:ahLst/>
              <a:cxnLst/>
              <a:rect l="l" t="t" r="r" b="b"/>
              <a:pathLst>
                <a:path w="6492240" h="742851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209" b="-113374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latency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2368901" y="2948314"/>
            <a:ext cx="2769959" cy="1163860"/>
            <a:chOff x="0" y="0"/>
            <a:chExt cx="3566160" cy="1498402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3566160" cy="1498402"/>
            </a:xfrm>
            <a:custGeom>
              <a:avLst/>
              <a:gdLst/>
              <a:ahLst/>
              <a:cxnLst/>
              <a:rect l="l" t="t" r="r" b="b"/>
              <a:pathLst>
                <a:path w="3566160" h="1498402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6" b="10908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3.5 s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5280909" y="2781827"/>
            <a:ext cx="2130738" cy="576998"/>
            <a:chOff x="0" y="0"/>
            <a:chExt cx="2743200" cy="742851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2743200" cy="742851"/>
            </a:xfrm>
            <a:custGeom>
              <a:avLst/>
              <a:gdLst/>
              <a:ahLst/>
              <a:cxnLst/>
              <a:rect l="l" t="t" r="r" b="b"/>
              <a:pathLst>
                <a:path w="2743200" h="742851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81" b="-2727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15280909" y="3217449"/>
            <a:ext cx="2130738" cy="49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5 s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16914475" y="2990501"/>
            <a:ext cx="426148" cy="426148"/>
            <a:chOff x="0" y="0"/>
            <a:chExt cx="548640" cy="548640"/>
          </a:xfrm>
        </p:grpSpPr>
        <p:sp>
          <p:nvSpPr>
            <p:cNvPr id="122" name="Freeform 122" descr="preencoded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23" name="TextBox 123"/>
          <p:cNvSpPr txBox="1"/>
          <p:nvPr/>
        </p:nvSpPr>
        <p:spPr>
          <a:xfrm>
            <a:off x="12368901" y="3856670"/>
            <a:ext cx="5042746" cy="92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1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Document upload still feels like a single user action</a:t>
            </a:r>
          </a:p>
        </p:txBody>
      </p:sp>
      <p:grpSp>
        <p:nvGrpSpPr>
          <p:cNvPr id="124" name="Group 124"/>
          <p:cNvGrpSpPr/>
          <p:nvPr/>
        </p:nvGrpSpPr>
        <p:grpSpPr>
          <a:xfrm>
            <a:off x="355882" y="4898300"/>
            <a:ext cx="5630671" cy="2511508"/>
            <a:chOff x="0" y="0"/>
            <a:chExt cx="7249160" cy="3233420"/>
          </a:xfrm>
        </p:grpSpPr>
        <p:sp>
          <p:nvSpPr>
            <p:cNvPr id="125" name="Freeform 125"/>
            <p:cNvSpPr/>
            <p:nvPr/>
          </p:nvSpPr>
          <p:spPr>
            <a:xfrm>
              <a:off x="12700" y="13495"/>
              <a:ext cx="7223760" cy="3206430"/>
            </a:xfrm>
            <a:custGeom>
              <a:avLst/>
              <a:gdLst/>
              <a:ahLst/>
              <a:cxnLst/>
              <a:rect l="l" t="t" r="r" b="b"/>
              <a:pathLst>
                <a:path w="7223760" h="320643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6" name="Freeform 126"/>
            <p:cNvSpPr/>
            <p:nvPr/>
          </p:nvSpPr>
          <p:spPr>
            <a:xfrm>
              <a:off x="0" y="0"/>
              <a:ext cx="7249160" cy="3233420"/>
            </a:xfrm>
            <a:custGeom>
              <a:avLst/>
              <a:gdLst/>
              <a:ahLst/>
              <a:cxnLst/>
              <a:rect l="l" t="t" r="r" b="b"/>
              <a:pathLst>
                <a:path w="7249160" h="323342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27" name="Group 127"/>
          <p:cNvGrpSpPr/>
          <p:nvPr/>
        </p:nvGrpSpPr>
        <p:grpSpPr>
          <a:xfrm>
            <a:off x="355882" y="4898300"/>
            <a:ext cx="133368" cy="2363540"/>
            <a:chOff x="0" y="0"/>
            <a:chExt cx="171704" cy="3042920"/>
          </a:xfrm>
        </p:grpSpPr>
        <p:sp>
          <p:nvSpPr>
            <p:cNvPr id="128" name="Freeform 128"/>
            <p:cNvSpPr/>
            <p:nvPr/>
          </p:nvSpPr>
          <p:spPr>
            <a:xfrm>
              <a:off x="12700" y="12700"/>
              <a:ext cx="146304" cy="3017520"/>
            </a:xfrm>
            <a:custGeom>
              <a:avLst/>
              <a:gdLst/>
              <a:ahLst/>
              <a:cxnLst/>
              <a:rect l="l" t="t" r="r" b="b"/>
              <a:pathLst>
                <a:path w="146304" h="3017520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id="129" name="Freeform 129"/>
            <p:cNvSpPr/>
            <p:nvPr/>
          </p:nvSpPr>
          <p:spPr>
            <a:xfrm>
              <a:off x="0" y="0"/>
              <a:ext cx="171704" cy="3042920"/>
            </a:xfrm>
            <a:custGeom>
              <a:avLst/>
              <a:gdLst/>
              <a:ahLst/>
              <a:cxnLst/>
              <a:rect l="l" t="t" r="r" b="b"/>
              <a:pathLst>
                <a:path w="171704" h="3042920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id="130" name="Group 130"/>
          <p:cNvGrpSpPr/>
          <p:nvPr/>
        </p:nvGrpSpPr>
        <p:grpSpPr>
          <a:xfrm>
            <a:off x="720869" y="5121238"/>
            <a:ext cx="5042746" cy="576998"/>
            <a:chOff x="0" y="0"/>
            <a:chExt cx="6492240" cy="742851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6492240" cy="742851"/>
            </a:xfrm>
            <a:custGeom>
              <a:avLst/>
              <a:gdLst/>
              <a:ahLst/>
              <a:cxnLst/>
              <a:rect l="l" t="t" r="r" b="b"/>
              <a:pathLst>
                <a:path w="6492240" h="742851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209" b="-113374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medicine accuracy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720869" y="5652104"/>
            <a:ext cx="2769959" cy="1163860"/>
            <a:chOff x="0" y="0"/>
            <a:chExt cx="3566160" cy="1498402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3566160" cy="1498402"/>
            </a:xfrm>
            <a:custGeom>
              <a:avLst/>
              <a:gdLst/>
              <a:ahLst/>
              <a:cxnLst/>
              <a:rect l="l" t="t" r="r" b="b"/>
              <a:pathLst>
                <a:path w="3566160" h="1498402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6" b="10908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78%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3632877" y="5467560"/>
            <a:ext cx="2130738" cy="576998"/>
            <a:chOff x="0" y="0"/>
            <a:chExt cx="2743200" cy="742851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2743200" cy="742851"/>
            </a:xfrm>
            <a:custGeom>
              <a:avLst/>
              <a:gdLst/>
              <a:ahLst/>
              <a:cxnLst/>
              <a:rect l="l" t="t" r="r" b="b"/>
              <a:pathLst>
                <a:path w="2743200" h="742851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81" b="-2727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id="139" name="TextBox 139"/>
          <p:cNvSpPr txBox="1"/>
          <p:nvPr/>
        </p:nvSpPr>
        <p:spPr>
          <a:xfrm>
            <a:off x="3632877" y="5921238"/>
            <a:ext cx="2130738" cy="49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≥ 75%</a:t>
            </a:r>
          </a:p>
        </p:txBody>
      </p:sp>
      <p:grpSp>
        <p:nvGrpSpPr>
          <p:cNvPr id="140" name="Group 140"/>
          <p:cNvGrpSpPr/>
          <p:nvPr/>
        </p:nvGrpSpPr>
        <p:grpSpPr>
          <a:xfrm>
            <a:off x="5266443" y="5618410"/>
            <a:ext cx="426148" cy="426148"/>
            <a:chOff x="0" y="0"/>
            <a:chExt cx="548640" cy="548640"/>
          </a:xfrm>
        </p:grpSpPr>
        <p:sp>
          <p:nvSpPr>
            <p:cNvPr id="141" name="Freeform 141" descr="preencoded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42" name="TextBox 142"/>
          <p:cNvSpPr txBox="1"/>
          <p:nvPr/>
        </p:nvSpPr>
        <p:spPr>
          <a:xfrm>
            <a:off x="720869" y="6484580"/>
            <a:ext cx="5042746" cy="92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1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Usable in real chambers with handwritten Rx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6179898" y="4898300"/>
            <a:ext cx="5630671" cy="2511508"/>
            <a:chOff x="0" y="0"/>
            <a:chExt cx="7249160" cy="3233420"/>
          </a:xfrm>
        </p:grpSpPr>
        <p:sp>
          <p:nvSpPr>
            <p:cNvPr id="144" name="Freeform 144"/>
            <p:cNvSpPr/>
            <p:nvPr/>
          </p:nvSpPr>
          <p:spPr>
            <a:xfrm>
              <a:off x="12700" y="13495"/>
              <a:ext cx="7223760" cy="3206430"/>
            </a:xfrm>
            <a:custGeom>
              <a:avLst/>
              <a:gdLst/>
              <a:ahLst/>
              <a:cxnLst/>
              <a:rect l="l" t="t" r="r" b="b"/>
              <a:pathLst>
                <a:path w="7223760" h="320643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5" name="Freeform 145"/>
            <p:cNvSpPr/>
            <p:nvPr/>
          </p:nvSpPr>
          <p:spPr>
            <a:xfrm>
              <a:off x="0" y="0"/>
              <a:ext cx="7249160" cy="3233420"/>
            </a:xfrm>
            <a:custGeom>
              <a:avLst/>
              <a:gdLst/>
              <a:ahLst/>
              <a:cxnLst/>
              <a:rect l="l" t="t" r="r" b="b"/>
              <a:pathLst>
                <a:path w="7249160" h="323342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46" name="Group 146"/>
          <p:cNvGrpSpPr/>
          <p:nvPr/>
        </p:nvGrpSpPr>
        <p:grpSpPr>
          <a:xfrm>
            <a:off x="6179898" y="4898300"/>
            <a:ext cx="133368" cy="2363540"/>
            <a:chOff x="0" y="0"/>
            <a:chExt cx="171704" cy="3042920"/>
          </a:xfrm>
        </p:grpSpPr>
        <p:sp>
          <p:nvSpPr>
            <p:cNvPr id="147" name="Freeform 147"/>
            <p:cNvSpPr/>
            <p:nvPr/>
          </p:nvSpPr>
          <p:spPr>
            <a:xfrm>
              <a:off x="12700" y="12700"/>
              <a:ext cx="146304" cy="3017520"/>
            </a:xfrm>
            <a:custGeom>
              <a:avLst/>
              <a:gdLst/>
              <a:ahLst/>
              <a:cxnLst/>
              <a:rect l="l" t="t" r="r" b="b"/>
              <a:pathLst>
                <a:path w="146304" h="3017520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148" name="Freeform 148"/>
            <p:cNvSpPr/>
            <p:nvPr/>
          </p:nvSpPr>
          <p:spPr>
            <a:xfrm>
              <a:off x="0" y="0"/>
              <a:ext cx="171704" cy="3042920"/>
            </a:xfrm>
            <a:custGeom>
              <a:avLst/>
              <a:gdLst/>
              <a:ahLst/>
              <a:cxnLst/>
              <a:rect l="l" t="t" r="r" b="b"/>
              <a:pathLst>
                <a:path w="171704" h="3042920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49" name="Group 149"/>
          <p:cNvGrpSpPr/>
          <p:nvPr/>
        </p:nvGrpSpPr>
        <p:grpSpPr>
          <a:xfrm>
            <a:off x="6544885" y="5121238"/>
            <a:ext cx="5042746" cy="576998"/>
            <a:chOff x="0" y="0"/>
            <a:chExt cx="6492240" cy="742851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6492240" cy="742851"/>
            </a:xfrm>
            <a:custGeom>
              <a:avLst/>
              <a:gdLst/>
              <a:ahLst/>
              <a:cxnLst/>
              <a:rect l="l" t="t" r="r" b="b"/>
              <a:pathLst>
                <a:path w="6492240" h="742851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209" b="-113374"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Slot propagation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6544885" y="5652104"/>
            <a:ext cx="2769959" cy="1163860"/>
            <a:chOff x="0" y="0"/>
            <a:chExt cx="3566160" cy="1498402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3566160" cy="1498402"/>
            </a:xfrm>
            <a:custGeom>
              <a:avLst/>
              <a:gdLst/>
              <a:ahLst/>
              <a:cxnLst/>
              <a:rect l="l" t="t" r="r" b="b"/>
              <a:pathLst>
                <a:path w="3566160" h="1498402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6" b="10908"/>
              </a:stretch>
            </a:blipFill>
          </p:spPr>
        </p:sp>
        <p:sp>
          <p:nvSpPr>
            <p:cNvPr id="154" name="TextBox 154"/>
            <p:cNvSpPr txBox="1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500 ms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9456893" y="5542985"/>
            <a:ext cx="2130738" cy="576998"/>
            <a:chOff x="0" y="0"/>
            <a:chExt cx="2743200" cy="742851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2743200" cy="742851"/>
            </a:xfrm>
            <a:custGeom>
              <a:avLst/>
              <a:gdLst/>
              <a:ahLst/>
              <a:cxnLst/>
              <a:rect l="l" t="t" r="r" b="b"/>
              <a:pathLst>
                <a:path w="2743200" h="742851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81" b="-2727"/>
              </a:stretch>
            </a:blipFill>
          </p:spPr>
        </p:sp>
        <p:sp>
          <p:nvSpPr>
            <p:cNvPr id="157" name="TextBox 157"/>
            <p:cNvSpPr txBox="1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id="158" name="TextBox 158"/>
          <p:cNvSpPr txBox="1"/>
          <p:nvPr/>
        </p:nvSpPr>
        <p:spPr>
          <a:xfrm>
            <a:off x="9456893" y="5932166"/>
            <a:ext cx="2130738" cy="49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1 s</a:t>
            </a:r>
          </a:p>
        </p:txBody>
      </p:sp>
      <p:grpSp>
        <p:nvGrpSpPr>
          <p:cNvPr id="159" name="Group 159"/>
          <p:cNvGrpSpPr/>
          <p:nvPr/>
        </p:nvGrpSpPr>
        <p:grpSpPr>
          <a:xfrm>
            <a:off x="11090459" y="5618410"/>
            <a:ext cx="426148" cy="426148"/>
            <a:chOff x="0" y="0"/>
            <a:chExt cx="548640" cy="548640"/>
          </a:xfrm>
        </p:grpSpPr>
        <p:sp>
          <p:nvSpPr>
            <p:cNvPr id="160" name="Freeform 160" descr="preencoded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61" name="TextBox 161"/>
          <p:cNvSpPr txBox="1"/>
          <p:nvPr/>
        </p:nvSpPr>
        <p:spPr>
          <a:xfrm>
            <a:off x="6544885" y="6484580"/>
            <a:ext cx="5042746" cy="92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1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Every client sees the same availability live</a:t>
            </a:r>
          </a:p>
        </p:txBody>
      </p:sp>
      <p:grpSp>
        <p:nvGrpSpPr>
          <p:cNvPr id="162" name="Group 162"/>
          <p:cNvGrpSpPr/>
          <p:nvPr/>
        </p:nvGrpSpPr>
        <p:grpSpPr>
          <a:xfrm>
            <a:off x="12003914" y="4898300"/>
            <a:ext cx="5630671" cy="2511508"/>
            <a:chOff x="0" y="0"/>
            <a:chExt cx="7249160" cy="3233420"/>
          </a:xfrm>
        </p:grpSpPr>
        <p:sp>
          <p:nvSpPr>
            <p:cNvPr id="163" name="Freeform 163"/>
            <p:cNvSpPr/>
            <p:nvPr/>
          </p:nvSpPr>
          <p:spPr>
            <a:xfrm>
              <a:off x="12700" y="13495"/>
              <a:ext cx="7223760" cy="3206430"/>
            </a:xfrm>
            <a:custGeom>
              <a:avLst/>
              <a:gdLst/>
              <a:ahLst/>
              <a:cxnLst/>
              <a:rect l="l" t="t" r="r" b="b"/>
              <a:pathLst>
                <a:path w="7223760" h="320643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4" name="Freeform 164"/>
            <p:cNvSpPr/>
            <p:nvPr/>
          </p:nvSpPr>
          <p:spPr>
            <a:xfrm>
              <a:off x="0" y="0"/>
              <a:ext cx="7249160" cy="3233420"/>
            </a:xfrm>
            <a:custGeom>
              <a:avLst/>
              <a:gdLst/>
              <a:ahLst/>
              <a:cxnLst/>
              <a:rect l="l" t="t" r="r" b="b"/>
              <a:pathLst>
                <a:path w="7249160" h="323342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65" name="Group 165"/>
          <p:cNvGrpSpPr/>
          <p:nvPr/>
        </p:nvGrpSpPr>
        <p:grpSpPr>
          <a:xfrm>
            <a:off x="12003914" y="4898300"/>
            <a:ext cx="133368" cy="2363540"/>
            <a:chOff x="0" y="0"/>
            <a:chExt cx="171704" cy="3042920"/>
          </a:xfrm>
        </p:grpSpPr>
        <p:sp>
          <p:nvSpPr>
            <p:cNvPr id="166" name="Freeform 166"/>
            <p:cNvSpPr/>
            <p:nvPr/>
          </p:nvSpPr>
          <p:spPr>
            <a:xfrm>
              <a:off x="12700" y="12700"/>
              <a:ext cx="146304" cy="3017520"/>
            </a:xfrm>
            <a:custGeom>
              <a:avLst/>
              <a:gdLst/>
              <a:ahLst/>
              <a:cxnLst/>
              <a:rect l="l" t="t" r="r" b="b"/>
              <a:pathLst>
                <a:path w="146304" h="3017520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F97066"/>
            </a:solidFill>
          </p:spPr>
        </p:sp>
        <p:sp>
          <p:nvSpPr>
            <p:cNvPr id="167" name="Freeform 167"/>
            <p:cNvSpPr/>
            <p:nvPr/>
          </p:nvSpPr>
          <p:spPr>
            <a:xfrm>
              <a:off x="0" y="0"/>
              <a:ext cx="171704" cy="3042920"/>
            </a:xfrm>
            <a:custGeom>
              <a:avLst/>
              <a:gdLst/>
              <a:ahLst/>
              <a:cxnLst/>
              <a:rect l="l" t="t" r="r" b="b"/>
              <a:pathLst>
                <a:path w="171704" h="3042920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97066"/>
            </a:solidFill>
          </p:spPr>
        </p:sp>
      </p:grpSp>
      <p:grpSp>
        <p:nvGrpSpPr>
          <p:cNvPr id="168" name="Group 168"/>
          <p:cNvGrpSpPr/>
          <p:nvPr/>
        </p:nvGrpSpPr>
        <p:grpSpPr>
          <a:xfrm>
            <a:off x="12368901" y="5121238"/>
            <a:ext cx="5042746" cy="576998"/>
            <a:chOff x="0" y="0"/>
            <a:chExt cx="6492240" cy="742851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6492240" cy="742851"/>
            </a:xfrm>
            <a:custGeom>
              <a:avLst/>
              <a:gdLst/>
              <a:ahLst/>
              <a:cxnLst/>
              <a:rect l="l" t="t" r="r" b="b"/>
              <a:pathLst>
                <a:path w="6492240" h="742851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209" b="-113374"/>
              </a:stretch>
            </a:blipFill>
          </p:spPr>
        </p:sp>
        <p:sp>
          <p:nvSpPr>
            <p:cNvPr id="170" name="TextBox 170"/>
            <p:cNvSpPr txBox="1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LCP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12368901" y="5610750"/>
            <a:ext cx="2769959" cy="1163860"/>
            <a:chOff x="0" y="0"/>
            <a:chExt cx="3566160" cy="1498402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3566160" cy="1498402"/>
            </a:xfrm>
            <a:custGeom>
              <a:avLst/>
              <a:gdLst/>
              <a:ahLst/>
              <a:cxnLst/>
              <a:rect l="l" t="t" r="r" b="b"/>
              <a:pathLst>
                <a:path w="3566160" h="1498402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6" b="10908"/>
              </a:stretch>
            </a:blipFill>
          </p:spPr>
        </p:sp>
        <p:sp>
          <p:nvSpPr>
            <p:cNvPr id="173" name="TextBox 173"/>
            <p:cNvSpPr txBox="1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2.2 s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15209885" y="5462551"/>
            <a:ext cx="2130738" cy="576998"/>
            <a:chOff x="0" y="0"/>
            <a:chExt cx="2743200" cy="742851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2743200" cy="742851"/>
            </a:xfrm>
            <a:custGeom>
              <a:avLst/>
              <a:gdLst/>
              <a:ahLst/>
              <a:cxnLst/>
              <a:rect l="l" t="t" r="r" b="b"/>
              <a:pathLst>
                <a:path w="2743200" h="742851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181" b="-2727"/>
              </a:stretch>
            </a:blipFill>
          </p:spPr>
        </p:sp>
        <p:sp>
          <p:nvSpPr>
            <p:cNvPr id="176" name="TextBox 176"/>
            <p:cNvSpPr txBox="1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id="177" name="TextBox 177"/>
          <p:cNvSpPr txBox="1"/>
          <p:nvPr/>
        </p:nvSpPr>
        <p:spPr>
          <a:xfrm>
            <a:off x="15280909" y="5879884"/>
            <a:ext cx="2130738" cy="49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2.5 s</a:t>
            </a:r>
          </a:p>
        </p:txBody>
      </p:sp>
      <p:grpSp>
        <p:nvGrpSpPr>
          <p:cNvPr id="178" name="Group 178"/>
          <p:cNvGrpSpPr/>
          <p:nvPr/>
        </p:nvGrpSpPr>
        <p:grpSpPr>
          <a:xfrm>
            <a:off x="16914475" y="5618410"/>
            <a:ext cx="426148" cy="426148"/>
            <a:chOff x="0" y="0"/>
            <a:chExt cx="548640" cy="548640"/>
          </a:xfrm>
        </p:grpSpPr>
        <p:sp>
          <p:nvSpPr>
            <p:cNvPr id="179" name="Freeform 179" descr="preencoded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80" name="TextBox 180"/>
          <p:cNvSpPr txBox="1"/>
          <p:nvPr/>
        </p:nvSpPr>
        <p:spPr>
          <a:xfrm>
            <a:off x="12368901" y="6484580"/>
            <a:ext cx="5042746" cy="92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1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Loads fast on weaker phones and weak connectivity</a:t>
            </a:r>
          </a:p>
        </p:txBody>
      </p:sp>
      <p:grpSp>
        <p:nvGrpSpPr>
          <p:cNvPr id="181" name="Group 181"/>
          <p:cNvGrpSpPr/>
          <p:nvPr/>
        </p:nvGrpSpPr>
        <p:grpSpPr>
          <a:xfrm>
            <a:off x="355882" y="7526209"/>
            <a:ext cx="17278703" cy="1999666"/>
            <a:chOff x="0" y="0"/>
            <a:chExt cx="22245320" cy="2574453"/>
          </a:xfrm>
        </p:grpSpPr>
        <p:sp>
          <p:nvSpPr>
            <p:cNvPr id="182" name="Freeform 182"/>
            <p:cNvSpPr/>
            <p:nvPr/>
          </p:nvSpPr>
          <p:spPr>
            <a:xfrm>
              <a:off x="12966" y="12213"/>
              <a:ext cx="22219387" cy="2550027"/>
            </a:xfrm>
            <a:custGeom>
              <a:avLst/>
              <a:gdLst/>
              <a:ahLst/>
              <a:cxnLst/>
              <a:rect l="l" t="t" r="r" b="b"/>
              <a:pathLst>
                <a:path w="22219387" h="2550027">
                  <a:moveTo>
                    <a:pt x="0" y="0"/>
                  </a:moveTo>
                  <a:lnTo>
                    <a:pt x="22219387" y="0"/>
                  </a:lnTo>
                  <a:lnTo>
                    <a:pt x="22219387" y="2550027"/>
                  </a:lnTo>
                  <a:lnTo>
                    <a:pt x="0" y="2550027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183" name="Freeform 183"/>
            <p:cNvSpPr/>
            <p:nvPr/>
          </p:nvSpPr>
          <p:spPr>
            <a:xfrm>
              <a:off x="0" y="0"/>
              <a:ext cx="22245320" cy="2574453"/>
            </a:xfrm>
            <a:custGeom>
              <a:avLst/>
              <a:gdLst/>
              <a:ahLst/>
              <a:cxnLst/>
              <a:rect l="l" t="t" r="r" b="b"/>
              <a:pathLst>
                <a:path w="22245320" h="2574453">
                  <a:moveTo>
                    <a:pt x="12966" y="0"/>
                  </a:moveTo>
                  <a:lnTo>
                    <a:pt x="22232353" y="0"/>
                  </a:lnTo>
                  <a:cubicBezTo>
                    <a:pt x="22239486" y="0"/>
                    <a:pt x="22245320" y="5496"/>
                    <a:pt x="22245320" y="12213"/>
                  </a:cubicBezTo>
                  <a:lnTo>
                    <a:pt x="22245320" y="2562240"/>
                  </a:lnTo>
                  <a:cubicBezTo>
                    <a:pt x="22245320" y="2568957"/>
                    <a:pt x="22239486" y="2574453"/>
                    <a:pt x="22232353" y="2574453"/>
                  </a:cubicBezTo>
                  <a:lnTo>
                    <a:pt x="12966" y="2574453"/>
                  </a:lnTo>
                  <a:cubicBezTo>
                    <a:pt x="5835" y="2574453"/>
                    <a:pt x="0" y="2568957"/>
                    <a:pt x="0" y="2562240"/>
                  </a:cubicBezTo>
                  <a:lnTo>
                    <a:pt x="0" y="12213"/>
                  </a:lnTo>
                  <a:cubicBezTo>
                    <a:pt x="0" y="5496"/>
                    <a:pt x="5835" y="0"/>
                    <a:pt x="12966" y="0"/>
                  </a:cubicBezTo>
                  <a:moveTo>
                    <a:pt x="12966" y="24426"/>
                  </a:moveTo>
                  <a:lnTo>
                    <a:pt x="12966" y="12213"/>
                  </a:lnTo>
                  <a:lnTo>
                    <a:pt x="25933" y="12213"/>
                  </a:lnTo>
                  <a:lnTo>
                    <a:pt x="25933" y="2562240"/>
                  </a:lnTo>
                  <a:lnTo>
                    <a:pt x="12966" y="2562240"/>
                  </a:lnTo>
                  <a:lnTo>
                    <a:pt x="12966" y="2550027"/>
                  </a:lnTo>
                  <a:lnTo>
                    <a:pt x="22232353" y="2550027"/>
                  </a:lnTo>
                  <a:lnTo>
                    <a:pt x="22232353" y="2562240"/>
                  </a:lnTo>
                  <a:lnTo>
                    <a:pt x="22219386" y="2562240"/>
                  </a:lnTo>
                  <a:lnTo>
                    <a:pt x="22219386" y="12213"/>
                  </a:lnTo>
                  <a:lnTo>
                    <a:pt x="22232353" y="12213"/>
                  </a:lnTo>
                  <a:lnTo>
                    <a:pt x="22232353" y="24426"/>
                  </a:lnTo>
                  <a:lnTo>
                    <a:pt x="12966" y="24426"/>
                  </a:lnTo>
                  <a:close/>
                </a:path>
              </a:pathLst>
            </a:custGeom>
            <a:solidFill>
              <a:srgbClr val="0F2A47"/>
            </a:solidFill>
          </p:spPr>
        </p:sp>
      </p:grpSp>
      <p:grpSp>
        <p:nvGrpSpPr>
          <p:cNvPr id="184" name="Group 184"/>
          <p:cNvGrpSpPr/>
          <p:nvPr/>
        </p:nvGrpSpPr>
        <p:grpSpPr>
          <a:xfrm>
            <a:off x="1136205" y="7632158"/>
            <a:ext cx="5486400" cy="557138"/>
            <a:chOff x="0" y="0"/>
            <a:chExt cx="7315200" cy="742851"/>
          </a:xfrm>
        </p:grpSpPr>
        <p:sp>
          <p:nvSpPr>
            <p:cNvPr id="185" name="Freeform 185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95" b="-134961"/>
              </a:stretch>
            </a:blipFill>
          </p:spPr>
        </p:sp>
        <p:sp>
          <p:nvSpPr>
            <p:cNvPr id="186" name="TextBox 186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spc="6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Sustained load test</a:t>
              </a:r>
            </a:p>
          </p:txBody>
        </p:sp>
      </p:grpSp>
      <p:sp>
        <p:nvSpPr>
          <p:cNvPr id="187" name="TextBox 187"/>
          <p:cNvSpPr txBox="1"/>
          <p:nvPr/>
        </p:nvSpPr>
        <p:spPr>
          <a:xfrm>
            <a:off x="1136205" y="7969343"/>
            <a:ext cx="411480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 dirty="0">
                <a:solidFill>
                  <a:srgbClr val="EDE9F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120 </a:t>
            </a:r>
            <a:r>
              <a:rPr lang="en-US" sz="6399" b="1" dirty="0" err="1">
                <a:solidFill>
                  <a:srgbClr val="EDE9F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rps</a:t>
            </a:r>
            <a:endParaRPr lang="en-US" sz="6399" b="1" dirty="0">
              <a:solidFill>
                <a:srgbClr val="EDE9FE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188" name="Group 188"/>
          <p:cNvGrpSpPr/>
          <p:nvPr/>
        </p:nvGrpSpPr>
        <p:grpSpPr>
          <a:xfrm>
            <a:off x="1136205" y="8866598"/>
            <a:ext cx="5486400" cy="557138"/>
            <a:chOff x="0" y="0"/>
            <a:chExt cx="7315200" cy="742851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950" b="-128806"/>
              </a:stretch>
            </a:blipFill>
          </p:spPr>
        </p:sp>
        <p:sp>
          <p:nvSpPr>
            <p:cNvPr id="190" name="TextBox 190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F8FA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blended healthcare workload</a:t>
              </a:r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7376985" y="7632158"/>
            <a:ext cx="5486400" cy="557138"/>
            <a:chOff x="0" y="0"/>
            <a:chExt cx="7315200" cy="742851"/>
          </a:xfrm>
        </p:grpSpPr>
        <p:sp>
          <p:nvSpPr>
            <p:cNvPr id="192" name="Freeform 192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795" b="-134961"/>
              </a:stretch>
            </a:blipFill>
          </p:spPr>
        </p:sp>
        <p:sp>
          <p:nvSpPr>
            <p:cNvPr id="193" name="TextBox 193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spc="6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Failure rate</a:t>
              </a:r>
            </a:p>
          </p:txBody>
        </p:sp>
      </p:grpSp>
      <p:sp>
        <p:nvSpPr>
          <p:cNvPr id="194" name="TextBox 194"/>
          <p:cNvSpPr txBox="1"/>
          <p:nvPr/>
        </p:nvSpPr>
        <p:spPr>
          <a:xfrm>
            <a:off x="7376985" y="7969343"/>
            <a:ext cx="411480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>
                <a:solidFill>
                  <a:srgbClr val="EDE9F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0.5%</a:t>
            </a:r>
          </a:p>
        </p:txBody>
      </p:sp>
      <p:grpSp>
        <p:nvGrpSpPr>
          <p:cNvPr id="195" name="Group 195"/>
          <p:cNvGrpSpPr/>
          <p:nvPr/>
        </p:nvGrpSpPr>
        <p:grpSpPr>
          <a:xfrm>
            <a:off x="6999795" y="8866598"/>
            <a:ext cx="5486400" cy="557138"/>
            <a:chOff x="0" y="0"/>
            <a:chExt cx="7315200" cy="742851"/>
          </a:xfrm>
        </p:grpSpPr>
        <p:sp>
          <p:nvSpPr>
            <p:cNvPr id="196" name="Freeform 196"/>
            <p:cNvSpPr/>
            <p:nvPr/>
          </p:nvSpPr>
          <p:spPr>
            <a:xfrm>
              <a:off x="0" y="0"/>
              <a:ext cx="7315200" cy="742851"/>
            </a:xfrm>
            <a:custGeom>
              <a:avLst/>
              <a:gdLst/>
              <a:ahLst/>
              <a:cxnLst/>
              <a:rect l="l" t="t" r="r" b="b"/>
              <a:pathLst>
                <a:path w="7315200" h="742851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950" b="-128806"/>
              </a:stretch>
            </a:blipFill>
          </p:spPr>
        </p:sp>
        <p:sp>
          <p:nvSpPr>
            <p:cNvPr id="197" name="TextBox 197"/>
            <p:cNvSpPr txBox="1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F8FA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staged production traffic</a:t>
              </a:r>
            </a:p>
          </p:txBody>
        </p:sp>
      </p:grpSp>
      <p:grpSp>
        <p:nvGrpSpPr>
          <p:cNvPr id="198" name="Group 198"/>
          <p:cNvGrpSpPr/>
          <p:nvPr/>
        </p:nvGrpSpPr>
        <p:grpSpPr>
          <a:xfrm>
            <a:off x="11844210" y="7628348"/>
            <a:ext cx="6025896" cy="557138"/>
            <a:chOff x="0" y="0"/>
            <a:chExt cx="8034528" cy="742851"/>
          </a:xfrm>
        </p:grpSpPr>
        <p:sp>
          <p:nvSpPr>
            <p:cNvPr id="199" name="Freeform 199"/>
            <p:cNvSpPr/>
            <p:nvPr/>
          </p:nvSpPr>
          <p:spPr>
            <a:xfrm>
              <a:off x="0" y="0"/>
              <a:ext cx="8034528" cy="742851"/>
            </a:xfrm>
            <a:custGeom>
              <a:avLst/>
              <a:gdLst/>
              <a:ahLst/>
              <a:cxnLst/>
              <a:rect l="l" t="t" r="r" b="b"/>
              <a:pathLst>
                <a:path w="8034528" h="742851">
                  <a:moveTo>
                    <a:pt x="0" y="0"/>
                  </a:moveTo>
                  <a:lnTo>
                    <a:pt x="8034528" y="0"/>
                  </a:lnTo>
                  <a:lnTo>
                    <a:pt x="8034528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810" r="20333" b="-110976"/>
              </a:stretch>
            </a:blipFill>
          </p:spPr>
        </p:sp>
        <p:sp>
          <p:nvSpPr>
            <p:cNvPr id="200" name="TextBox 200"/>
            <p:cNvSpPr txBox="1"/>
            <p:nvPr/>
          </p:nvSpPr>
          <p:spPr>
            <a:xfrm>
              <a:off x="0" y="-66675"/>
              <a:ext cx="8034528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spc="6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Critical journey passes</a:t>
              </a:r>
            </a:p>
          </p:txBody>
        </p:sp>
      </p:grpSp>
      <p:sp>
        <p:nvSpPr>
          <p:cNvPr id="201" name="TextBox 201"/>
          <p:cNvSpPr txBox="1"/>
          <p:nvPr/>
        </p:nvSpPr>
        <p:spPr>
          <a:xfrm>
            <a:off x="11955013" y="8046421"/>
            <a:ext cx="411480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>
                <a:solidFill>
                  <a:srgbClr val="EDE9F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</a:t>
            </a:r>
          </a:p>
        </p:txBody>
      </p:sp>
      <p:grpSp>
        <p:nvGrpSpPr>
          <p:cNvPr id="202" name="Group 202"/>
          <p:cNvGrpSpPr/>
          <p:nvPr/>
        </p:nvGrpSpPr>
        <p:grpSpPr>
          <a:xfrm>
            <a:off x="11955013" y="8866598"/>
            <a:ext cx="4800600" cy="557138"/>
            <a:chOff x="0" y="0"/>
            <a:chExt cx="6400800" cy="742851"/>
          </a:xfrm>
        </p:grpSpPr>
        <p:sp>
          <p:nvSpPr>
            <p:cNvPr id="203" name="Freeform 203"/>
            <p:cNvSpPr/>
            <p:nvPr/>
          </p:nvSpPr>
          <p:spPr>
            <a:xfrm>
              <a:off x="0" y="0"/>
              <a:ext cx="6400800" cy="742851"/>
            </a:xfrm>
            <a:custGeom>
              <a:avLst/>
              <a:gdLst/>
              <a:ahLst/>
              <a:cxnLst/>
              <a:rect l="l" t="t" r="r" b="b"/>
              <a:pathLst>
                <a:path w="6400800" h="742851">
                  <a:moveTo>
                    <a:pt x="0" y="0"/>
                  </a:moveTo>
                  <a:lnTo>
                    <a:pt x="6400800" y="0"/>
                  </a:lnTo>
                  <a:lnTo>
                    <a:pt x="64008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965" b="-104821"/>
              </a:stretch>
            </a:blipFill>
          </p:spPr>
        </p:sp>
        <p:sp>
          <p:nvSpPr>
            <p:cNvPr id="204" name="TextBox 204"/>
            <p:cNvSpPr txBox="1"/>
            <p:nvPr/>
          </p:nvSpPr>
          <p:spPr>
            <a:xfrm>
              <a:off x="0" y="-66675"/>
              <a:ext cx="64008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F8FA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Playwright E2E + security suites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348" y="1875257"/>
            <a:ext cx="16459200" cy="720403"/>
            <a:chOff x="0" y="0"/>
            <a:chExt cx="21945600" cy="960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960537"/>
            </a:xfrm>
            <a:custGeom>
              <a:avLst/>
              <a:gdLst/>
              <a:ahLst/>
              <a:cxnLst/>
              <a:rect l="l" t="t" r="r" b="b"/>
              <a:pathLst>
                <a:path w="21945600" h="960537">
                  <a:moveTo>
                    <a:pt x="0" y="0"/>
                  </a:moveTo>
                  <a:lnTo>
                    <a:pt x="21945600" y="0"/>
                  </a:lnTo>
                  <a:lnTo>
                    <a:pt x="21945600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7100" b="-38325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1945600" cy="1027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These are the decisions where 'first-principles thinking' replaced 'pick a library'.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8620" y="2595660"/>
            <a:ext cx="3416304" cy="6930216"/>
            <a:chOff x="0" y="0"/>
            <a:chExt cx="4125528" cy="8368926"/>
          </a:xfrm>
        </p:grpSpPr>
        <p:sp>
          <p:nvSpPr>
            <p:cNvPr id="6" name="Freeform 6"/>
            <p:cNvSpPr/>
            <p:nvPr/>
          </p:nvSpPr>
          <p:spPr>
            <a:xfrm>
              <a:off x="11771" y="12875"/>
              <a:ext cx="4101986" cy="8343175"/>
            </a:xfrm>
            <a:custGeom>
              <a:avLst/>
              <a:gdLst/>
              <a:ahLst/>
              <a:cxnLst/>
              <a:rect l="l" t="t" r="r" b="b"/>
              <a:pathLst>
                <a:path w="4101986" h="8343175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125528" cy="8368926"/>
            </a:xfrm>
            <a:custGeom>
              <a:avLst/>
              <a:gdLst/>
              <a:ahLst/>
              <a:cxnLst/>
              <a:rect l="l" t="t" r="r" b="b"/>
              <a:pathLst>
                <a:path w="4125528" h="8368926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28620" y="2595660"/>
            <a:ext cx="3416304" cy="1611163"/>
            <a:chOff x="0" y="0"/>
            <a:chExt cx="4125528" cy="1945640"/>
          </a:xfrm>
        </p:grpSpPr>
        <p:sp>
          <p:nvSpPr>
            <p:cNvPr id="9" name="Freeform 9"/>
            <p:cNvSpPr/>
            <p:nvPr/>
          </p:nvSpPr>
          <p:spPr>
            <a:xfrm>
              <a:off x="11771" y="12700"/>
              <a:ext cx="4101986" cy="1920240"/>
            </a:xfrm>
            <a:custGeom>
              <a:avLst/>
              <a:gdLst/>
              <a:ahLst/>
              <a:cxnLst/>
              <a:rect l="l" t="t" r="r" b="b"/>
              <a:pathLst>
                <a:path w="4101986" h="1920240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4125528" cy="1945640"/>
            </a:xfrm>
            <a:custGeom>
              <a:avLst/>
              <a:gdLst/>
              <a:ahLst/>
              <a:cxnLst/>
              <a:rect l="l" t="t" r="r" b="b"/>
              <a:pathLst>
                <a:path w="4125528" h="1945640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85862" y="2909058"/>
            <a:ext cx="701820" cy="757205"/>
            <a:chOff x="0" y="0"/>
            <a:chExt cx="847518" cy="9144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847518" cy="914400"/>
            </a:xfrm>
            <a:custGeom>
              <a:avLst/>
              <a:gdLst/>
              <a:ahLst/>
              <a:cxnLst/>
              <a:rect l="l" t="t" r="r" b="b"/>
              <a:pathLst>
                <a:path w="847518" h="914400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945" r="-394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478732" y="3666263"/>
            <a:ext cx="3116081" cy="641623"/>
            <a:chOff x="0" y="0"/>
            <a:chExt cx="3762979" cy="7748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62978" cy="774824"/>
            </a:xfrm>
            <a:custGeom>
              <a:avLst/>
              <a:gdLst/>
              <a:ahLst/>
              <a:cxnLst/>
              <a:rect l="l" t="t" r="r" b="b"/>
              <a:pathLst>
                <a:path w="3762978" h="774824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892" r="-7891" b="-4930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Slot consistency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9096" y="4206823"/>
            <a:ext cx="2835353" cy="641623"/>
            <a:chOff x="0" y="0"/>
            <a:chExt cx="3423972" cy="77482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23972" cy="774824"/>
            </a:xfrm>
            <a:custGeom>
              <a:avLst/>
              <a:gdLst/>
              <a:ahLst/>
              <a:cxnLst/>
              <a:rect l="l" t="t" r="r" b="b"/>
              <a:pathLst>
                <a:path w="3423972" h="774824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396" r="-7891" b="-224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19096" y="4744920"/>
            <a:ext cx="3125829" cy="150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Concurrency causes booking conflicts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9348" y="6608844"/>
            <a:ext cx="2854848" cy="51322"/>
            <a:chOff x="0" y="0"/>
            <a:chExt cx="3447514" cy="61976"/>
          </a:xfrm>
        </p:grpSpPr>
        <p:sp>
          <p:nvSpPr>
            <p:cNvPr id="21" name="Freeform 21"/>
            <p:cNvSpPr/>
            <p:nvPr/>
          </p:nvSpPr>
          <p:spPr>
            <a:xfrm>
              <a:off x="11771" y="12700"/>
              <a:ext cx="3423972" cy="36576"/>
            </a:xfrm>
            <a:custGeom>
              <a:avLst/>
              <a:gdLst/>
              <a:ahLst/>
              <a:cxnLst/>
              <a:rect l="l" t="t" r="r" b="b"/>
              <a:pathLst>
                <a:path w="3423972" h="36576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3447514" cy="61976"/>
            </a:xfrm>
            <a:custGeom>
              <a:avLst/>
              <a:gdLst/>
              <a:ahLst/>
              <a:cxnLst/>
              <a:rect l="l" t="t" r="r" b="b"/>
              <a:pathLst>
                <a:path w="3447514" h="61976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19096" y="6770802"/>
            <a:ext cx="2835353" cy="1125393"/>
            <a:chOff x="0" y="0"/>
            <a:chExt cx="3423972" cy="13590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23972" cy="1359024"/>
            </a:xfrm>
            <a:custGeom>
              <a:avLst/>
              <a:gdLst/>
              <a:ahLst/>
              <a:cxnLst/>
              <a:rect l="l" t="t" r="r" b="b"/>
              <a:pathLst>
                <a:path w="3423972" h="1359024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44" r="-7891" b="3021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19096" y="7972394"/>
            <a:ext cx="2835353" cy="102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1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Soft holds + real-time sync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907903" y="2595660"/>
            <a:ext cx="3416304" cy="6930216"/>
            <a:chOff x="0" y="0"/>
            <a:chExt cx="4125528" cy="8368926"/>
          </a:xfrm>
        </p:grpSpPr>
        <p:sp>
          <p:nvSpPr>
            <p:cNvPr id="28" name="Freeform 28"/>
            <p:cNvSpPr/>
            <p:nvPr/>
          </p:nvSpPr>
          <p:spPr>
            <a:xfrm>
              <a:off x="11771" y="12875"/>
              <a:ext cx="4101986" cy="8343175"/>
            </a:xfrm>
            <a:custGeom>
              <a:avLst/>
              <a:gdLst/>
              <a:ahLst/>
              <a:cxnLst/>
              <a:rect l="l" t="t" r="r" b="b"/>
              <a:pathLst>
                <a:path w="4101986" h="8343175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4125528" cy="8368926"/>
            </a:xfrm>
            <a:custGeom>
              <a:avLst/>
              <a:gdLst/>
              <a:ahLst/>
              <a:cxnLst/>
              <a:rect l="l" t="t" r="r" b="b"/>
              <a:pathLst>
                <a:path w="4125528" h="8368926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3907903" y="2595660"/>
            <a:ext cx="3416304" cy="1611163"/>
            <a:chOff x="0" y="0"/>
            <a:chExt cx="4125528" cy="1945640"/>
          </a:xfrm>
        </p:grpSpPr>
        <p:sp>
          <p:nvSpPr>
            <p:cNvPr id="31" name="Freeform 31"/>
            <p:cNvSpPr/>
            <p:nvPr/>
          </p:nvSpPr>
          <p:spPr>
            <a:xfrm>
              <a:off x="11771" y="12700"/>
              <a:ext cx="4101986" cy="1920240"/>
            </a:xfrm>
            <a:custGeom>
              <a:avLst/>
              <a:gdLst/>
              <a:ahLst/>
              <a:cxnLst/>
              <a:rect l="l" t="t" r="r" b="b"/>
              <a:pathLst>
                <a:path w="4101986" h="1920240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4125528" cy="1945640"/>
            </a:xfrm>
            <a:custGeom>
              <a:avLst/>
              <a:gdLst/>
              <a:ahLst/>
              <a:cxnLst/>
              <a:rect l="l" t="t" r="r" b="b"/>
              <a:pathLst>
                <a:path w="4125528" h="1945640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5265145" y="2909058"/>
            <a:ext cx="701820" cy="757205"/>
            <a:chOff x="0" y="0"/>
            <a:chExt cx="847518" cy="914400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847518" cy="914400"/>
            </a:xfrm>
            <a:custGeom>
              <a:avLst/>
              <a:gdLst/>
              <a:ahLst/>
              <a:cxnLst/>
              <a:rect l="l" t="t" r="r" b="b"/>
              <a:pathLst>
                <a:path w="847518" h="914400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45" r="-3945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4058014" y="3666263"/>
            <a:ext cx="3116081" cy="641623"/>
            <a:chOff x="0" y="0"/>
            <a:chExt cx="3762979" cy="77482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762978" cy="774824"/>
            </a:xfrm>
            <a:custGeom>
              <a:avLst/>
              <a:gdLst/>
              <a:ahLst/>
              <a:cxnLst/>
              <a:rect l="l" t="t" r="r" b="b"/>
              <a:pathLst>
                <a:path w="3762978" h="774824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892" r="-7891" b="-4930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Multi-LLM safety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058014" y="4206823"/>
            <a:ext cx="2835353" cy="641623"/>
            <a:chOff x="0" y="0"/>
            <a:chExt cx="3423972" cy="77482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23972" cy="774824"/>
            </a:xfrm>
            <a:custGeom>
              <a:avLst/>
              <a:gdLst/>
              <a:ahLst/>
              <a:cxnLst/>
              <a:rect l="l" t="t" r="r" b="b"/>
              <a:pathLst>
                <a:path w="3423972" h="774824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396" r="-7891" b="-224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4058014" y="4791296"/>
            <a:ext cx="2835353" cy="102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Different APIs, limits, formats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188631" y="6608844"/>
            <a:ext cx="2854848" cy="51322"/>
            <a:chOff x="0" y="0"/>
            <a:chExt cx="3447514" cy="61976"/>
          </a:xfrm>
        </p:grpSpPr>
        <p:sp>
          <p:nvSpPr>
            <p:cNvPr id="43" name="Freeform 43"/>
            <p:cNvSpPr/>
            <p:nvPr/>
          </p:nvSpPr>
          <p:spPr>
            <a:xfrm>
              <a:off x="11771" y="12700"/>
              <a:ext cx="3423972" cy="36576"/>
            </a:xfrm>
            <a:custGeom>
              <a:avLst/>
              <a:gdLst/>
              <a:ahLst/>
              <a:cxnLst/>
              <a:rect l="l" t="t" r="r" b="b"/>
              <a:pathLst>
                <a:path w="3423972" h="36576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3447514" cy="61976"/>
            </a:xfrm>
            <a:custGeom>
              <a:avLst/>
              <a:gdLst/>
              <a:ahLst/>
              <a:cxnLst/>
              <a:rect l="l" t="t" r="r" b="b"/>
              <a:pathLst>
                <a:path w="3447514" h="61976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4198379" y="6770802"/>
            <a:ext cx="2835353" cy="1125393"/>
            <a:chOff x="0" y="0"/>
            <a:chExt cx="3423972" cy="135902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423972" cy="1359024"/>
            </a:xfrm>
            <a:custGeom>
              <a:avLst/>
              <a:gdLst/>
              <a:ahLst/>
              <a:cxnLst/>
              <a:rect l="l" t="t" r="r" b="b"/>
              <a:pathLst>
                <a:path w="3423972" h="1359024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44" r="-7891" b="3021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4198379" y="7953344"/>
            <a:ext cx="3126882" cy="102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1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Adapter + schema validation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7487186" y="2595660"/>
            <a:ext cx="3416304" cy="6930216"/>
            <a:chOff x="0" y="0"/>
            <a:chExt cx="4125528" cy="8368926"/>
          </a:xfrm>
        </p:grpSpPr>
        <p:sp>
          <p:nvSpPr>
            <p:cNvPr id="50" name="Freeform 50"/>
            <p:cNvSpPr/>
            <p:nvPr/>
          </p:nvSpPr>
          <p:spPr>
            <a:xfrm>
              <a:off x="11771" y="12875"/>
              <a:ext cx="4101986" cy="8343175"/>
            </a:xfrm>
            <a:custGeom>
              <a:avLst/>
              <a:gdLst/>
              <a:ahLst/>
              <a:cxnLst/>
              <a:rect l="l" t="t" r="r" b="b"/>
              <a:pathLst>
                <a:path w="4101986" h="8343175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4125528" cy="8368926"/>
            </a:xfrm>
            <a:custGeom>
              <a:avLst/>
              <a:gdLst/>
              <a:ahLst/>
              <a:cxnLst/>
              <a:rect l="l" t="t" r="r" b="b"/>
              <a:pathLst>
                <a:path w="4125528" h="8368926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7487186" y="2595660"/>
            <a:ext cx="3416304" cy="1611163"/>
            <a:chOff x="0" y="0"/>
            <a:chExt cx="4125528" cy="1945640"/>
          </a:xfrm>
        </p:grpSpPr>
        <p:sp>
          <p:nvSpPr>
            <p:cNvPr id="53" name="Freeform 53"/>
            <p:cNvSpPr/>
            <p:nvPr/>
          </p:nvSpPr>
          <p:spPr>
            <a:xfrm>
              <a:off x="11771" y="12700"/>
              <a:ext cx="4101986" cy="1920240"/>
            </a:xfrm>
            <a:custGeom>
              <a:avLst/>
              <a:gdLst/>
              <a:ahLst/>
              <a:cxnLst/>
              <a:rect l="l" t="t" r="r" b="b"/>
              <a:pathLst>
                <a:path w="4101986" h="1920240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4125528" cy="1945640"/>
            </a:xfrm>
            <a:custGeom>
              <a:avLst/>
              <a:gdLst/>
              <a:ahLst/>
              <a:cxnLst/>
              <a:rect l="l" t="t" r="r" b="b"/>
              <a:pathLst>
                <a:path w="4125528" h="1945640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8844428" y="2909058"/>
            <a:ext cx="701820" cy="757205"/>
            <a:chOff x="0" y="0"/>
            <a:chExt cx="847518" cy="914400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847518" cy="914400"/>
            </a:xfrm>
            <a:custGeom>
              <a:avLst/>
              <a:gdLst/>
              <a:ahLst/>
              <a:cxnLst/>
              <a:rect l="l" t="t" r="r" b="b"/>
              <a:pathLst>
                <a:path w="847518" h="914400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945" r="-3945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7637297" y="3666263"/>
            <a:ext cx="3116081" cy="641623"/>
            <a:chOff x="0" y="0"/>
            <a:chExt cx="3762979" cy="77482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762978" cy="774824"/>
            </a:xfrm>
            <a:custGeom>
              <a:avLst/>
              <a:gdLst/>
              <a:ahLst/>
              <a:cxnLst/>
              <a:rect l="l" t="t" r="r" b="b"/>
              <a:pathLst>
                <a:path w="3762978" h="774824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892" r="-7891" b="-4930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Bilingual OCR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777661" y="4206823"/>
            <a:ext cx="2835353" cy="641623"/>
            <a:chOff x="0" y="0"/>
            <a:chExt cx="3423972" cy="77482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423972" cy="774824"/>
            </a:xfrm>
            <a:custGeom>
              <a:avLst/>
              <a:gdLst/>
              <a:ahLst/>
              <a:cxnLst/>
              <a:rect l="l" t="t" r="r" b="b"/>
              <a:pathLst>
                <a:path w="3423972" h="774824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396" r="-7891" b="-2240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7762518" y="4791296"/>
            <a:ext cx="2835353" cy="150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Bangla + English text is hard to read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7767914" y="6608844"/>
            <a:ext cx="2854848" cy="51322"/>
            <a:chOff x="0" y="0"/>
            <a:chExt cx="3447514" cy="61976"/>
          </a:xfrm>
        </p:grpSpPr>
        <p:sp>
          <p:nvSpPr>
            <p:cNvPr id="65" name="Freeform 65"/>
            <p:cNvSpPr/>
            <p:nvPr/>
          </p:nvSpPr>
          <p:spPr>
            <a:xfrm>
              <a:off x="11771" y="12700"/>
              <a:ext cx="3423972" cy="36576"/>
            </a:xfrm>
            <a:custGeom>
              <a:avLst/>
              <a:gdLst/>
              <a:ahLst/>
              <a:cxnLst/>
              <a:rect l="l" t="t" r="r" b="b"/>
              <a:pathLst>
                <a:path w="3423972" h="36576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3447514" cy="61976"/>
            </a:xfrm>
            <a:custGeom>
              <a:avLst/>
              <a:gdLst/>
              <a:ahLst/>
              <a:cxnLst/>
              <a:rect l="l" t="t" r="r" b="b"/>
              <a:pathLst>
                <a:path w="3447514" h="61976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7777661" y="6770802"/>
            <a:ext cx="2835353" cy="1125393"/>
            <a:chOff x="0" y="0"/>
            <a:chExt cx="3423972" cy="135902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423972" cy="1359024"/>
            </a:xfrm>
            <a:custGeom>
              <a:avLst/>
              <a:gdLst/>
              <a:ahLst/>
              <a:cxnLst/>
              <a:rect l="l" t="t" r="r" b="b"/>
              <a:pathLst>
                <a:path w="3423972" h="1359024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44" r="-7891" b="3021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7637297" y="7972394"/>
            <a:ext cx="3125829" cy="102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1" dirty="0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YOLO + Azure DI + </a:t>
            </a:r>
            <a:r>
              <a:rPr lang="en-US" sz="3201" i="1" dirty="0" err="1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RapidFuzz</a:t>
            </a:r>
            <a:r>
              <a:rPr lang="en-US" sz="3201" i="1" dirty="0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pipeline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1066468" y="2595660"/>
            <a:ext cx="3416304" cy="6930216"/>
            <a:chOff x="0" y="0"/>
            <a:chExt cx="4125528" cy="8368926"/>
          </a:xfrm>
        </p:grpSpPr>
        <p:sp>
          <p:nvSpPr>
            <p:cNvPr id="72" name="Freeform 72"/>
            <p:cNvSpPr/>
            <p:nvPr/>
          </p:nvSpPr>
          <p:spPr>
            <a:xfrm>
              <a:off x="11771" y="12875"/>
              <a:ext cx="4101986" cy="8343175"/>
            </a:xfrm>
            <a:custGeom>
              <a:avLst/>
              <a:gdLst/>
              <a:ahLst/>
              <a:cxnLst/>
              <a:rect l="l" t="t" r="r" b="b"/>
              <a:pathLst>
                <a:path w="4101986" h="8343175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4125528" cy="8368926"/>
            </a:xfrm>
            <a:custGeom>
              <a:avLst/>
              <a:gdLst/>
              <a:ahLst/>
              <a:cxnLst/>
              <a:rect l="l" t="t" r="r" b="b"/>
              <a:pathLst>
                <a:path w="4125528" h="8368926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1066468" y="2595660"/>
            <a:ext cx="3416304" cy="1611163"/>
            <a:chOff x="0" y="0"/>
            <a:chExt cx="4125528" cy="1945640"/>
          </a:xfrm>
        </p:grpSpPr>
        <p:sp>
          <p:nvSpPr>
            <p:cNvPr id="75" name="Freeform 75"/>
            <p:cNvSpPr/>
            <p:nvPr/>
          </p:nvSpPr>
          <p:spPr>
            <a:xfrm>
              <a:off x="11771" y="12700"/>
              <a:ext cx="4101986" cy="1920240"/>
            </a:xfrm>
            <a:custGeom>
              <a:avLst/>
              <a:gdLst/>
              <a:ahLst/>
              <a:cxnLst/>
              <a:rect l="l" t="t" r="r" b="b"/>
              <a:pathLst>
                <a:path w="4101986" h="1920240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4125528" cy="1945640"/>
            </a:xfrm>
            <a:custGeom>
              <a:avLst/>
              <a:gdLst/>
              <a:ahLst/>
              <a:cxnLst/>
              <a:rect l="l" t="t" r="r" b="b"/>
              <a:pathLst>
                <a:path w="4125528" h="1945640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2423711" y="2909058"/>
            <a:ext cx="701820" cy="757205"/>
            <a:chOff x="0" y="0"/>
            <a:chExt cx="847518" cy="914400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847518" cy="914400"/>
            </a:xfrm>
            <a:custGeom>
              <a:avLst/>
              <a:gdLst/>
              <a:ahLst/>
              <a:cxnLst/>
              <a:rect l="l" t="t" r="r" b="b"/>
              <a:pathLst>
                <a:path w="847518" h="914400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45" r="-3945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11216580" y="3666263"/>
            <a:ext cx="3116081" cy="641623"/>
            <a:chOff x="0" y="0"/>
            <a:chExt cx="3762979" cy="77482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762978" cy="774824"/>
            </a:xfrm>
            <a:custGeom>
              <a:avLst/>
              <a:gdLst/>
              <a:ahLst/>
              <a:cxnLst/>
              <a:rect l="l" t="t" r="r" b="b"/>
              <a:pathLst>
                <a:path w="3762978" h="774824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892" r="-7891" b="-49303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Background work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1356944" y="4206823"/>
            <a:ext cx="2835353" cy="641623"/>
            <a:chOff x="0" y="0"/>
            <a:chExt cx="3423972" cy="77482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423972" cy="774824"/>
            </a:xfrm>
            <a:custGeom>
              <a:avLst/>
              <a:gdLst/>
              <a:ahLst/>
              <a:cxnLst/>
              <a:rect l="l" t="t" r="r" b="b"/>
              <a:pathLst>
                <a:path w="3423972" h="774824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396" r="-7891" b="-22403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1356944" y="4791296"/>
            <a:ext cx="2835353" cy="102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Reminders slow down system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11347196" y="6608844"/>
            <a:ext cx="2854848" cy="51322"/>
            <a:chOff x="0" y="0"/>
            <a:chExt cx="3447514" cy="61976"/>
          </a:xfrm>
        </p:grpSpPr>
        <p:sp>
          <p:nvSpPr>
            <p:cNvPr id="87" name="Freeform 87"/>
            <p:cNvSpPr/>
            <p:nvPr/>
          </p:nvSpPr>
          <p:spPr>
            <a:xfrm>
              <a:off x="11771" y="12700"/>
              <a:ext cx="3423972" cy="36576"/>
            </a:xfrm>
            <a:custGeom>
              <a:avLst/>
              <a:gdLst/>
              <a:ahLst/>
              <a:cxnLst/>
              <a:rect l="l" t="t" r="r" b="b"/>
              <a:pathLst>
                <a:path w="3423972" h="36576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3447514" cy="61976"/>
            </a:xfrm>
            <a:custGeom>
              <a:avLst/>
              <a:gdLst/>
              <a:ahLst/>
              <a:cxnLst/>
              <a:rect l="l" t="t" r="r" b="b"/>
              <a:pathLst>
                <a:path w="3447514" h="61976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11356944" y="6770802"/>
            <a:ext cx="2835353" cy="1125393"/>
            <a:chOff x="0" y="0"/>
            <a:chExt cx="3423972" cy="135902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423972" cy="1359024"/>
            </a:xfrm>
            <a:custGeom>
              <a:avLst/>
              <a:gdLst/>
              <a:ahLst/>
              <a:cxnLst/>
              <a:rect l="l" t="t" r="r" b="b"/>
              <a:pathLst>
                <a:path w="3423972" h="1359024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44" r="-7891" b="3021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356944" y="7972394"/>
            <a:ext cx="3125829" cy="150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1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Lifecycle-managed async lruns in background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4645751" y="2595660"/>
            <a:ext cx="3416304" cy="6930216"/>
            <a:chOff x="0" y="0"/>
            <a:chExt cx="4125528" cy="8368926"/>
          </a:xfrm>
        </p:grpSpPr>
        <p:sp>
          <p:nvSpPr>
            <p:cNvPr id="94" name="Freeform 94"/>
            <p:cNvSpPr/>
            <p:nvPr/>
          </p:nvSpPr>
          <p:spPr>
            <a:xfrm>
              <a:off x="11771" y="12875"/>
              <a:ext cx="4101986" cy="8343175"/>
            </a:xfrm>
            <a:custGeom>
              <a:avLst/>
              <a:gdLst/>
              <a:ahLst/>
              <a:cxnLst/>
              <a:rect l="l" t="t" r="r" b="b"/>
              <a:pathLst>
                <a:path w="4101986" h="8343175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5" name="Freeform 95"/>
            <p:cNvSpPr/>
            <p:nvPr/>
          </p:nvSpPr>
          <p:spPr>
            <a:xfrm>
              <a:off x="0" y="0"/>
              <a:ext cx="4125528" cy="8368926"/>
            </a:xfrm>
            <a:custGeom>
              <a:avLst/>
              <a:gdLst/>
              <a:ahLst/>
              <a:cxnLst/>
              <a:rect l="l" t="t" r="r" b="b"/>
              <a:pathLst>
                <a:path w="4125528" h="8368926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4645751" y="2595660"/>
            <a:ext cx="3416304" cy="1611163"/>
            <a:chOff x="0" y="0"/>
            <a:chExt cx="4125528" cy="1945640"/>
          </a:xfrm>
        </p:grpSpPr>
        <p:sp>
          <p:nvSpPr>
            <p:cNvPr id="97" name="Freeform 97"/>
            <p:cNvSpPr/>
            <p:nvPr/>
          </p:nvSpPr>
          <p:spPr>
            <a:xfrm>
              <a:off x="11771" y="12700"/>
              <a:ext cx="4101986" cy="1920240"/>
            </a:xfrm>
            <a:custGeom>
              <a:avLst/>
              <a:gdLst/>
              <a:ahLst/>
              <a:cxnLst/>
              <a:rect l="l" t="t" r="r" b="b"/>
              <a:pathLst>
                <a:path w="4101986" h="1920240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id="98" name="Freeform 98"/>
            <p:cNvSpPr/>
            <p:nvPr/>
          </p:nvSpPr>
          <p:spPr>
            <a:xfrm>
              <a:off x="0" y="0"/>
              <a:ext cx="4125528" cy="1945640"/>
            </a:xfrm>
            <a:custGeom>
              <a:avLst/>
              <a:gdLst/>
              <a:ahLst/>
              <a:cxnLst/>
              <a:rect l="l" t="t" r="r" b="b"/>
              <a:pathLst>
                <a:path w="4125528" h="1945640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id="99" name="Group 99"/>
          <p:cNvGrpSpPr/>
          <p:nvPr/>
        </p:nvGrpSpPr>
        <p:grpSpPr>
          <a:xfrm>
            <a:off x="16002993" y="2909058"/>
            <a:ext cx="701820" cy="757205"/>
            <a:chOff x="0" y="0"/>
            <a:chExt cx="847518" cy="914400"/>
          </a:xfrm>
        </p:grpSpPr>
        <p:sp>
          <p:nvSpPr>
            <p:cNvPr id="100" name="Freeform 100" descr="preencoded.png"/>
            <p:cNvSpPr/>
            <p:nvPr/>
          </p:nvSpPr>
          <p:spPr>
            <a:xfrm>
              <a:off x="0" y="0"/>
              <a:ext cx="847518" cy="914400"/>
            </a:xfrm>
            <a:custGeom>
              <a:avLst/>
              <a:gdLst/>
              <a:ahLst/>
              <a:cxnLst/>
              <a:rect l="l" t="t" r="r" b="b"/>
              <a:pathLst>
                <a:path w="847518" h="914400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945" r="-3945"/>
              </a:stretch>
            </a:blipFill>
          </p:spPr>
        </p:sp>
      </p:grpSp>
      <p:grpSp>
        <p:nvGrpSpPr>
          <p:cNvPr id="101" name="Group 101"/>
          <p:cNvGrpSpPr/>
          <p:nvPr/>
        </p:nvGrpSpPr>
        <p:grpSpPr>
          <a:xfrm>
            <a:off x="14795863" y="3666263"/>
            <a:ext cx="3116081" cy="641623"/>
            <a:chOff x="0" y="0"/>
            <a:chExt cx="3762979" cy="77482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762978" cy="774824"/>
            </a:xfrm>
            <a:custGeom>
              <a:avLst/>
              <a:gdLst/>
              <a:ahLst/>
              <a:cxnLst/>
              <a:rect l="l" t="t" r="r" b="b"/>
              <a:pathLst>
                <a:path w="3762978" h="774824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892" r="-7891" b="-49303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 scope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4936227" y="4206823"/>
            <a:ext cx="2835353" cy="641623"/>
            <a:chOff x="0" y="0"/>
            <a:chExt cx="3423972" cy="77482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3423972" cy="774824"/>
            </a:xfrm>
            <a:custGeom>
              <a:avLst/>
              <a:gdLst/>
              <a:ahLst/>
              <a:cxnLst/>
              <a:rect l="l" t="t" r="r" b="b"/>
              <a:pathLst>
                <a:path w="3423972" h="774824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396" r="-7891" b="-22403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id="107" name="TextBox 107"/>
          <p:cNvSpPr txBox="1"/>
          <p:nvPr/>
        </p:nvSpPr>
        <p:spPr>
          <a:xfrm>
            <a:off x="15034752" y="4791296"/>
            <a:ext cx="2835353" cy="102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Prototypes aren’t reliable</a:t>
            </a:r>
          </a:p>
        </p:txBody>
      </p:sp>
      <p:grpSp>
        <p:nvGrpSpPr>
          <p:cNvPr id="108" name="Group 108"/>
          <p:cNvGrpSpPr/>
          <p:nvPr/>
        </p:nvGrpSpPr>
        <p:grpSpPr>
          <a:xfrm>
            <a:off x="14926479" y="6608844"/>
            <a:ext cx="2854848" cy="51322"/>
            <a:chOff x="0" y="0"/>
            <a:chExt cx="3447514" cy="61976"/>
          </a:xfrm>
        </p:grpSpPr>
        <p:sp>
          <p:nvSpPr>
            <p:cNvPr id="109" name="Freeform 109"/>
            <p:cNvSpPr/>
            <p:nvPr/>
          </p:nvSpPr>
          <p:spPr>
            <a:xfrm>
              <a:off x="11771" y="12700"/>
              <a:ext cx="3423972" cy="36576"/>
            </a:xfrm>
            <a:custGeom>
              <a:avLst/>
              <a:gdLst/>
              <a:ahLst/>
              <a:cxnLst/>
              <a:rect l="l" t="t" r="r" b="b"/>
              <a:pathLst>
                <a:path w="3423972" h="36576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110" name="Freeform 110"/>
            <p:cNvSpPr/>
            <p:nvPr/>
          </p:nvSpPr>
          <p:spPr>
            <a:xfrm>
              <a:off x="0" y="0"/>
              <a:ext cx="3447514" cy="61976"/>
            </a:xfrm>
            <a:custGeom>
              <a:avLst/>
              <a:gdLst/>
              <a:ahLst/>
              <a:cxnLst/>
              <a:rect l="l" t="t" r="r" b="b"/>
              <a:pathLst>
                <a:path w="3447514" h="61976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14936227" y="6770802"/>
            <a:ext cx="2835353" cy="1125393"/>
            <a:chOff x="0" y="0"/>
            <a:chExt cx="3423972" cy="135902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423972" cy="1359024"/>
            </a:xfrm>
            <a:custGeom>
              <a:avLst/>
              <a:gdLst/>
              <a:ahLst/>
              <a:cxnLst/>
              <a:rect l="l" t="t" r="r" b="b"/>
              <a:pathLst>
                <a:path w="3423972" h="1359024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44" r="-7891" b="30213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 b="1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id="114" name="TextBox 114"/>
          <p:cNvSpPr txBox="1"/>
          <p:nvPr/>
        </p:nvSpPr>
        <p:spPr>
          <a:xfrm>
            <a:off x="15034752" y="7972394"/>
            <a:ext cx="2835353" cy="150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1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CI/CD + Containerized Deployment</a:t>
            </a:r>
          </a:p>
        </p:txBody>
      </p:sp>
      <p:grpSp>
        <p:nvGrpSpPr>
          <p:cNvPr id="115" name="Group 115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116" name="Group 116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19" name="AutoShape 119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0" name="AutoShape 120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1" name="AutoShape 121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2" name="AutoShape 122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" name="AutoShape 123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4" name="AutoShape 124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5" name="AutoShape 125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6" name="AutoShape 126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27" name="Group 127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57" name="AutoShape 157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69" name="Group 169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72" name="TextBox 172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619096" y="47059"/>
            <a:ext cx="16459200" cy="2040651"/>
            <a:chOff x="0" y="0"/>
            <a:chExt cx="21945600" cy="2720868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176" name="TextBox 176"/>
            <p:cNvSpPr txBox="1"/>
            <p:nvPr/>
          </p:nvSpPr>
          <p:spPr>
            <a:xfrm>
              <a:off x="0" y="644220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 dirty="0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Challenges Solved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19096" y="2019300"/>
            <a:ext cx="15255534" cy="23509"/>
            <a:chOff x="0" y="0"/>
            <a:chExt cx="21979471" cy="33871"/>
          </a:xfrm>
        </p:grpSpPr>
        <p:sp>
          <p:nvSpPr>
            <p:cNvPr id="178" name="Freeform 178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sp>
        <p:nvSpPr>
          <p:cNvPr id="179" name="Freeform 179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 dirty="0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Future Work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49" name="AutoShape 49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66" name="Freeform 66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7" name="Group 67"/>
          <p:cNvGrpSpPr/>
          <p:nvPr/>
        </p:nvGrpSpPr>
        <p:grpSpPr>
          <a:xfrm>
            <a:off x="236181" y="2212330"/>
            <a:ext cx="5824318" cy="7313545"/>
            <a:chOff x="0" y="0"/>
            <a:chExt cx="7249160" cy="9102707"/>
          </a:xfrm>
        </p:grpSpPr>
        <p:sp>
          <p:nvSpPr>
            <p:cNvPr id="68" name="Freeform 68"/>
            <p:cNvSpPr/>
            <p:nvPr/>
          </p:nvSpPr>
          <p:spPr>
            <a:xfrm>
              <a:off x="12700" y="12483"/>
              <a:ext cx="7223760" cy="9077740"/>
            </a:xfrm>
            <a:custGeom>
              <a:avLst/>
              <a:gdLst/>
              <a:ahLst/>
              <a:cxnLst/>
              <a:rect l="l" t="t" r="r" b="b"/>
              <a:pathLst>
                <a:path w="7223760" h="9077740">
                  <a:moveTo>
                    <a:pt x="0" y="0"/>
                  </a:moveTo>
                  <a:lnTo>
                    <a:pt x="7223760" y="0"/>
                  </a:lnTo>
                  <a:lnTo>
                    <a:pt x="7223760" y="9077740"/>
                  </a:lnTo>
                  <a:lnTo>
                    <a:pt x="0" y="9077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7249160" cy="9102706"/>
            </a:xfrm>
            <a:custGeom>
              <a:avLst/>
              <a:gdLst/>
              <a:ahLst/>
              <a:cxnLst/>
              <a:rect l="l" t="t" r="r" b="b"/>
              <a:pathLst>
                <a:path w="7249160" h="9102706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5617"/>
                    <a:pt x="7249160" y="12483"/>
                  </a:cubicBezTo>
                  <a:lnTo>
                    <a:pt x="7249160" y="9090223"/>
                  </a:lnTo>
                  <a:cubicBezTo>
                    <a:pt x="7249160" y="9097089"/>
                    <a:pt x="7243445" y="9102706"/>
                    <a:pt x="7236460" y="9102706"/>
                  </a:cubicBezTo>
                  <a:lnTo>
                    <a:pt x="12700" y="9102706"/>
                  </a:lnTo>
                  <a:cubicBezTo>
                    <a:pt x="5715" y="9102706"/>
                    <a:pt x="0" y="9097089"/>
                    <a:pt x="0" y="9090223"/>
                  </a:cubicBezTo>
                  <a:lnTo>
                    <a:pt x="0" y="12483"/>
                  </a:lnTo>
                  <a:cubicBezTo>
                    <a:pt x="0" y="5617"/>
                    <a:pt x="5715" y="0"/>
                    <a:pt x="12700" y="0"/>
                  </a:cubicBezTo>
                  <a:moveTo>
                    <a:pt x="12700" y="24966"/>
                  </a:moveTo>
                  <a:lnTo>
                    <a:pt x="12700" y="12483"/>
                  </a:lnTo>
                  <a:lnTo>
                    <a:pt x="25400" y="12483"/>
                  </a:lnTo>
                  <a:lnTo>
                    <a:pt x="25400" y="9090223"/>
                  </a:lnTo>
                  <a:lnTo>
                    <a:pt x="12700" y="9090223"/>
                  </a:lnTo>
                  <a:lnTo>
                    <a:pt x="12700" y="9077740"/>
                  </a:lnTo>
                  <a:lnTo>
                    <a:pt x="7236460" y="9077740"/>
                  </a:lnTo>
                  <a:lnTo>
                    <a:pt x="7236460" y="9090223"/>
                  </a:lnTo>
                  <a:lnTo>
                    <a:pt x="7223760" y="9090223"/>
                  </a:lnTo>
                  <a:lnTo>
                    <a:pt x="7223760" y="12483"/>
                  </a:lnTo>
                  <a:lnTo>
                    <a:pt x="7236460" y="12483"/>
                  </a:lnTo>
                  <a:lnTo>
                    <a:pt x="7236460" y="24966"/>
                  </a:lnTo>
                  <a:lnTo>
                    <a:pt x="12700" y="249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236181" y="1907530"/>
            <a:ext cx="5824318" cy="1112212"/>
            <a:chOff x="0" y="0"/>
            <a:chExt cx="7249160" cy="1384300"/>
          </a:xfrm>
        </p:grpSpPr>
        <p:sp>
          <p:nvSpPr>
            <p:cNvPr id="71" name="Freeform 71"/>
            <p:cNvSpPr/>
            <p:nvPr/>
          </p:nvSpPr>
          <p:spPr>
            <a:xfrm>
              <a:off x="12700" y="17048"/>
              <a:ext cx="7223760" cy="1350204"/>
            </a:xfrm>
            <a:custGeom>
              <a:avLst/>
              <a:gdLst/>
              <a:ahLst/>
              <a:cxnLst/>
              <a:rect l="l" t="t" r="r" b="b"/>
              <a:pathLst>
                <a:path w="7223760" h="1350204">
                  <a:moveTo>
                    <a:pt x="0" y="0"/>
                  </a:moveTo>
                  <a:lnTo>
                    <a:pt x="7223760" y="0"/>
                  </a:lnTo>
                  <a:lnTo>
                    <a:pt x="7223760" y="1350204"/>
                  </a:lnTo>
                  <a:lnTo>
                    <a:pt x="0" y="1350204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7249160" cy="1384300"/>
            </a:xfrm>
            <a:custGeom>
              <a:avLst/>
              <a:gdLst/>
              <a:ahLst/>
              <a:cxnLst/>
              <a:rect l="l" t="t" r="r" b="b"/>
              <a:pathLst>
                <a:path w="7249160" h="138430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7672"/>
                    <a:pt x="7249160" y="17048"/>
                  </a:cubicBezTo>
                  <a:lnTo>
                    <a:pt x="7249160" y="1367252"/>
                  </a:lnTo>
                  <a:cubicBezTo>
                    <a:pt x="7249160" y="1376628"/>
                    <a:pt x="7243445" y="1384300"/>
                    <a:pt x="7236460" y="1384300"/>
                  </a:cubicBezTo>
                  <a:lnTo>
                    <a:pt x="12700" y="1384300"/>
                  </a:lnTo>
                  <a:cubicBezTo>
                    <a:pt x="5715" y="1384300"/>
                    <a:pt x="0" y="1376628"/>
                    <a:pt x="0" y="1367252"/>
                  </a:cubicBezTo>
                  <a:lnTo>
                    <a:pt x="0" y="17048"/>
                  </a:lnTo>
                  <a:cubicBezTo>
                    <a:pt x="0" y="7672"/>
                    <a:pt x="5715" y="0"/>
                    <a:pt x="12700" y="0"/>
                  </a:cubicBezTo>
                  <a:moveTo>
                    <a:pt x="12700" y="34096"/>
                  </a:moveTo>
                  <a:lnTo>
                    <a:pt x="12700" y="17048"/>
                  </a:lnTo>
                  <a:lnTo>
                    <a:pt x="25400" y="17048"/>
                  </a:lnTo>
                  <a:lnTo>
                    <a:pt x="25400" y="1367252"/>
                  </a:lnTo>
                  <a:lnTo>
                    <a:pt x="12700" y="1367252"/>
                  </a:lnTo>
                  <a:lnTo>
                    <a:pt x="12700" y="1350204"/>
                  </a:lnTo>
                  <a:lnTo>
                    <a:pt x="7236460" y="1350204"/>
                  </a:lnTo>
                  <a:lnTo>
                    <a:pt x="7236460" y="1367252"/>
                  </a:lnTo>
                  <a:lnTo>
                    <a:pt x="7223760" y="1367252"/>
                  </a:lnTo>
                  <a:lnTo>
                    <a:pt x="7223760" y="17048"/>
                  </a:lnTo>
                  <a:lnTo>
                    <a:pt x="7236460" y="17048"/>
                  </a:lnTo>
                  <a:lnTo>
                    <a:pt x="7236460" y="34096"/>
                  </a:lnTo>
                  <a:lnTo>
                    <a:pt x="12700" y="34096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236181" y="2059566"/>
            <a:ext cx="5803911" cy="808139"/>
            <a:chOff x="0" y="0"/>
            <a:chExt cx="7223760" cy="10058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223760" cy="1005840"/>
            </a:xfrm>
            <a:custGeom>
              <a:avLst/>
              <a:gdLst/>
              <a:ahLst/>
              <a:cxnLst/>
              <a:rect l="l" t="t" r="r" b="b"/>
              <a:pathLst>
                <a:path w="7223760" h="1005840">
                  <a:moveTo>
                    <a:pt x="0" y="0"/>
                  </a:moveTo>
                  <a:lnTo>
                    <a:pt x="7223760" y="0"/>
                  </a:lnTo>
                  <a:lnTo>
                    <a:pt x="7223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937" b="-8993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57150"/>
              <a:ext cx="722376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 spc="106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13721" y="3398009"/>
            <a:ext cx="323256" cy="323256"/>
            <a:chOff x="0" y="0"/>
            <a:chExt cx="402336" cy="402336"/>
          </a:xfrm>
        </p:grpSpPr>
        <p:sp>
          <p:nvSpPr>
            <p:cNvPr id="77" name="Freeform 77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78" name="TextBox 78"/>
          <p:cNvSpPr txBox="1"/>
          <p:nvPr/>
        </p:nvSpPr>
        <p:spPr>
          <a:xfrm>
            <a:off x="1054524" y="3267392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Continuity of care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613721" y="4646952"/>
            <a:ext cx="323256" cy="323256"/>
            <a:chOff x="0" y="0"/>
            <a:chExt cx="402336" cy="402336"/>
          </a:xfrm>
        </p:grpSpPr>
        <p:sp>
          <p:nvSpPr>
            <p:cNvPr id="80" name="Freeform 80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1" name="TextBox 81"/>
          <p:cNvSpPr txBox="1"/>
          <p:nvPr/>
        </p:nvSpPr>
        <p:spPr>
          <a:xfrm>
            <a:off x="1054524" y="4516335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Fewer medication errors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613721" y="5895895"/>
            <a:ext cx="323256" cy="323256"/>
            <a:chOff x="0" y="0"/>
            <a:chExt cx="402336" cy="402336"/>
          </a:xfrm>
        </p:grpSpPr>
        <p:sp>
          <p:nvSpPr>
            <p:cNvPr id="83" name="Freeform 83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4" name="TextBox 84"/>
          <p:cNvSpPr txBox="1"/>
          <p:nvPr/>
        </p:nvSpPr>
        <p:spPr>
          <a:xfrm>
            <a:off x="1054524" y="5765278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Bilingual access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613721" y="7144838"/>
            <a:ext cx="323256" cy="323256"/>
            <a:chOff x="0" y="0"/>
            <a:chExt cx="402336" cy="402336"/>
          </a:xfrm>
        </p:grpSpPr>
        <p:sp>
          <p:nvSpPr>
            <p:cNvPr id="86" name="Freeform 86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7" name="TextBox 87"/>
          <p:cNvSpPr txBox="1"/>
          <p:nvPr/>
        </p:nvSpPr>
        <p:spPr>
          <a:xfrm>
            <a:off x="1054524" y="7014221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autonomy</a:t>
            </a:r>
          </a:p>
        </p:txBody>
      </p:sp>
      <p:grpSp>
        <p:nvGrpSpPr>
          <p:cNvPr id="88" name="Group 88"/>
          <p:cNvGrpSpPr/>
          <p:nvPr/>
        </p:nvGrpSpPr>
        <p:grpSpPr>
          <a:xfrm>
            <a:off x="613721" y="8393781"/>
            <a:ext cx="323256" cy="323256"/>
            <a:chOff x="0" y="0"/>
            <a:chExt cx="402336" cy="402336"/>
          </a:xfrm>
        </p:grpSpPr>
        <p:sp>
          <p:nvSpPr>
            <p:cNvPr id="89" name="Freeform 89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90" name="TextBox 90"/>
          <p:cNvSpPr txBox="1"/>
          <p:nvPr/>
        </p:nvSpPr>
        <p:spPr>
          <a:xfrm>
            <a:off x="1054524" y="8263163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Reusable engineering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6260493" y="2212330"/>
            <a:ext cx="5824318" cy="7313545"/>
            <a:chOff x="0" y="0"/>
            <a:chExt cx="7249160" cy="9102707"/>
          </a:xfrm>
        </p:grpSpPr>
        <p:sp>
          <p:nvSpPr>
            <p:cNvPr id="92" name="Freeform 92"/>
            <p:cNvSpPr/>
            <p:nvPr/>
          </p:nvSpPr>
          <p:spPr>
            <a:xfrm>
              <a:off x="12700" y="12483"/>
              <a:ext cx="7223760" cy="9077740"/>
            </a:xfrm>
            <a:custGeom>
              <a:avLst/>
              <a:gdLst/>
              <a:ahLst/>
              <a:cxnLst/>
              <a:rect l="l" t="t" r="r" b="b"/>
              <a:pathLst>
                <a:path w="7223760" h="9077740">
                  <a:moveTo>
                    <a:pt x="0" y="0"/>
                  </a:moveTo>
                  <a:lnTo>
                    <a:pt x="7223760" y="0"/>
                  </a:lnTo>
                  <a:lnTo>
                    <a:pt x="7223760" y="9077740"/>
                  </a:lnTo>
                  <a:lnTo>
                    <a:pt x="0" y="9077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3" name="Freeform 93"/>
            <p:cNvSpPr/>
            <p:nvPr/>
          </p:nvSpPr>
          <p:spPr>
            <a:xfrm>
              <a:off x="0" y="0"/>
              <a:ext cx="7249160" cy="9102706"/>
            </a:xfrm>
            <a:custGeom>
              <a:avLst/>
              <a:gdLst/>
              <a:ahLst/>
              <a:cxnLst/>
              <a:rect l="l" t="t" r="r" b="b"/>
              <a:pathLst>
                <a:path w="7249160" h="9102706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5617"/>
                    <a:pt x="7249160" y="12483"/>
                  </a:cubicBezTo>
                  <a:lnTo>
                    <a:pt x="7249160" y="9090223"/>
                  </a:lnTo>
                  <a:cubicBezTo>
                    <a:pt x="7249160" y="9097089"/>
                    <a:pt x="7243445" y="9102706"/>
                    <a:pt x="7236460" y="9102706"/>
                  </a:cubicBezTo>
                  <a:lnTo>
                    <a:pt x="12700" y="9102706"/>
                  </a:lnTo>
                  <a:cubicBezTo>
                    <a:pt x="5715" y="9102706"/>
                    <a:pt x="0" y="9097089"/>
                    <a:pt x="0" y="9090223"/>
                  </a:cubicBezTo>
                  <a:lnTo>
                    <a:pt x="0" y="12483"/>
                  </a:lnTo>
                  <a:cubicBezTo>
                    <a:pt x="0" y="5617"/>
                    <a:pt x="5715" y="0"/>
                    <a:pt x="12700" y="0"/>
                  </a:cubicBezTo>
                  <a:moveTo>
                    <a:pt x="12700" y="24966"/>
                  </a:moveTo>
                  <a:lnTo>
                    <a:pt x="12700" y="12483"/>
                  </a:lnTo>
                  <a:lnTo>
                    <a:pt x="25400" y="12483"/>
                  </a:lnTo>
                  <a:lnTo>
                    <a:pt x="25400" y="9090223"/>
                  </a:lnTo>
                  <a:lnTo>
                    <a:pt x="12700" y="9090223"/>
                  </a:lnTo>
                  <a:lnTo>
                    <a:pt x="12700" y="9077740"/>
                  </a:lnTo>
                  <a:lnTo>
                    <a:pt x="7236460" y="9077740"/>
                  </a:lnTo>
                  <a:lnTo>
                    <a:pt x="7236460" y="9090223"/>
                  </a:lnTo>
                  <a:lnTo>
                    <a:pt x="7223760" y="9090223"/>
                  </a:lnTo>
                  <a:lnTo>
                    <a:pt x="7223760" y="12483"/>
                  </a:lnTo>
                  <a:lnTo>
                    <a:pt x="7236460" y="12483"/>
                  </a:lnTo>
                  <a:lnTo>
                    <a:pt x="7236460" y="24966"/>
                  </a:lnTo>
                  <a:lnTo>
                    <a:pt x="12700" y="249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6260493" y="1907530"/>
            <a:ext cx="5824318" cy="1112212"/>
            <a:chOff x="0" y="0"/>
            <a:chExt cx="7249160" cy="1384300"/>
          </a:xfrm>
        </p:grpSpPr>
        <p:sp>
          <p:nvSpPr>
            <p:cNvPr id="95" name="Freeform 95"/>
            <p:cNvSpPr/>
            <p:nvPr/>
          </p:nvSpPr>
          <p:spPr>
            <a:xfrm>
              <a:off x="12700" y="17048"/>
              <a:ext cx="7223760" cy="1350204"/>
            </a:xfrm>
            <a:custGeom>
              <a:avLst/>
              <a:gdLst/>
              <a:ahLst/>
              <a:cxnLst/>
              <a:rect l="l" t="t" r="r" b="b"/>
              <a:pathLst>
                <a:path w="7223760" h="1350204">
                  <a:moveTo>
                    <a:pt x="0" y="0"/>
                  </a:moveTo>
                  <a:lnTo>
                    <a:pt x="7223760" y="0"/>
                  </a:lnTo>
                  <a:lnTo>
                    <a:pt x="7223760" y="1350204"/>
                  </a:lnTo>
                  <a:lnTo>
                    <a:pt x="0" y="13502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96" name="Freeform 96"/>
            <p:cNvSpPr/>
            <p:nvPr/>
          </p:nvSpPr>
          <p:spPr>
            <a:xfrm>
              <a:off x="0" y="0"/>
              <a:ext cx="7249160" cy="1384300"/>
            </a:xfrm>
            <a:custGeom>
              <a:avLst/>
              <a:gdLst/>
              <a:ahLst/>
              <a:cxnLst/>
              <a:rect l="l" t="t" r="r" b="b"/>
              <a:pathLst>
                <a:path w="7249160" h="138430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7672"/>
                    <a:pt x="7249160" y="17048"/>
                  </a:cubicBezTo>
                  <a:lnTo>
                    <a:pt x="7249160" y="1367252"/>
                  </a:lnTo>
                  <a:cubicBezTo>
                    <a:pt x="7249160" y="1376628"/>
                    <a:pt x="7243445" y="1384300"/>
                    <a:pt x="7236460" y="1384300"/>
                  </a:cubicBezTo>
                  <a:lnTo>
                    <a:pt x="12700" y="1384300"/>
                  </a:lnTo>
                  <a:cubicBezTo>
                    <a:pt x="5715" y="1384300"/>
                    <a:pt x="0" y="1376628"/>
                    <a:pt x="0" y="1367252"/>
                  </a:cubicBezTo>
                  <a:lnTo>
                    <a:pt x="0" y="17048"/>
                  </a:lnTo>
                  <a:cubicBezTo>
                    <a:pt x="0" y="7672"/>
                    <a:pt x="5715" y="0"/>
                    <a:pt x="12700" y="0"/>
                  </a:cubicBezTo>
                  <a:moveTo>
                    <a:pt x="12700" y="34096"/>
                  </a:moveTo>
                  <a:lnTo>
                    <a:pt x="12700" y="17048"/>
                  </a:lnTo>
                  <a:lnTo>
                    <a:pt x="25400" y="17048"/>
                  </a:lnTo>
                  <a:lnTo>
                    <a:pt x="25400" y="1367252"/>
                  </a:lnTo>
                  <a:lnTo>
                    <a:pt x="12700" y="1367252"/>
                  </a:lnTo>
                  <a:lnTo>
                    <a:pt x="12700" y="1350204"/>
                  </a:lnTo>
                  <a:lnTo>
                    <a:pt x="7236460" y="1350204"/>
                  </a:lnTo>
                  <a:lnTo>
                    <a:pt x="7236460" y="1367252"/>
                  </a:lnTo>
                  <a:lnTo>
                    <a:pt x="7223760" y="1367252"/>
                  </a:lnTo>
                  <a:lnTo>
                    <a:pt x="7223760" y="17048"/>
                  </a:lnTo>
                  <a:lnTo>
                    <a:pt x="7236460" y="17048"/>
                  </a:lnTo>
                  <a:lnTo>
                    <a:pt x="7236460" y="34096"/>
                  </a:lnTo>
                  <a:lnTo>
                    <a:pt x="12700" y="3409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6280901" y="1942079"/>
            <a:ext cx="5803911" cy="1129308"/>
            <a:chOff x="0" y="0"/>
            <a:chExt cx="7223760" cy="140557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223760" cy="1405578"/>
            </a:xfrm>
            <a:custGeom>
              <a:avLst/>
              <a:gdLst/>
              <a:ahLst/>
              <a:cxnLst/>
              <a:rect l="l" t="t" r="r" b="b"/>
              <a:pathLst>
                <a:path w="7223760" h="1405578">
                  <a:moveTo>
                    <a:pt x="0" y="0"/>
                  </a:moveTo>
                  <a:lnTo>
                    <a:pt x="7223760" y="0"/>
                  </a:lnTo>
                  <a:lnTo>
                    <a:pt x="7223760" y="1405578"/>
                  </a:lnTo>
                  <a:lnTo>
                    <a:pt x="0" y="1405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360" b="-35920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57150"/>
              <a:ext cx="7223760" cy="14627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 spc="106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DIDN'T SOLVE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638033" y="3398009"/>
            <a:ext cx="323256" cy="323256"/>
            <a:chOff x="0" y="0"/>
            <a:chExt cx="402336" cy="402336"/>
          </a:xfrm>
        </p:grpSpPr>
        <p:sp>
          <p:nvSpPr>
            <p:cNvPr id="101" name="Freeform 101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2" name="TextBox 102"/>
          <p:cNvSpPr txBox="1"/>
          <p:nvPr/>
        </p:nvSpPr>
        <p:spPr>
          <a:xfrm>
            <a:off x="7078836" y="3267392"/>
            <a:ext cx="477536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OCR drops on poor handwriting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6638033" y="4646952"/>
            <a:ext cx="323256" cy="323256"/>
            <a:chOff x="0" y="0"/>
            <a:chExt cx="402336" cy="402336"/>
          </a:xfrm>
        </p:grpSpPr>
        <p:sp>
          <p:nvSpPr>
            <p:cNvPr id="104" name="Freeform 104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5" name="TextBox 105"/>
          <p:cNvSpPr txBox="1"/>
          <p:nvPr/>
        </p:nvSpPr>
        <p:spPr>
          <a:xfrm>
            <a:off x="7078836" y="4516335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Specialised clinical queries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6638033" y="5895895"/>
            <a:ext cx="323256" cy="323256"/>
            <a:chOff x="0" y="0"/>
            <a:chExt cx="402336" cy="402336"/>
          </a:xfrm>
        </p:grpSpPr>
        <p:sp>
          <p:nvSpPr>
            <p:cNvPr id="107" name="Freeform 107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8" name="TextBox 108"/>
          <p:cNvSpPr txBox="1"/>
          <p:nvPr/>
        </p:nvSpPr>
        <p:spPr>
          <a:xfrm>
            <a:off x="7078836" y="5765278"/>
            <a:ext cx="477536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depends on Supabase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6638033" y="7144838"/>
            <a:ext cx="323256" cy="323256"/>
            <a:chOff x="0" y="0"/>
            <a:chExt cx="402336" cy="402336"/>
          </a:xfrm>
        </p:grpSpPr>
        <p:sp>
          <p:nvSpPr>
            <p:cNvPr id="110" name="Freeform 110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11" name="TextBox 111"/>
          <p:cNvSpPr txBox="1"/>
          <p:nvPr/>
        </p:nvSpPr>
        <p:spPr>
          <a:xfrm>
            <a:off x="7078836" y="7014221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Small OCR eval corpus</a:t>
            </a:r>
          </a:p>
        </p:txBody>
      </p:sp>
      <p:grpSp>
        <p:nvGrpSpPr>
          <p:cNvPr id="112" name="Group 112"/>
          <p:cNvGrpSpPr/>
          <p:nvPr/>
        </p:nvGrpSpPr>
        <p:grpSpPr>
          <a:xfrm>
            <a:off x="6638033" y="8393781"/>
            <a:ext cx="323256" cy="323256"/>
            <a:chOff x="0" y="0"/>
            <a:chExt cx="402336" cy="402336"/>
          </a:xfrm>
        </p:grpSpPr>
        <p:sp>
          <p:nvSpPr>
            <p:cNvPr id="113" name="Freeform 113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14" name="TextBox 114"/>
          <p:cNvSpPr txBox="1"/>
          <p:nvPr/>
        </p:nvSpPr>
        <p:spPr>
          <a:xfrm>
            <a:off x="7078836" y="8263163"/>
            <a:ext cx="477536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third-party security audit</a:t>
            </a:r>
          </a:p>
        </p:txBody>
      </p:sp>
      <p:grpSp>
        <p:nvGrpSpPr>
          <p:cNvPr id="115" name="Group 115"/>
          <p:cNvGrpSpPr/>
          <p:nvPr/>
        </p:nvGrpSpPr>
        <p:grpSpPr>
          <a:xfrm>
            <a:off x="12284806" y="2212330"/>
            <a:ext cx="5824318" cy="7313545"/>
            <a:chOff x="0" y="0"/>
            <a:chExt cx="7249160" cy="9102707"/>
          </a:xfrm>
        </p:grpSpPr>
        <p:sp>
          <p:nvSpPr>
            <p:cNvPr id="116" name="Freeform 116"/>
            <p:cNvSpPr/>
            <p:nvPr/>
          </p:nvSpPr>
          <p:spPr>
            <a:xfrm>
              <a:off x="12700" y="12483"/>
              <a:ext cx="7223760" cy="9077740"/>
            </a:xfrm>
            <a:custGeom>
              <a:avLst/>
              <a:gdLst/>
              <a:ahLst/>
              <a:cxnLst/>
              <a:rect l="l" t="t" r="r" b="b"/>
              <a:pathLst>
                <a:path w="7223760" h="9077740">
                  <a:moveTo>
                    <a:pt x="0" y="0"/>
                  </a:moveTo>
                  <a:lnTo>
                    <a:pt x="7223760" y="0"/>
                  </a:lnTo>
                  <a:lnTo>
                    <a:pt x="7223760" y="9077740"/>
                  </a:lnTo>
                  <a:lnTo>
                    <a:pt x="0" y="9077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7" name="Freeform 117"/>
            <p:cNvSpPr/>
            <p:nvPr/>
          </p:nvSpPr>
          <p:spPr>
            <a:xfrm>
              <a:off x="0" y="0"/>
              <a:ext cx="7249160" cy="9102706"/>
            </a:xfrm>
            <a:custGeom>
              <a:avLst/>
              <a:gdLst/>
              <a:ahLst/>
              <a:cxnLst/>
              <a:rect l="l" t="t" r="r" b="b"/>
              <a:pathLst>
                <a:path w="7249160" h="9102706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5617"/>
                    <a:pt x="7249160" y="12483"/>
                  </a:cubicBezTo>
                  <a:lnTo>
                    <a:pt x="7249160" y="9090223"/>
                  </a:lnTo>
                  <a:cubicBezTo>
                    <a:pt x="7249160" y="9097089"/>
                    <a:pt x="7243445" y="9102706"/>
                    <a:pt x="7236460" y="9102706"/>
                  </a:cubicBezTo>
                  <a:lnTo>
                    <a:pt x="12700" y="9102706"/>
                  </a:lnTo>
                  <a:cubicBezTo>
                    <a:pt x="5715" y="9102706"/>
                    <a:pt x="0" y="9097089"/>
                    <a:pt x="0" y="9090223"/>
                  </a:cubicBezTo>
                  <a:lnTo>
                    <a:pt x="0" y="12483"/>
                  </a:lnTo>
                  <a:cubicBezTo>
                    <a:pt x="0" y="5617"/>
                    <a:pt x="5715" y="0"/>
                    <a:pt x="12700" y="0"/>
                  </a:cubicBezTo>
                  <a:moveTo>
                    <a:pt x="12700" y="24966"/>
                  </a:moveTo>
                  <a:lnTo>
                    <a:pt x="12700" y="12483"/>
                  </a:lnTo>
                  <a:lnTo>
                    <a:pt x="25400" y="12483"/>
                  </a:lnTo>
                  <a:lnTo>
                    <a:pt x="25400" y="9090223"/>
                  </a:lnTo>
                  <a:lnTo>
                    <a:pt x="12700" y="9090223"/>
                  </a:lnTo>
                  <a:lnTo>
                    <a:pt x="12700" y="9077740"/>
                  </a:lnTo>
                  <a:lnTo>
                    <a:pt x="7236460" y="9077740"/>
                  </a:lnTo>
                  <a:lnTo>
                    <a:pt x="7236460" y="9090223"/>
                  </a:lnTo>
                  <a:lnTo>
                    <a:pt x="7223760" y="9090223"/>
                  </a:lnTo>
                  <a:lnTo>
                    <a:pt x="7223760" y="12483"/>
                  </a:lnTo>
                  <a:lnTo>
                    <a:pt x="7236460" y="12483"/>
                  </a:lnTo>
                  <a:lnTo>
                    <a:pt x="7236460" y="24966"/>
                  </a:lnTo>
                  <a:lnTo>
                    <a:pt x="12700" y="249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8" name="Group 118"/>
          <p:cNvGrpSpPr/>
          <p:nvPr/>
        </p:nvGrpSpPr>
        <p:grpSpPr>
          <a:xfrm>
            <a:off x="12284806" y="1907530"/>
            <a:ext cx="5824318" cy="1112212"/>
            <a:chOff x="0" y="0"/>
            <a:chExt cx="7249160" cy="1384300"/>
          </a:xfrm>
        </p:grpSpPr>
        <p:sp>
          <p:nvSpPr>
            <p:cNvPr id="119" name="Freeform 119"/>
            <p:cNvSpPr/>
            <p:nvPr/>
          </p:nvSpPr>
          <p:spPr>
            <a:xfrm>
              <a:off x="12700" y="17048"/>
              <a:ext cx="7223760" cy="1350204"/>
            </a:xfrm>
            <a:custGeom>
              <a:avLst/>
              <a:gdLst/>
              <a:ahLst/>
              <a:cxnLst/>
              <a:rect l="l" t="t" r="r" b="b"/>
              <a:pathLst>
                <a:path w="7223760" h="1350204">
                  <a:moveTo>
                    <a:pt x="0" y="0"/>
                  </a:moveTo>
                  <a:lnTo>
                    <a:pt x="7223760" y="0"/>
                  </a:lnTo>
                  <a:lnTo>
                    <a:pt x="7223760" y="1350204"/>
                  </a:lnTo>
                  <a:lnTo>
                    <a:pt x="0" y="1350204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id="120" name="Freeform 120"/>
            <p:cNvSpPr/>
            <p:nvPr/>
          </p:nvSpPr>
          <p:spPr>
            <a:xfrm>
              <a:off x="0" y="0"/>
              <a:ext cx="7249160" cy="1384300"/>
            </a:xfrm>
            <a:custGeom>
              <a:avLst/>
              <a:gdLst/>
              <a:ahLst/>
              <a:cxnLst/>
              <a:rect l="l" t="t" r="r" b="b"/>
              <a:pathLst>
                <a:path w="7249160" h="138430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7672"/>
                    <a:pt x="7249160" y="17048"/>
                  </a:cubicBezTo>
                  <a:lnTo>
                    <a:pt x="7249160" y="1367252"/>
                  </a:lnTo>
                  <a:cubicBezTo>
                    <a:pt x="7249160" y="1376628"/>
                    <a:pt x="7243445" y="1384300"/>
                    <a:pt x="7236460" y="1384300"/>
                  </a:cubicBezTo>
                  <a:lnTo>
                    <a:pt x="12700" y="1384300"/>
                  </a:lnTo>
                  <a:cubicBezTo>
                    <a:pt x="5715" y="1384300"/>
                    <a:pt x="0" y="1376628"/>
                    <a:pt x="0" y="1367252"/>
                  </a:cubicBezTo>
                  <a:lnTo>
                    <a:pt x="0" y="17048"/>
                  </a:lnTo>
                  <a:cubicBezTo>
                    <a:pt x="0" y="7672"/>
                    <a:pt x="5715" y="0"/>
                    <a:pt x="12700" y="0"/>
                  </a:cubicBezTo>
                  <a:moveTo>
                    <a:pt x="12700" y="34096"/>
                  </a:moveTo>
                  <a:lnTo>
                    <a:pt x="12700" y="17048"/>
                  </a:lnTo>
                  <a:lnTo>
                    <a:pt x="25400" y="17048"/>
                  </a:lnTo>
                  <a:lnTo>
                    <a:pt x="25400" y="1367252"/>
                  </a:lnTo>
                  <a:lnTo>
                    <a:pt x="12700" y="1367252"/>
                  </a:lnTo>
                  <a:lnTo>
                    <a:pt x="12700" y="1350204"/>
                  </a:lnTo>
                  <a:lnTo>
                    <a:pt x="7236460" y="1350204"/>
                  </a:lnTo>
                  <a:lnTo>
                    <a:pt x="7236460" y="1367252"/>
                  </a:lnTo>
                  <a:lnTo>
                    <a:pt x="7223760" y="1367252"/>
                  </a:lnTo>
                  <a:lnTo>
                    <a:pt x="7223760" y="17048"/>
                  </a:lnTo>
                  <a:lnTo>
                    <a:pt x="7236460" y="17048"/>
                  </a:lnTo>
                  <a:lnTo>
                    <a:pt x="7236460" y="34096"/>
                  </a:lnTo>
                  <a:lnTo>
                    <a:pt x="12700" y="34096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12356493" y="2059566"/>
            <a:ext cx="5803911" cy="808139"/>
            <a:chOff x="0" y="0"/>
            <a:chExt cx="7223760" cy="100584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7223760" cy="1005840"/>
            </a:xfrm>
            <a:custGeom>
              <a:avLst/>
              <a:gdLst/>
              <a:ahLst/>
              <a:cxnLst/>
              <a:rect l="l" t="t" r="r" b="b"/>
              <a:pathLst>
                <a:path w="7223760" h="1005840">
                  <a:moveTo>
                    <a:pt x="0" y="0"/>
                  </a:moveTo>
                  <a:lnTo>
                    <a:pt x="7223760" y="0"/>
                  </a:lnTo>
                  <a:lnTo>
                    <a:pt x="7223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937" b="-89937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57150"/>
              <a:ext cx="722376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 spc="106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NEXT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2662345" y="3398009"/>
            <a:ext cx="323256" cy="323256"/>
            <a:chOff x="0" y="0"/>
            <a:chExt cx="402336" cy="402336"/>
          </a:xfrm>
        </p:grpSpPr>
        <p:sp>
          <p:nvSpPr>
            <p:cNvPr id="125" name="Freeform 125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26" name="TextBox 126"/>
          <p:cNvSpPr txBox="1"/>
          <p:nvPr/>
        </p:nvSpPr>
        <p:spPr>
          <a:xfrm>
            <a:off x="13103149" y="3267392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Local payment integration</a:t>
            </a:r>
          </a:p>
        </p:txBody>
      </p:sp>
      <p:grpSp>
        <p:nvGrpSpPr>
          <p:cNvPr id="127" name="Group 127"/>
          <p:cNvGrpSpPr/>
          <p:nvPr/>
        </p:nvGrpSpPr>
        <p:grpSpPr>
          <a:xfrm>
            <a:off x="12662345" y="4646952"/>
            <a:ext cx="323256" cy="323256"/>
            <a:chOff x="0" y="0"/>
            <a:chExt cx="402336" cy="402336"/>
          </a:xfrm>
        </p:grpSpPr>
        <p:sp>
          <p:nvSpPr>
            <p:cNvPr id="128" name="Freeform 128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29" name="TextBox 129"/>
          <p:cNvSpPr txBox="1"/>
          <p:nvPr/>
        </p:nvSpPr>
        <p:spPr>
          <a:xfrm>
            <a:off x="13103149" y="4516335"/>
            <a:ext cx="477536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WebRTC video consultations</a:t>
            </a:r>
          </a:p>
        </p:txBody>
      </p:sp>
      <p:grpSp>
        <p:nvGrpSpPr>
          <p:cNvPr id="130" name="Group 130"/>
          <p:cNvGrpSpPr/>
          <p:nvPr/>
        </p:nvGrpSpPr>
        <p:grpSpPr>
          <a:xfrm>
            <a:off x="12662345" y="5895895"/>
            <a:ext cx="323256" cy="323256"/>
            <a:chOff x="0" y="0"/>
            <a:chExt cx="402336" cy="402336"/>
          </a:xfrm>
        </p:grpSpPr>
        <p:sp>
          <p:nvSpPr>
            <p:cNvPr id="131" name="Freeform 131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32" name="TextBox 132"/>
          <p:cNvSpPr txBox="1"/>
          <p:nvPr/>
        </p:nvSpPr>
        <p:spPr>
          <a:xfrm>
            <a:off x="13103149" y="5765278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Pharmacy integration</a:t>
            </a:r>
          </a:p>
        </p:txBody>
      </p:sp>
      <p:grpSp>
        <p:nvGrpSpPr>
          <p:cNvPr id="133" name="Group 133"/>
          <p:cNvGrpSpPr/>
          <p:nvPr/>
        </p:nvGrpSpPr>
        <p:grpSpPr>
          <a:xfrm>
            <a:off x="12662345" y="7144838"/>
            <a:ext cx="323256" cy="323256"/>
            <a:chOff x="0" y="0"/>
            <a:chExt cx="402336" cy="402336"/>
          </a:xfrm>
        </p:grpSpPr>
        <p:sp>
          <p:nvSpPr>
            <p:cNvPr id="134" name="Freeform 134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35" name="TextBox 135"/>
          <p:cNvSpPr txBox="1"/>
          <p:nvPr/>
        </p:nvSpPr>
        <p:spPr>
          <a:xfrm>
            <a:off x="13103149" y="7014221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Family-member profiles</a:t>
            </a:r>
          </a:p>
        </p:txBody>
      </p:sp>
      <p:grpSp>
        <p:nvGrpSpPr>
          <p:cNvPr id="136" name="Group 136"/>
          <p:cNvGrpSpPr/>
          <p:nvPr/>
        </p:nvGrpSpPr>
        <p:grpSpPr>
          <a:xfrm>
            <a:off x="12662345" y="8393781"/>
            <a:ext cx="323256" cy="323256"/>
            <a:chOff x="0" y="0"/>
            <a:chExt cx="402336" cy="402336"/>
          </a:xfrm>
        </p:grpSpPr>
        <p:sp>
          <p:nvSpPr>
            <p:cNvPr id="137" name="Freeform 137" descr="preencoded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38" name="TextBox 138"/>
          <p:cNvSpPr txBox="1"/>
          <p:nvPr/>
        </p:nvSpPr>
        <p:spPr>
          <a:xfrm>
            <a:off x="13103149" y="8263163"/>
            <a:ext cx="477536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Predictive health analytics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 dirty="0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14400" y="2103120"/>
            <a:ext cx="16459200" cy="883667"/>
            <a:chOff x="0" y="0"/>
            <a:chExt cx="21945600" cy="11782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178223"/>
            </a:xfrm>
            <a:custGeom>
              <a:avLst/>
              <a:gdLst/>
              <a:ahLst/>
              <a:cxnLst/>
              <a:rect l="l" t="t" r="r" b="b"/>
              <a:pathLst>
                <a:path w="21945600" h="1178223">
                  <a:moveTo>
                    <a:pt x="0" y="0"/>
                  </a:moveTo>
                  <a:lnTo>
                    <a:pt x="21945600" y="0"/>
                  </a:lnTo>
                  <a:lnTo>
                    <a:pt x="2194560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363" b="-30949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1945600" cy="125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five primary objectives achieved: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97280" y="3108960"/>
            <a:ext cx="16184880" cy="4630103"/>
            <a:chOff x="0" y="0"/>
            <a:chExt cx="21579840" cy="617347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106439"/>
              <a:ext cx="975360" cy="851513"/>
              <a:chOff x="0" y="0"/>
              <a:chExt cx="975360" cy="85151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75360" cy="851513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851513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975360" cy="960537"/>
              <a:chOff x="0" y="0"/>
              <a:chExt cx="975360" cy="96053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75360" cy="960537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960537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 b="-1543"/>
                </a:stretch>
              </a:blip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341120" y="0"/>
              <a:ext cx="20238720" cy="1064392"/>
              <a:chOff x="0" y="0"/>
              <a:chExt cx="20238720" cy="106439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0238720" cy="1064392"/>
              </a:xfrm>
              <a:custGeom>
                <a:avLst/>
                <a:gdLst/>
                <a:ahLst/>
                <a:cxnLst/>
                <a:rect l="l" t="t" r="r" b="b"/>
                <a:pathLst>
                  <a:path w="20238720" h="1064392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3223" b="-327767"/>
                </a:stretch>
              </a:blip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Unified role-based platform for patients, doctors and administrators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1383709"/>
              <a:ext cx="975360" cy="851513"/>
              <a:chOff x="0" y="0"/>
              <a:chExt cx="975360" cy="8515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75360" cy="851513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851513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1274686"/>
              <a:ext cx="975360" cy="960537"/>
              <a:chOff x="0" y="0"/>
              <a:chExt cx="975360" cy="96053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75360" cy="960537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960537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 b="-1543"/>
                </a:stretch>
              </a:blip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341120" y="1277270"/>
              <a:ext cx="20238720" cy="1064392"/>
              <a:chOff x="0" y="0"/>
              <a:chExt cx="20238720" cy="106439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0238720" cy="1064392"/>
              </a:xfrm>
              <a:custGeom>
                <a:avLst/>
                <a:gdLst/>
                <a:ahLst/>
                <a:cxnLst/>
                <a:rect l="l" t="t" r="r" b="b"/>
                <a:pathLst>
                  <a:path w="20238720" h="1064392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3223" b="-327767"/>
                </a:stretch>
              </a:blip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AI-powered search and Chorui assistant with safety guardrails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2660979"/>
              <a:ext cx="975360" cy="851513"/>
              <a:chOff x="0" y="0"/>
              <a:chExt cx="975360" cy="85151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75360" cy="851513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851513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0" y="2551955"/>
              <a:ext cx="975360" cy="960537"/>
              <a:chOff x="0" y="0"/>
              <a:chExt cx="975360" cy="9605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975360" cy="960537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960537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 b="-1543"/>
                </a:stretch>
              </a:blip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41120" y="2554540"/>
              <a:ext cx="20238720" cy="1064392"/>
              <a:chOff x="0" y="0"/>
              <a:chExt cx="20238720" cy="106439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0238720" cy="1064392"/>
              </a:xfrm>
              <a:custGeom>
                <a:avLst/>
                <a:gdLst/>
                <a:ahLst/>
                <a:cxnLst/>
                <a:rect l="l" t="t" r="r" b="b"/>
                <a:pathLst>
                  <a:path w="20238720" h="1064392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3223" b="-327767"/>
                </a:stretch>
              </a:blip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dirty="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Prescription OCR pipeline: 78% medicine-name accuracy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3938249"/>
              <a:ext cx="975360" cy="851513"/>
              <a:chOff x="0" y="0"/>
              <a:chExt cx="975360" cy="85151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975360" cy="851513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851513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3829225"/>
              <a:ext cx="975360" cy="960537"/>
              <a:chOff x="0" y="0"/>
              <a:chExt cx="975360" cy="96053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975360" cy="960537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960537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 b="-1543"/>
                </a:stretch>
              </a:blip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341120" y="3831810"/>
              <a:ext cx="20238720" cy="1064392"/>
              <a:chOff x="0" y="0"/>
              <a:chExt cx="20238720" cy="106439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20238720" cy="1064392"/>
              </a:xfrm>
              <a:custGeom>
                <a:avLst/>
                <a:gdLst/>
                <a:ahLst/>
                <a:cxnLst/>
                <a:rect l="l" t="t" r="r" b="b"/>
                <a:pathLst>
                  <a:path w="20238720" h="1064392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3223" b="-327767"/>
                </a:stretch>
              </a:blip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Real-time appointment sync with sub-second slot updates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0" y="5215519"/>
              <a:ext cx="975360" cy="851513"/>
              <a:chOff x="0" y="0"/>
              <a:chExt cx="975360" cy="8515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975360" cy="851513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851513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5106495"/>
              <a:ext cx="975360" cy="960537"/>
              <a:chOff x="0" y="0"/>
              <a:chExt cx="975360" cy="96053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975360" cy="960537"/>
              </a:xfrm>
              <a:custGeom>
                <a:avLst/>
                <a:gdLst/>
                <a:ahLst/>
                <a:cxnLst/>
                <a:rect l="l" t="t" r="r" b="b"/>
                <a:pathLst>
                  <a:path w="975360" h="960537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 b="-1543"/>
                </a:stretch>
              </a:blip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341120" y="5109079"/>
              <a:ext cx="20238720" cy="1064392"/>
              <a:chOff x="0" y="0"/>
              <a:chExt cx="20238720" cy="1064392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20238720" cy="1064392"/>
              </a:xfrm>
              <a:custGeom>
                <a:avLst/>
                <a:gdLst/>
                <a:ahLst/>
                <a:cxnLst/>
                <a:rect l="l" t="t" r="r" b="b"/>
                <a:pathLst>
                  <a:path w="20238720" h="1064392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3223" b="-327767"/>
                </a:stretch>
              </a:blip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Production deployment on Azure with CI/CD and observability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1031173" y="8043863"/>
            <a:ext cx="16484603" cy="1122683"/>
            <a:chOff x="0" y="0"/>
            <a:chExt cx="21979471" cy="1496911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21979471" cy="1496911"/>
              <a:chOff x="0" y="0"/>
              <a:chExt cx="21979471" cy="149691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6891" y="16891"/>
                <a:ext cx="21945599" cy="1463040"/>
              </a:xfrm>
              <a:custGeom>
                <a:avLst/>
                <a:gdLst/>
                <a:ahLst/>
                <a:cxnLst/>
                <a:rect l="l" t="t" r="r" b="b"/>
                <a:pathLst>
                  <a:path w="21945599" h="1463040">
                    <a:moveTo>
                      <a:pt x="0" y="0"/>
                    </a:moveTo>
                    <a:lnTo>
                      <a:pt x="21945599" y="0"/>
                    </a:lnTo>
                    <a:lnTo>
                      <a:pt x="21945599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id="54" name="Freeform 54"/>
              <p:cNvSpPr/>
              <p:nvPr/>
            </p:nvSpPr>
            <p:spPr>
              <a:xfrm>
                <a:off x="0" y="0"/>
                <a:ext cx="21979382" cy="1496822"/>
              </a:xfrm>
              <a:custGeom>
                <a:avLst/>
                <a:gdLst/>
                <a:ahLst/>
                <a:cxnLst/>
                <a:rect l="l" t="t" r="r" b="b"/>
                <a:pathLst>
                  <a:path w="21979382" h="1496822">
                    <a:moveTo>
                      <a:pt x="16891" y="0"/>
                    </a:moveTo>
                    <a:lnTo>
                      <a:pt x="21962490" y="0"/>
                    </a:lnTo>
                    <a:cubicBezTo>
                      <a:pt x="21971890" y="0"/>
                      <a:pt x="21979382" y="7620"/>
                      <a:pt x="21979382" y="16891"/>
                    </a:cubicBezTo>
                    <a:lnTo>
                      <a:pt x="21979382" y="1479931"/>
                    </a:lnTo>
                    <a:cubicBezTo>
                      <a:pt x="21979382" y="1489329"/>
                      <a:pt x="21971763" y="1496822"/>
                      <a:pt x="21962490" y="1496822"/>
                    </a:cubicBezTo>
                    <a:lnTo>
                      <a:pt x="16891" y="1496822"/>
                    </a:lnTo>
                    <a:cubicBezTo>
                      <a:pt x="7493" y="1496822"/>
                      <a:pt x="0" y="1489202"/>
                      <a:pt x="0" y="1479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79931"/>
                    </a:lnTo>
                    <a:lnTo>
                      <a:pt x="16891" y="1479931"/>
                    </a:lnTo>
                    <a:lnTo>
                      <a:pt x="16891" y="1463040"/>
                    </a:lnTo>
                    <a:lnTo>
                      <a:pt x="21962490" y="1463040"/>
                    </a:lnTo>
                    <a:lnTo>
                      <a:pt x="21962490" y="1479931"/>
                    </a:lnTo>
                    <a:lnTo>
                      <a:pt x="21945600" y="1479931"/>
                    </a:lnTo>
                    <a:lnTo>
                      <a:pt x="21945600" y="16891"/>
                    </a:lnTo>
                    <a:lnTo>
                      <a:pt x="21962490" y="16891"/>
                    </a:lnTo>
                    <a:lnTo>
                      <a:pt x="219624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16929" y="33871"/>
              <a:ext cx="21457920" cy="1463040"/>
              <a:chOff x="0" y="0"/>
              <a:chExt cx="21457920" cy="146304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21457920" cy="1463040"/>
              </a:xfrm>
              <a:custGeom>
                <a:avLst/>
                <a:gdLst/>
                <a:ahLst/>
                <a:cxnLst/>
                <a:rect l="l" t="t" r="r" b="b"/>
                <a:pathLst>
                  <a:path w="21457920" h="1463040">
                    <a:moveTo>
                      <a:pt x="0" y="0"/>
                    </a:moveTo>
                    <a:lnTo>
                      <a:pt x="21457920" y="0"/>
                    </a:lnTo>
                    <a:lnTo>
                      <a:pt x="2145792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5780" b="-235780"/>
                </a:stretch>
              </a:blip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21457920" cy="151066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1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Key contribution: </a:t>
                </a:r>
                <a:r>
                  <a:rPr lang="en-US" sz="27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 unified, consent-aware healthcare platform grounded in Bangladeshi clinical realities with reusable safety-bounded AI patterns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id="59" name="Group 59"/>
            <p:cNvGrpSpPr/>
            <p:nvPr/>
          </p:nvGrpSpPr>
          <p:grpSpPr>
            <a:xfrm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2105545" cy="345007"/>
              </a:xfrm>
              <a:custGeom>
                <a:avLst/>
                <a:gdLst/>
                <a:ahLst/>
                <a:cxnLst/>
                <a:rect l="l" t="t" r="r" b="b"/>
                <a:pathLst>
                  <a:path w="2105545" h="345007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62" name="AutoShape 62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19"/>
                  </a:lnSpc>
                </a:pPr>
                <a:endParaRPr/>
              </a:p>
            </p:txBody>
          </p:sp>
        </p:grpSp>
        <p:sp>
          <p:nvSpPr>
            <p:cNvPr id="100" name="AutoShape 100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w="40827" cap="flat">
              <a:solidFill>
                <a:srgbClr val="004BF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495302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326449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212072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95734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379395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592465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5429078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227590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064203" y="638175"/>
              <a:ext cx="188912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768339" y="638175"/>
              <a:ext cx="377666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12" name="Group 112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15" name="TextBox 115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117" name="Freeform 117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450330"/>
            <a:chOff x="0" y="0"/>
            <a:chExt cx="21945600" cy="1933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933773"/>
            </a:xfrm>
            <a:custGeom>
              <a:avLst/>
              <a:gdLst/>
              <a:ahLst/>
              <a:cxnLst/>
              <a:rect l="l" t="t" r="r" b="b"/>
              <a:pathLst>
                <a:path w="21945600" h="1933773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146" b="-1621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66979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16891" y="0"/>
              <a:ext cx="21945599" cy="33909"/>
            </a:xfrm>
            <a:custGeom>
              <a:avLst/>
              <a:gdLst/>
              <a:ahLst/>
              <a:cxnLst/>
              <a:rect l="l" t="t" r="r" b="b"/>
              <a:pathLst>
                <a:path w="21945599" h="3390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4971" y="1577340"/>
            <a:ext cx="16093440" cy="7680960"/>
            <a:chOff x="0" y="0"/>
            <a:chExt cx="21457920" cy="10241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457920" cy="10241280"/>
            </a:xfrm>
            <a:custGeom>
              <a:avLst/>
              <a:gdLst/>
              <a:ahLst/>
              <a:cxnLst/>
              <a:rect l="l" t="t" r="r" b="b"/>
              <a:pathLst>
                <a:path w="21457920" h="10241280">
                  <a:moveTo>
                    <a:pt x="0" y="0"/>
                  </a:moveTo>
                  <a:lnTo>
                    <a:pt x="21457920" y="0"/>
                  </a:lnTo>
                  <a:lnTo>
                    <a:pt x="21457920" y="10241280"/>
                  </a:lnTo>
                  <a:lnTo>
                    <a:pt x="0" y="10241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r="-1123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1457920" cy="10307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[1] WHO, "Global Strategy on Digital Health 2020–2025", 2023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[2] MoHFW Bangladesh, "Health Sector Development Programme", 2022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[6] Esteva et al., "A Guide to Deep Learning in Healthcare", Nature Medicine, 2019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[7] Topol, "High-Performance Medicine", Nature Medicine, 2019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[11] Redmon et al., "You Only Look Once", CVPR, 2016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[12] Microsoft, "Azure AI Document Intelligence",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[13] Ramírez, "FastAPI Documentation",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[14] Vercel, "Next.js Documentation",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[16] Supabase, "Platform Documentation",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[22] Serwist, "Service Worker Framework",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[29] Bangladesh Government, "Digital Security Act", 2018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97908" y="189916"/>
              <a:ext cx="619018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095299" y="189916"/>
              <a:ext cx="2527141" cy="57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6922428" y="178876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2743200"/>
            <a:ext cx="16459200" cy="2093863"/>
            <a:chOff x="0" y="0"/>
            <a:chExt cx="21945600" cy="2791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791817"/>
            </a:xfrm>
            <a:custGeom>
              <a:avLst/>
              <a:gdLst/>
              <a:ahLst/>
              <a:cxnLst/>
              <a:rect l="l" t="t" r="r" b="b"/>
              <a:pathLst>
                <a:path w="21945600" h="2791817">
                  <a:moveTo>
                    <a:pt x="0" y="0"/>
                  </a:moveTo>
                  <a:lnTo>
                    <a:pt x="21945600" y="0"/>
                  </a:lnTo>
                  <a:lnTo>
                    <a:pt x="21945600" y="2791817"/>
                  </a:lnTo>
                  <a:lnTo>
                    <a:pt x="0" y="2791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495" b="-968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09550"/>
              <a:ext cx="21945600" cy="3001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480"/>
                </a:lnSpc>
              </a:pPr>
              <a:r>
                <a:rPr lang="en-US" sz="10400" b="1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75397" y="4912357"/>
            <a:ext cx="5537197" cy="50797"/>
            <a:chOff x="0" y="0"/>
            <a:chExt cx="7382929" cy="67729"/>
          </a:xfrm>
        </p:grpSpPr>
        <p:sp>
          <p:nvSpPr>
            <p:cNvPr id="6" name="Freeform 6"/>
            <p:cNvSpPr/>
            <p:nvPr/>
          </p:nvSpPr>
          <p:spPr>
            <a:xfrm>
              <a:off x="33909" y="0"/>
              <a:ext cx="7315200" cy="67691"/>
            </a:xfrm>
            <a:custGeom>
              <a:avLst/>
              <a:gdLst/>
              <a:ahLst/>
              <a:cxnLst/>
              <a:rect l="l" t="t" r="r" b="b"/>
              <a:pathLst>
                <a:path w="7315200" h="67691">
                  <a:moveTo>
                    <a:pt x="0" y="0"/>
                  </a:moveTo>
                  <a:lnTo>
                    <a:pt x="7315200" y="0"/>
                  </a:lnTo>
                  <a:lnTo>
                    <a:pt x="7315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14400" y="5303520"/>
            <a:ext cx="16459200" cy="1097280"/>
            <a:chOff x="0" y="0"/>
            <a:chExt cx="21945600" cy="14630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1945600" cy="1548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6766560"/>
            <a:ext cx="16459200" cy="1463040"/>
            <a:chOff x="0" y="0"/>
            <a:chExt cx="21945600" cy="19507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950720"/>
            </a:xfrm>
            <a:custGeom>
              <a:avLst/>
              <a:gdLst/>
              <a:ahLst/>
              <a:cxnLst/>
              <a:rect l="l" t="t" r="r" b="b"/>
              <a:pathLst>
                <a:path w="21945600" h="195072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1945600" cy="2007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Sarwad Hasan Siddiqui (2107006)  |  Adiba Tahsin (2107031)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Supervisor: Kazi Saeed Alam  |  CSE, KUET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8550652" y="1745903"/>
            <a:ext cx="1186696" cy="1186696"/>
          </a:xfrm>
          <a:custGeom>
            <a:avLst/>
            <a:gdLst/>
            <a:ahLst/>
            <a:cxnLst/>
            <a:rect l="l" t="t" r="r" b="b"/>
            <a:pathLst>
              <a:path w="1186696" h="1186696">
                <a:moveTo>
                  <a:pt x="0" y="0"/>
                </a:moveTo>
                <a:lnTo>
                  <a:pt x="1186696" y="0"/>
                </a:lnTo>
                <a:lnTo>
                  <a:pt x="1186696" y="1186695"/>
                </a:lnTo>
                <a:lnTo>
                  <a:pt x="0" y="1186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2152</Words>
  <Application>Microsoft Office PowerPoint</Application>
  <PresentationFormat>Custom</PresentationFormat>
  <Paragraphs>899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 (MS) Bold</vt:lpstr>
      <vt:lpstr>Arial</vt:lpstr>
      <vt:lpstr>Calibri (MS) Italics</vt:lpstr>
      <vt:lpstr>Calibri (MS) Bold Italics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Medora_Presentation.pptx</dc:title>
  <dc:creator>Sarwad</dc:creator>
  <cp:lastModifiedBy>Sarwad Hasan</cp:lastModifiedBy>
  <cp:revision>4</cp:revision>
  <dcterms:created xsi:type="dcterms:W3CDTF">2006-08-16T00:00:00Z</dcterms:created>
  <dcterms:modified xsi:type="dcterms:W3CDTF">2026-04-26T21:39:41Z</dcterms:modified>
  <dc:identifier>DAHH7VhSY9s</dc:identifier>
</cp:coreProperties>
</file>