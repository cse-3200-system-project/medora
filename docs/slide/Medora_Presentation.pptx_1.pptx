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libri (MS) Bold" charset="1" panose="020F0702030404030204"/>
      <p:regular r:id="rId29"/>
    </p:embeddedFont>
    <p:embeddedFont>
      <p:font typeface="Calibri (MS) Bold Italics" charset="1" panose="020F07020304040A0204"/>
      <p:regular r:id="rId30"/>
    </p:embeddedFont>
    <p:embeddedFont>
      <p:font typeface="Calibri (MS) Italics" charset="1" panose="020F05020202040A0204"/>
      <p:regular r:id="rId31"/>
    </p:embeddedFont>
    <p:embeddedFont>
      <p:font typeface="Calibri (MS)" charset="1" panose="020F0502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92275" y="-2752725"/>
            <a:ext cx="8248650" cy="8248650"/>
            <a:chOff x="0" y="0"/>
            <a:chExt cx="10998200" cy="1099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563EB">
                <a:alpha val="5882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98200" cy="10998200"/>
            </a:xfrm>
            <a:custGeom>
              <a:avLst/>
              <a:gdLst/>
              <a:ahLst/>
              <a:cxnLst/>
              <a:rect r="r" b="b" t="t" l="l"/>
              <a:pathLst>
                <a:path h="10998200" w="10998200">
                  <a:moveTo>
                    <a:pt x="0" y="5499100"/>
                  </a:moveTo>
                  <a:cubicBezTo>
                    <a:pt x="0" y="2462022"/>
                    <a:pt x="2462022" y="0"/>
                    <a:pt x="5499100" y="0"/>
                  </a:cubicBezTo>
                  <a:lnTo>
                    <a:pt x="5499100" y="12700"/>
                  </a:lnTo>
                  <a:lnTo>
                    <a:pt x="5499100" y="0"/>
                  </a:lnTo>
                  <a:cubicBezTo>
                    <a:pt x="8536178" y="0"/>
                    <a:pt x="10998200" y="2462022"/>
                    <a:pt x="10998200" y="5499100"/>
                  </a:cubicBezTo>
                  <a:lnTo>
                    <a:pt x="10985500" y="5499100"/>
                  </a:lnTo>
                  <a:lnTo>
                    <a:pt x="10998200" y="5499100"/>
                  </a:lnTo>
                  <a:cubicBezTo>
                    <a:pt x="10998200" y="8536178"/>
                    <a:pt x="8536178" y="10998200"/>
                    <a:pt x="5499100" y="10998200"/>
                  </a:cubicBezTo>
                  <a:lnTo>
                    <a:pt x="5499100" y="10985500"/>
                  </a:lnTo>
                  <a:lnTo>
                    <a:pt x="5499100" y="10998200"/>
                  </a:lnTo>
                  <a:cubicBezTo>
                    <a:pt x="2462022" y="10998200"/>
                    <a:pt x="0" y="8536178"/>
                    <a:pt x="0" y="5499100"/>
                  </a:cubicBezTo>
                  <a:lnTo>
                    <a:pt x="12700" y="5499100"/>
                  </a:lnTo>
                  <a:lnTo>
                    <a:pt x="25400" y="5499100"/>
                  </a:lnTo>
                  <a:lnTo>
                    <a:pt x="12700" y="5499100"/>
                  </a:lnTo>
                  <a:lnTo>
                    <a:pt x="0" y="5499100"/>
                  </a:lnTo>
                  <a:moveTo>
                    <a:pt x="25400" y="5499100"/>
                  </a:moveTo>
                  <a:cubicBezTo>
                    <a:pt x="25400" y="5506085"/>
                    <a:pt x="19685" y="5511800"/>
                    <a:pt x="12700" y="5511800"/>
                  </a:cubicBezTo>
                  <a:cubicBezTo>
                    <a:pt x="5715" y="5511800"/>
                    <a:pt x="0" y="5506085"/>
                    <a:pt x="0" y="5499100"/>
                  </a:cubicBezTo>
                  <a:cubicBezTo>
                    <a:pt x="0" y="5492115"/>
                    <a:pt x="5715" y="5486400"/>
                    <a:pt x="12700" y="5486400"/>
                  </a:cubicBezTo>
                  <a:cubicBezTo>
                    <a:pt x="19685" y="5486400"/>
                    <a:pt x="25400" y="5492115"/>
                    <a:pt x="25400" y="5499100"/>
                  </a:cubicBezTo>
                  <a:cubicBezTo>
                    <a:pt x="25400" y="8522081"/>
                    <a:pt x="2476119" y="10972800"/>
                    <a:pt x="5499100" y="10972800"/>
                  </a:cubicBezTo>
                  <a:cubicBezTo>
                    <a:pt x="8522081" y="10972800"/>
                    <a:pt x="10972800" y="8522081"/>
                    <a:pt x="10972800" y="5499100"/>
                  </a:cubicBezTo>
                  <a:cubicBezTo>
                    <a:pt x="10972800" y="2476119"/>
                    <a:pt x="8522081" y="25400"/>
                    <a:pt x="5499100" y="25400"/>
                  </a:cubicBezTo>
                  <a:lnTo>
                    <a:pt x="5499100" y="12700"/>
                  </a:lnTo>
                  <a:lnTo>
                    <a:pt x="5499100" y="25400"/>
                  </a:lnTo>
                  <a:cubicBezTo>
                    <a:pt x="2476119" y="25400"/>
                    <a:pt x="25400" y="2476119"/>
                    <a:pt x="25400" y="5499100"/>
                  </a:cubicBezTo>
                  <a:close/>
                </a:path>
              </a:pathLst>
            </a:custGeom>
            <a:solidFill>
              <a:srgbClr val="DBEAFE">
                <a:alpha val="588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2752725" y="6162675"/>
            <a:ext cx="6877050" cy="6877050"/>
            <a:chOff x="0" y="0"/>
            <a:chExt cx="9169400" cy="9169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694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9169400">
                  <a:moveTo>
                    <a:pt x="0" y="4584700"/>
                  </a:moveTo>
                  <a:cubicBezTo>
                    <a:pt x="0" y="2052701"/>
                    <a:pt x="2052701" y="0"/>
                    <a:pt x="4584700" y="0"/>
                  </a:cubicBezTo>
                  <a:lnTo>
                    <a:pt x="4584700" y="12700"/>
                  </a:lnTo>
                  <a:lnTo>
                    <a:pt x="4584700" y="0"/>
                  </a:lnTo>
                  <a:cubicBezTo>
                    <a:pt x="7116699" y="0"/>
                    <a:pt x="9169400" y="2052701"/>
                    <a:pt x="9169400" y="4584700"/>
                  </a:cubicBezTo>
                  <a:lnTo>
                    <a:pt x="9156700" y="4584700"/>
                  </a:lnTo>
                  <a:lnTo>
                    <a:pt x="9169400" y="4584700"/>
                  </a:lnTo>
                  <a:cubicBezTo>
                    <a:pt x="9169400" y="7116699"/>
                    <a:pt x="7116699" y="9169400"/>
                    <a:pt x="4584700" y="9169400"/>
                  </a:cubicBezTo>
                  <a:lnTo>
                    <a:pt x="4584700" y="9156700"/>
                  </a:lnTo>
                  <a:lnTo>
                    <a:pt x="4584700" y="9169400"/>
                  </a:lnTo>
                  <a:cubicBezTo>
                    <a:pt x="2052701" y="9169400"/>
                    <a:pt x="0" y="7116699"/>
                    <a:pt x="0" y="4584700"/>
                  </a:cubicBezTo>
                  <a:lnTo>
                    <a:pt x="12700" y="4584700"/>
                  </a:lnTo>
                  <a:lnTo>
                    <a:pt x="25400" y="4584700"/>
                  </a:lnTo>
                  <a:lnTo>
                    <a:pt x="12700" y="4584700"/>
                  </a:lnTo>
                  <a:lnTo>
                    <a:pt x="0" y="4584700"/>
                  </a:lnTo>
                  <a:moveTo>
                    <a:pt x="25400" y="4584700"/>
                  </a:moveTo>
                  <a:cubicBezTo>
                    <a:pt x="25400" y="4591685"/>
                    <a:pt x="19685" y="4597400"/>
                    <a:pt x="12700" y="4597400"/>
                  </a:cubicBezTo>
                  <a:cubicBezTo>
                    <a:pt x="5715" y="4597400"/>
                    <a:pt x="0" y="4591685"/>
                    <a:pt x="0" y="4584700"/>
                  </a:cubicBezTo>
                  <a:cubicBezTo>
                    <a:pt x="0" y="4577715"/>
                    <a:pt x="5715" y="4572000"/>
                    <a:pt x="12700" y="4572000"/>
                  </a:cubicBezTo>
                  <a:cubicBezTo>
                    <a:pt x="19685" y="4572000"/>
                    <a:pt x="25400" y="4577715"/>
                    <a:pt x="25400" y="4584700"/>
                  </a:cubicBezTo>
                  <a:cubicBezTo>
                    <a:pt x="25400" y="7102729"/>
                    <a:pt x="2066671" y="9144000"/>
                    <a:pt x="4584700" y="9144000"/>
                  </a:cubicBezTo>
                  <a:cubicBezTo>
                    <a:pt x="7102729" y="9144000"/>
                    <a:pt x="9144000" y="7102729"/>
                    <a:pt x="9144000" y="4584700"/>
                  </a:cubicBezTo>
                  <a:cubicBezTo>
                    <a:pt x="9144000" y="2066671"/>
                    <a:pt x="7102729" y="25400"/>
                    <a:pt x="4584700" y="25400"/>
                  </a:cubicBezTo>
                  <a:lnTo>
                    <a:pt x="4584700" y="12700"/>
                  </a:lnTo>
                  <a:lnTo>
                    <a:pt x="4584700" y="25400"/>
                  </a:lnTo>
                  <a:cubicBezTo>
                    <a:pt x="2066671" y="25400"/>
                    <a:pt x="25400" y="2066671"/>
                    <a:pt x="25400" y="4584700"/>
                  </a:cubicBezTo>
                  <a:close/>
                </a:path>
              </a:pathLst>
            </a:custGeom>
            <a:solidFill>
              <a:srgbClr val="DBEAFE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1672609"/>
            <a:ext cx="919438" cy="919438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78635" y="1488795"/>
            <a:ext cx="5486400" cy="1287066"/>
            <a:chOff x="0" y="0"/>
            <a:chExt cx="7315200" cy="17160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1716087"/>
            </a:xfrm>
            <a:custGeom>
              <a:avLst/>
              <a:gdLst/>
              <a:ahLst/>
              <a:cxnLst/>
              <a:rect r="r" b="b" t="t" l="l"/>
              <a:pathLst>
                <a:path h="1716087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716087"/>
                  </a:lnTo>
                  <a:lnTo>
                    <a:pt x="0" y="17160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760" r="0" b="-203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42875"/>
              <a:ext cx="7315200" cy="185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b="true" sz="6399" spc="1476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MEDORA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2629175"/>
            <a:ext cx="16459200" cy="1565635"/>
            <a:chOff x="0" y="0"/>
            <a:chExt cx="21945600" cy="20875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2087513"/>
            </a:xfrm>
            <a:custGeom>
              <a:avLst/>
              <a:gdLst/>
              <a:ahLst/>
              <a:cxnLst/>
              <a:rect r="r" b="b" t="t" l="l"/>
              <a:pathLst>
                <a:path h="208751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87513"/>
                  </a:lnTo>
                  <a:lnTo>
                    <a:pt x="0" y="2087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229" r="0" b="-146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61925"/>
              <a:ext cx="21945600" cy="224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360"/>
                </a:lnSpc>
              </a:pPr>
              <a:r>
                <a:rPr lang="en-US" b="true" sz="78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 AI-Native Healthcare Platform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4023635"/>
            <a:ext cx="16459200" cy="1565635"/>
            <a:chOff x="0" y="0"/>
            <a:chExt cx="21945600" cy="20875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2087513"/>
            </a:xfrm>
            <a:custGeom>
              <a:avLst/>
              <a:gdLst/>
              <a:ahLst/>
              <a:cxnLst/>
              <a:rect r="r" b="b" t="t" l="l"/>
              <a:pathLst>
                <a:path h="208751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87513"/>
                  </a:lnTo>
                  <a:lnTo>
                    <a:pt x="0" y="20875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609" r="0" b="-1420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61925"/>
              <a:ext cx="21945600" cy="224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360"/>
                </a:lnSpc>
              </a:pPr>
              <a:r>
                <a:rPr lang="en-US" b="true" sz="7800" i="true">
                  <a:solidFill>
                    <a:srgbClr val="1A1A1A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for Bangladesh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4509" y="5614035"/>
            <a:ext cx="16459200" cy="548640"/>
            <a:chOff x="0" y="0"/>
            <a:chExt cx="219456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1945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1A1A1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platform. Three roles. Bilingual. Production-ready.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0595" y="7397115"/>
            <a:ext cx="73914" cy="2076450"/>
            <a:chOff x="0" y="0"/>
            <a:chExt cx="98552" cy="2768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73152" cy="2743200"/>
            </a:xfrm>
            <a:custGeom>
              <a:avLst/>
              <a:gdLst/>
              <a:ahLst/>
              <a:cxnLst/>
              <a:rect r="r" b="b" t="t" l="l"/>
              <a:pathLst>
                <a:path h="2743200" w="73152">
                  <a:moveTo>
                    <a:pt x="0" y="0"/>
                  </a:moveTo>
                  <a:lnTo>
                    <a:pt x="73152" y="0"/>
                  </a:lnTo>
                  <a:lnTo>
                    <a:pt x="73152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552" cy="2768600"/>
            </a:xfrm>
            <a:custGeom>
              <a:avLst/>
              <a:gdLst/>
              <a:ahLst/>
              <a:cxnLst/>
              <a:rect r="r" b="b" t="t" l="l"/>
              <a:pathLst>
                <a:path h="2768600" w="98552">
                  <a:moveTo>
                    <a:pt x="12700" y="0"/>
                  </a:moveTo>
                  <a:lnTo>
                    <a:pt x="85852" y="0"/>
                  </a:lnTo>
                  <a:cubicBezTo>
                    <a:pt x="92837" y="0"/>
                    <a:pt x="98552" y="5715"/>
                    <a:pt x="98552" y="12700"/>
                  </a:cubicBezTo>
                  <a:lnTo>
                    <a:pt x="98552" y="2755900"/>
                  </a:lnTo>
                  <a:cubicBezTo>
                    <a:pt x="98552" y="2762885"/>
                    <a:pt x="92837" y="2768600"/>
                    <a:pt x="85852" y="2768600"/>
                  </a:cubicBezTo>
                  <a:lnTo>
                    <a:pt x="12700" y="2768600"/>
                  </a:lnTo>
                  <a:cubicBezTo>
                    <a:pt x="5715" y="2768600"/>
                    <a:pt x="0" y="2762885"/>
                    <a:pt x="0" y="27559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755900"/>
                  </a:lnTo>
                  <a:lnTo>
                    <a:pt x="12700" y="2755900"/>
                  </a:lnTo>
                  <a:lnTo>
                    <a:pt x="12700" y="2743200"/>
                  </a:lnTo>
                  <a:lnTo>
                    <a:pt x="85852" y="2743200"/>
                  </a:lnTo>
                  <a:lnTo>
                    <a:pt x="85852" y="2755900"/>
                  </a:lnTo>
                  <a:lnTo>
                    <a:pt x="73152" y="2755900"/>
                  </a:lnTo>
                  <a:lnTo>
                    <a:pt x="73152" y="12700"/>
                  </a:lnTo>
                  <a:lnTo>
                    <a:pt x="85852" y="12700"/>
                  </a:lnTo>
                  <a:lnTo>
                    <a:pt x="8585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3020" y="7354737"/>
            <a:ext cx="5486400" cy="720403"/>
            <a:chOff x="0" y="0"/>
            <a:chExt cx="7315200" cy="9605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960537"/>
            </a:xfrm>
            <a:custGeom>
              <a:avLst/>
              <a:gdLst/>
              <a:ahLst/>
              <a:cxnLst/>
              <a:rect r="r" b="b" t="t" l="l"/>
              <a:pathLst>
                <a:path h="960537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30" r="0" b="-788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7315200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Sarwad Hasan Siddiqui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3020" y="7878202"/>
            <a:ext cx="5486400" cy="557138"/>
            <a:chOff x="0" y="0"/>
            <a:chExt cx="7315200" cy="7428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412" r="0" b="-12634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Roll: 2107006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3020" y="8298180"/>
            <a:ext cx="5486400" cy="720403"/>
            <a:chOff x="0" y="0"/>
            <a:chExt cx="7315200" cy="9605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0" cy="960537"/>
            </a:xfrm>
            <a:custGeom>
              <a:avLst/>
              <a:gdLst/>
              <a:ahLst/>
              <a:cxnLst/>
              <a:rect r="r" b="b" t="t" l="l"/>
              <a:pathLst>
                <a:path h="960537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930" r="0" b="-788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7315200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Adiba Tahsin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03020" y="8838322"/>
            <a:ext cx="5486400" cy="557138"/>
            <a:chOff x="0" y="0"/>
            <a:chExt cx="7315200" cy="7428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412" r="0" b="-12634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Roll: 2107031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649075" y="7162361"/>
            <a:ext cx="5486400" cy="557138"/>
            <a:chOff x="0" y="0"/>
            <a:chExt cx="7315200" cy="74285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412" r="0" b="-12634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spc="763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649075" y="7714939"/>
            <a:ext cx="5760720" cy="720401"/>
            <a:chOff x="0" y="0"/>
            <a:chExt cx="7680960" cy="96053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80960" cy="960535"/>
            </a:xfrm>
            <a:custGeom>
              <a:avLst/>
              <a:gdLst/>
              <a:ahLst/>
              <a:cxnLst/>
              <a:rect r="r" b="b" t="t" l="l"/>
              <a:pathLst>
                <a:path h="960535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60535"/>
                  </a:lnTo>
                  <a:lnTo>
                    <a:pt x="0" y="960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49" r="0" b="-8627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7680960" cy="1046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Kazi Saeed Alam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649075" y="8329099"/>
            <a:ext cx="5486400" cy="557138"/>
            <a:chOff x="0" y="0"/>
            <a:chExt cx="7315200" cy="7428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412" r="0" b="-12634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Assistant Professor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649075" y="8838322"/>
            <a:ext cx="5486400" cy="557138"/>
            <a:chOff x="0" y="0"/>
            <a:chExt cx="7315200" cy="7428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412" r="0" b="-12634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Dept. of CSE, KUET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Outlines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7280" y="2255030"/>
            <a:ext cx="6282534" cy="6769949"/>
            <a:chOff x="0" y="0"/>
            <a:chExt cx="8376711" cy="902659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75604"/>
              <a:ext cx="1133074" cy="987773"/>
              <a:chOff x="0" y="0"/>
              <a:chExt cx="1133074" cy="98777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100347"/>
              <a:ext cx="1133074" cy="1063030"/>
              <a:chOff x="0" y="0"/>
              <a:chExt cx="1133074" cy="106303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10765" y="0"/>
              <a:ext cx="4624683" cy="2360662"/>
              <a:chOff x="0" y="0"/>
              <a:chExt cx="4624683" cy="236066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624683" cy="2360662"/>
              </a:xfrm>
              <a:custGeom>
                <a:avLst/>
                <a:gdLst/>
                <a:ahLst/>
                <a:cxnLst/>
                <a:rect r="r" b="b" t="t" l="l"/>
                <a:pathLst>
                  <a:path h="2360662" w="4624683">
                    <a:moveTo>
                      <a:pt x="0" y="0"/>
                    </a:moveTo>
                    <a:lnTo>
                      <a:pt x="4624683" y="0"/>
                    </a:lnTo>
                    <a:lnTo>
                      <a:pt x="4624683" y="2360662"/>
                    </a:lnTo>
                    <a:lnTo>
                      <a:pt x="0" y="2360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36063" r="-337623" b="-98039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14300"/>
                <a:ext cx="4624683" cy="24749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Motivation</a:t>
                </a:r>
              </a:p>
              <a:p>
                <a:pPr algn="l">
                  <a:lnSpc>
                    <a:spcPts val="600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2041397"/>
              <a:ext cx="1133074" cy="987773"/>
              <a:chOff x="0" y="0"/>
              <a:chExt cx="1133074" cy="98777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966140"/>
              <a:ext cx="1133074" cy="1063030"/>
              <a:chOff x="0" y="0"/>
              <a:chExt cx="1133074" cy="106303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510765" y="1862952"/>
              <a:ext cx="6865946" cy="1344662"/>
              <a:chOff x="0" y="0"/>
              <a:chExt cx="6865946" cy="134466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865946" cy="1344662"/>
              </a:xfrm>
              <a:custGeom>
                <a:avLst/>
                <a:gdLst/>
                <a:ahLst/>
                <a:cxnLst/>
                <a:rect r="r" b="b" t="t" l="l"/>
                <a:pathLst>
                  <a:path h="1344662" w="6865946">
                    <a:moveTo>
                      <a:pt x="0" y="0"/>
                    </a:moveTo>
                    <a:lnTo>
                      <a:pt x="6865946" y="0"/>
                    </a:lnTo>
                    <a:lnTo>
                      <a:pt x="6865946" y="1344662"/>
                    </a:lnTo>
                    <a:lnTo>
                      <a:pt x="0" y="1344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38870" r="-194769" b="-247674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14300"/>
                <a:ext cx="6865946" cy="14589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Proposed Solution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3907190"/>
              <a:ext cx="1133074" cy="987773"/>
              <a:chOff x="0" y="0"/>
              <a:chExt cx="1133074" cy="98777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3831933"/>
              <a:ext cx="1133074" cy="1063030"/>
              <a:chOff x="0" y="0"/>
              <a:chExt cx="1133074" cy="106303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510765" y="3731586"/>
              <a:ext cx="4624683" cy="1344662"/>
              <a:chOff x="0" y="0"/>
              <a:chExt cx="4624683" cy="134466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24683" cy="1344662"/>
              </a:xfrm>
              <a:custGeom>
                <a:avLst/>
                <a:gdLst/>
                <a:ahLst/>
                <a:cxnLst/>
                <a:rect r="r" b="b" t="t" l="l"/>
                <a:pathLst>
                  <a:path h="1344662" w="4624683">
                    <a:moveTo>
                      <a:pt x="0" y="0"/>
                    </a:moveTo>
                    <a:lnTo>
                      <a:pt x="4624683" y="0"/>
                    </a:lnTo>
                    <a:lnTo>
                      <a:pt x="4624683" y="1344662"/>
                    </a:lnTo>
                    <a:lnTo>
                      <a:pt x="0" y="1344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38870" r="-337623" b="-247674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14300"/>
                <a:ext cx="4624683" cy="14589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Objectives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5772983"/>
              <a:ext cx="1133074" cy="987773"/>
              <a:chOff x="0" y="0"/>
              <a:chExt cx="1133074" cy="98777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5697726"/>
              <a:ext cx="1133074" cy="1063030"/>
              <a:chOff x="0" y="0"/>
              <a:chExt cx="1133074" cy="106303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510765" y="5597379"/>
              <a:ext cx="5382277" cy="1344662"/>
              <a:chOff x="0" y="0"/>
              <a:chExt cx="5382277" cy="1344662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382277" cy="1344662"/>
              </a:xfrm>
              <a:custGeom>
                <a:avLst/>
                <a:gdLst/>
                <a:ahLst/>
                <a:cxnLst/>
                <a:rect r="r" b="b" t="t" l="l"/>
                <a:pathLst>
                  <a:path h="1344662" w="5382277">
                    <a:moveTo>
                      <a:pt x="0" y="0"/>
                    </a:moveTo>
                    <a:lnTo>
                      <a:pt x="5382277" y="0"/>
                    </a:lnTo>
                    <a:lnTo>
                      <a:pt x="5382277" y="1344662"/>
                    </a:lnTo>
                    <a:lnTo>
                      <a:pt x="0" y="134466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238870" r="-276025" b="-247674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14300"/>
                <a:ext cx="5382277" cy="14589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Related Works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7638775"/>
              <a:ext cx="1133074" cy="987773"/>
              <a:chOff x="0" y="0"/>
              <a:chExt cx="1133074" cy="98777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7563518"/>
              <a:ext cx="1133074" cy="1063030"/>
              <a:chOff x="0" y="0"/>
              <a:chExt cx="1133074" cy="106303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510765" y="7163468"/>
              <a:ext cx="6865946" cy="1863130"/>
              <a:chOff x="0" y="0"/>
              <a:chExt cx="6865946" cy="186313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6865946" cy="1863130"/>
              </a:xfrm>
              <a:custGeom>
                <a:avLst/>
                <a:gdLst/>
                <a:ahLst/>
                <a:cxnLst/>
                <a:rect r="r" b="b" t="t" l="l"/>
                <a:pathLst>
                  <a:path h="1863130" w="6865946">
                    <a:moveTo>
                      <a:pt x="0" y="0"/>
                    </a:moveTo>
                    <a:lnTo>
                      <a:pt x="6865946" y="0"/>
                    </a:lnTo>
                    <a:lnTo>
                      <a:pt x="6865946" y="1863130"/>
                    </a:lnTo>
                    <a:lnTo>
                      <a:pt x="0" y="18631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72398" r="-194769" b="-150924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114300"/>
                <a:ext cx="6865946" cy="19774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6000"/>
                  </a:lnSpc>
                </a:pPr>
                <a:r>
                  <a:rPr lang="en-US" sz="50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Methodology</a:t>
                </a:r>
              </a:p>
            </p:txBody>
          </p:sp>
        </p:grpSp>
      </p:grpSp>
      <p:grpSp>
        <p:nvGrpSpPr>
          <p:cNvPr name="Group 48" id="48"/>
          <p:cNvGrpSpPr/>
          <p:nvPr/>
        </p:nvGrpSpPr>
        <p:grpSpPr>
          <a:xfrm rot="0">
            <a:off x="10363888" y="2386733"/>
            <a:ext cx="849806" cy="740830"/>
            <a:chOff x="0" y="0"/>
            <a:chExt cx="1133074" cy="9877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33074" cy="987773"/>
            </a:xfrm>
            <a:custGeom>
              <a:avLst/>
              <a:gdLst/>
              <a:ahLst/>
              <a:cxnLst/>
              <a:rect r="r" b="b" t="t" l="l"/>
              <a:pathLst>
                <a:path h="987773" w="1133074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363888" y="2330290"/>
            <a:ext cx="849806" cy="797272"/>
            <a:chOff x="0" y="0"/>
            <a:chExt cx="1133074" cy="10630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3074" cy="1063030"/>
            </a:xfrm>
            <a:custGeom>
              <a:avLst/>
              <a:gdLst/>
              <a:ahLst/>
              <a:cxnLst/>
              <a:rect r="r" b="b" t="t" l="l"/>
              <a:pathLst>
                <a:path h="1063030" w="1133074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t="0" r="-72670" b="-322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363888" y="3786077"/>
            <a:ext cx="849806" cy="740830"/>
            <a:chOff x="0" y="0"/>
            <a:chExt cx="1133074" cy="98777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33074" cy="987773"/>
            </a:xfrm>
            <a:custGeom>
              <a:avLst/>
              <a:gdLst/>
              <a:ahLst/>
              <a:cxnLst/>
              <a:rect r="r" b="b" t="t" l="l"/>
              <a:pathLst>
                <a:path h="987773" w="1133074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363888" y="3729634"/>
            <a:ext cx="849806" cy="797272"/>
            <a:chOff x="0" y="0"/>
            <a:chExt cx="1133074" cy="106303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33074" cy="1063030"/>
            </a:xfrm>
            <a:custGeom>
              <a:avLst/>
              <a:gdLst/>
              <a:ahLst/>
              <a:cxnLst/>
              <a:rect r="r" b="b" t="t" l="l"/>
              <a:pathLst>
                <a:path h="1063030" w="1133074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t="0" r="-72670" b="-322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96962" y="3729634"/>
            <a:ext cx="4415504" cy="1008497"/>
            <a:chOff x="0" y="0"/>
            <a:chExt cx="5887339" cy="134466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887339" cy="1344662"/>
            </a:xfrm>
            <a:custGeom>
              <a:avLst/>
              <a:gdLst/>
              <a:ahLst/>
              <a:cxnLst/>
              <a:rect r="r" b="b" t="t" l="l"/>
              <a:pathLst>
                <a:path h="1344662" w="5887339">
                  <a:moveTo>
                    <a:pt x="0" y="0"/>
                  </a:moveTo>
                  <a:lnTo>
                    <a:pt x="5887339" y="0"/>
                  </a:lnTo>
                  <a:lnTo>
                    <a:pt x="5887339" y="1344662"/>
                  </a:lnTo>
                  <a:lnTo>
                    <a:pt x="0" y="1344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870" r="-243766" b="-24767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14300"/>
              <a:ext cx="5887339" cy="145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363888" y="5185422"/>
            <a:ext cx="849806" cy="740830"/>
            <a:chOff x="0" y="0"/>
            <a:chExt cx="1133074" cy="98777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33074" cy="987773"/>
            </a:xfrm>
            <a:custGeom>
              <a:avLst/>
              <a:gdLst/>
              <a:ahLst/>
              <a:cxnLst/>
              <a:rect r="r" b="b" t="t" l="l"/>
              <a:pathLst>
                <a:path h="987773" w="1133074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363888" y="5128979"/>
            <a:ext cx="849806" cy="797272"/>
            <a:chOff x="0" y="0"/>
            <a:chExt cx="1133074" cy="10630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33074" cy="1063030"/>
            </a:xfrm>
            <a:custGeom>
              <a:avLst/>
              <a:gdLst/>
              <a:ahLst/>
              <a:cxnLst/>
              <a:rect r="r" b="b" t="t" l="l"/>
              <a:pathLst>
                <a:path h="1063030" w="1133074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t="0" r="-72670" b="-322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496962" y="5051588"/>
            <a:ext cx="3468512" cy="1008497"/>
            <a:chOff x="0" y="0"/>
            <a:chExt cx="4624683" cy="134466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624683" cy="1344662"/>
            </a:xfrm>
            <a:custGeom>
              <a:avLst/>
              <a:gdLst/>
              <a:ahLst/>
              <a:cxnLst/>
              <a:rect r="r" b="b" t="t" l="l"/>
              <a:pathLst>
                <a:path h="1344662" w="4624683">
                  <a:moveTo>
                    <a:pt x="0" y="0"/>
                  </a:moveTo>
                  <a:lnTo>
                    <a:pt x="4624683" y="0"/>
                  </a:lnTo>
                  <a:lnTo>
                    <a:pt x="4624683" y="1344662"/>
                  </a:lnTo>
                  <a:lnTo>
                    <a:pt x="0" y="1344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870" r="-337623" b="-2476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14300"/>
              <a:ext cx="4624683" cy="145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363888" y="6584767"/>
            <a:ext cx="849806" cy="740830"/>
            <a:chOff x="0" y="0"/>
            <a:chExt cx="1133074" cy="98777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33074" cy="987773"/>
            </a:xfrm>
            <a:custGeom>
              <a:avLst/>
              <a:gdLst/>
              <a:ahLst/>
              <a:cxnLst/>
              <a:rect r="r" b="b" t="t" l="l"/>
              <a:pathLst>
                <a:path h="987773" w="1133074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363888" y="6528324"/>
            <a:ext cx="849806" cy="797272"/>
            <a:chOff x="0" y="0"/>
            <a:chExt cx="1133074" cy="10630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33074" cy="1063030"/>
            </a:xfrm>
            <a:custGeom>
              <a:avLst/>
              <a:gdLst/>
              <a:ahLst/>
              <a:cxnLst/>
              <a:rect r="r" b="b" t="t" l="l"/>
              <a:pathLst>
                <a:path h="1063030" w="1133074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t="0" r="-72670" b="-322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496962" y="6479185"/>
            <a:ext cx="5762338" cy="1008497"/>
            <a:chOff x="0" y="0"/>
            <a:chExt cx="7683117" cy="134466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683117" cy="1344662"/>
            </a:xfrm>
            <a:custGeom>
              <a:avLst/>
              <a:gdLst/>
              <a:ahLst/>
              <a:cxnLst/>
              <a:rect r="r" b="b" t="t" l="l"/>
              <a:pathLst>
                <a:path h="1344662" w="7683117">
                  <a:moveTo>
                    <a:pt x="0" y="0"/>
                  </a:moveTo>
                  <a:lnTo>
                    <a:pt x="7683117" y="0"/>
                  </a:lnTo>
                  <a:lnTo>
                    <a:pt x="7683117" y="1344662"/>
                  </a:lnTo>
                  <a:lnTo>
                    <a:pt x="0" y="1344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870" r="-163418" b="-24767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14300"/>
              <a:ext cx="7683117" cy="1458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363888" y="7984111"/>
            <a:ext cx="849806" cy="740830"/>
            <a:chOff x="0" y="0"/>
            <a:chExt cx="1133074" cy="98777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33074" cy="987773"/>
            </a:xfrm>
            <a:custGeom>
              <a:avLst/>
              <a:gdLst/>
              <a:ahLst/>
              <a:cxnLst/>
              <a:rect r="r" b="b" t="t" l="l"/>
              <a:pathLst>
                <a:path h="987773" w="1133074">
                  <a:moveTo>
                    <a:pt x="0" y="493886"/>
                  </a:moveTo>
                  <a:cubicBezTo>
                    <a:pt x="0" y="221106"/>
                    <a:pt x="253630" y="0"/>
                    <a:pt x="566537" y="0"/>
                  </a:cubicBezTo>
                  <a:cubicBezTo>
                    <a:pt x="879444" y="0"/>
                    <a:pt x="1133074" y="221106"/>
                    <a:pt x="1133074" y="493886"/>
                  </a:cubicBezTo>
                  <a:cubicBezTo>
                    <a:pt x="1133074" y="766667"/>
                    <a:pt x="879444" y="987773"/>
                    <a:pt x="566537" y="987773"/>
                  </a:cubicBezTo>
                  <a:cubicBezTo>
                    <a:pt x="253630" y="987773"/>
                    <a:pt x="0" y="766667"/>
                    <a:pt x="0" y="49388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363888" y="7927668"/>
            <a:ext cx="849806" cy="797272"/>
            <a:chOff x="0" y="0"/>
            <a:chExt cx="1133074" cy="106303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33074" cy="1063030"/>
            </a:xfrm>
            <a:custGeom>
              <a:avLst/>
              <a:gdLst/>
              <a:ahLst/>
              <a:cxnLst/>
              <a:rect r="r" b="b" t="t" l="l"/>
              <a:pathLst>
                <a:path h="1063030" w="1133074">
                  <a:moveTo>
                    <a:pt x="0" y="0"/>
                  </a:moveTo>
                  <a:lnTo>
                    <a:pt x="1133074" y="0"/>
                  </a:lnTo>
                  <a:lnTo>
                    <a:pt x="1133074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829" t="0" r="-72670" b="-322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76200"/>
              <a:ext cx="1133074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b="true" sz="4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496962" y="7655852"/>
            <a:ext cx="3826265" cy="1397347"/>
            <a:chOff x="0" y="0"/>
            <a:chExt cx="5101686" cy="186313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01686" cy="1863130"/>
            </a:xfrm>
            <a:custGeom>
              <a:avLst/>
              <a:gdLst/>
              <a:ahLst/>
              <a:cxnLst/>
              <a:rect r="r" b="b" t="t" l="l"/>
              <a:pathLst>
                <a:path h="1863130" w="5101686">
                  <a:moveTo>
                    <a:pt x="0" y="0"/>
                  </a:moveTo>
                  <a:lnTo>
                    <a:pt x="5101686" y="0"/>
                  </a:lnTo>
                  <a:lnTo>
                    <a:pt x="5101686" y="1863130"/>
                  </a:lnTo>
                  <a:lnTo>
                    <a:pt x="0" y="18631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398" r="-296706" b="-15092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14300"/>
              <a:ext cx="5101686" cy="197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539051" y="2330290"/>
            <a:ext cx="4268195" cy="1770497"/>
            <a:chOff x="0" y="0"/>
            <a:chExt cx="5690926" cy="236066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690926" cy="2360662"/>
            </a:xfrm>
            <a:custGeom>
              <a:avLst/>
              <a:gdLst/>
              <a:ahLst/>
              <a:cxnLst/>
              <a:rect r="r" b="b" t="t" l="l"/>
              <a:pathLst>
                <a:path h="2360662" w="5690926">
                  <a:moveTo>
                    <a:pt x="0" y="0"/>
                  </a:moveTo>
                  <a:lnTo>
                    <a:pt x="5690926" y="0"/>
                  </a:lnTo>
                  <a:lnTo>
                    <a:pt x="5690926" y="2360662"/>
                  </a:lnTo>
                  <a:lnTo>
                    <a:pt x="0" y="23606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063" r="-255631" b="-9803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14300"/>
              <a:ext cx="5690926" cy="2474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  <a:p>
              <a:pPr algn="l">
                <a:lnSpc>
                  <a:spcPts val="6000"/>
                </a:lnSpc>
              </a:pP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90" id="90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93" id="93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 — 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190343" y="3495120"/>
            <a:ext cx="366532" cy="549798"/>
            <a:chOff x="0" y="0"/>
            <a:chExt cx="48768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1424" y="2145150"/>
            <a:ext cx="7880443" cy="885533"/>
            <a:chOff x="0" y="0"/>
            <a:chExt cx="10485120" cy="11782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120" cy="1178223"/>
            </a:xfrm>
            <a:custGeom>
              <a:avLst/>
              <a:gdLst/>
              <a:ahLst/>
              <a:cxnLst/>
              <a:rect r="r" b="b" t="t" l="l"/>
              <a:pathLst>
                <a:path h="1178223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008" r="0" b="-11479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0485120" cy="1254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State in Bangladesh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11177" y="5242600"/>
            <a:ext cx="2975311" cy="1494959"/>
            <a:chOff x="0" y="0"/>
            <a:chExt cx="3967081" cy="199327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7833" y="0"/>
              <a:ext cx="3959249" cy="1993279"/>
              <a:chOff x="0" y="0"/>
              <a:chExt cx="4910671" cy="247227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91058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9491"/>
              <a:ext cx="3947576" cy="1973788"/>
              <a:chOff x="0" y="0"/>
              <a:chExt cx="4876800" cy="2438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0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shared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records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49865" y="3030683"/>
            <a:ext cx="2954146" cy="1509967"/>
            <a:chOff x="0" y="0"/>
            <a:chExt cx="3938861" cy="201329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938861" cy="1983015"/>
              <a:chOff x="0" y="0"/>
              <a:chExt cx="4910671" cy="247227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1058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58692"/>
              <a:ext cx="3909196" cy="1954598"/>
              <a:chOff x="0" y="0"/>
              <a:chExt cx="4876800" cy="2438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Search engines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for doctors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4911177" y="3030683"/>
            <a:ext cx="2937086" cy="1478672"/>
            <a:chOff x="0" y="0"/>
            <a:chExt cx="3916115" cy="197156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916115" cy="1971563"/>
              <a:chOff x="0" y="0"/>
              <a:chExt cx="4910671" cy="24722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91058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3916115" cy="1971563"/>
              <a:chOff x="0" y="0"/>
              <a:chExt cx="4891125" cy="246243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891125" cy="2462431"/>
              </a:xfrm>
              <a:custGeom>
                <a:avLst/>
                <a:gdLst/>
                <a:ahLst/>
                <a:cxnLst/>
                <a:rect r="r" b="b" t="t" l="l"/>
                <a:pathLst>
                  <a:path h="2462431" w="4891125">
                    <a:moveTo>
                      <a:pt x="0" y="0"/>
                    </a:moveTo>
                    <a:lnTo>
                      <a:pt x="4891125" y="0"/>
                    </a:lnTo>
                    <a:lnTo>
                      <a:pt x="4891125" y="2462431"/>
                    </a:lnTo>
                    <a:lnTo>
                      <a:pt x="0" y="246243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10" t="0" r="-13817" b="975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66675"/>
                <a:ext cx="4891125" cy="25291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Separate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booking apps</a:t>
                </a: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028700" y="5311043"/>
            <a:ext cx="2996476" cy="1505433"/>
            <a:chOff x="0" y="0"/>
            <a:chExt cx="3995302" cy="2007245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3986989" cy="2007245"/>
              <a:chOff x="0" y="0"/>
              <a:chExt cx="4910671" cy="247227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16891" y="16891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91058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4910582">
                    <a:moveTo>
                      <a:pt x="16891" y="0"/>
                    </a:moveTo>
                    <a:lnTo>
                      <a:pt x="4893691" y="0"/>
                    </a:lnTo>
                    <a:cubicBezTo>
                      <a:pt x="4903089" y="0"/>
                      <a:pt x="4910582" y="7620"/>
                      <a:pt x="4910582" y="16891"/>
                    </a:cubicBezTo>
                    <a:lnTo>
                      <a:pt x="4910582" y="2455291"/>
                    </a:lnTo>
                    <a:cubicBezTo>
                      <a:pt x="4910582" y="2464689"/>
                      <a:pt x="4902962" y="2472182"/>
                      <a:pt x="4893691" y="2472182"/>
                    </a:cubicBezTo>
                    <a:lnTo>
                      <a:pt x="16891" y="2472182"/>
                    </a:lnTo>
                    <a:cubicBezTo>
                      <a:pt x="7493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455291"/>
                    </a:lnTo>
                    <a:lnTo>
                      <a:pt x="16891" y="2455291"/>
                    </a:lnTo>
                    <a:lnTo>
                      <a:pt x="16891" y="2438400"/>
                    </a:lnTo>
                    <a:lnTo>
                      <a:pt x="4893691" y="2438400"/>
                    </a:lnTo>
                    <a:lnTo>
                      <a:pt x="4893691" y="2455291"/>
                    </a:lnTo>
                    <a:lnTo>
                      <a:pt x="4876800" y="2455291"/>
                    </a:lnTo>
                    <a:lnTo>
                      <a:pt x="4876800" y="16891"/>
                    </a:lnTo>
                    <a:lnTo>
                      <a:pt x="4893691" y="16891"/>
                    </a:lnTo>
                    <a:lnTo>
                      <a:pt x="4893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19188" y="19188"/>
              <a:ext cx="3976114" cy="1988057"/>
              <a:chOff x="0" y="0"/>
              <a:chExt cx="4876800" cy="2438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0"/>
                </a:stretch>
              </a:blip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Paper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prescriptions</a:t>
                </a:r>
              </a:p>
            </p:txBody>
          </p:sp>
        </p:grpSp>
      </p:grpSp>
      <p:grpSp>
        <p:nvGrpSpPr>
          <p:cNvPr name="Group 41" id="41"/>
          <p:cNvGrpSpPr/>
          <p:nvPr/>
        </p:nvGrpSpPr>
        <p:grpSpPr>
          <a:xfrm rot="0">
            <a:off x="4190343" y="5759001"/>
            <a:ext cx="366532" cy="549798"/>
            <a:chOff x="0" y="0"/>
            <a:chExt cx="48768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0911" y="5484465"/>
            <a:ext cx="916331" cy="916331"/>
            <a:chOff x="0" y="0"/>
            <a:chExt cx="121920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42875"/>
              <a:ext cx="121920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➡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06266" y="2147016"/>
            <a:ext cx="7863840" cy="883667"/>
            <a:chOff x="0" y="0"/>
            <a:chExt cx="10485120" cy="11782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85120" cy="1178223"/>
            </a:xfrm>
            <a:custGeom>
              <a:avLst/>
              <a:gdLst/>
              <a:ahLst/>
              <a:cxnLst/>
              <a:rect r="r" b="b" t="t" l="l"/>
              <a:pathLst>
                <a:path h="1178223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008" r="0" b="-11479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0485120" cy="1254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1698" y="1695202"/>
            <a:ext cx="16484603" cy="25403"/>
            <a:chOff x="0" y="0"/>
            <a:chExt cx="21979471" cy="338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57" id="57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5" id="65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95" id="95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6" id="96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07" id="107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10" id="110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2371782" y="4692801"/>
            <a:ext cx="366532" cy="549798"/>
            <a:chOff x="0" y="0"/>
            <a:chExt cx="487680" cy="7315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6215567" y="4601078"/>
            <a:ext cx="366532" cy="549798"/>
            <a:chOff x="0" y="0"/>
            <a:chExt cx="487680" cy="73152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49865" y="6997451"/>
            <a:ext cx="7880443" cy="885533"/>
            <a:chOff x="0" y="0"/>
            <a:chExt cx="10485120" cy="117822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485120" cy="1178223"/>
            </a:xfrm>
            <a:custGeom>
              <a:avLst/>
              <a:gdLst/>
              <a:ahLst/>
              <a:cxnLst/>
              <a:rect r="r" b="b" t="t" l="l"/>
              <a:pathLst>
                <a:path h="1178223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008" r="0" b="-11479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76200"/>
              <a:ext cx="10485120" cy="1254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Disconnected Compounds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3547987" y="7861509"/>
            <a:ext cx="2017776" cy="1509967"/>
            <a:chOff x="0" y="0"/>
            <a:chExt cx="2690368" cy="2013290"/>
          </a:xfrm>
        </p:grpSpPr>
        <p:grpSp>
          <p:nvGrpSpPr>
            <p:cNvPr name="Group 122" id="122"/>
            <p:cNvGrpSpPr/>
            <p:nvPr/>
          </p:nvGrpSpPr>
          <p:grpSpPr>
            <a:xfrm rot="0">
              <a:off x="0" y="0"/>
              <a:ext cx="2690368" cy="1983015"/>
              <a:chOff x="0" y="0"/>
              <a:chExt cx="3354145" cy="2472271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11537" y="16891"/>
                <a:ext cx="333101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3331010">
                    <a:moveTo>
                      <a:pt x="0" y="0"/>
                    </a:moveTo>
                    <a:lnTo>
                      <a:pt x="3331010" y="0"/>
                    </a:lnTo>
                    <a:lnTo>
                      <a:pt x="333101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3354084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3354084">
                    <a:moveTo>
                      <a:pt x="11537" y="0"/>
                    </a:moveTo>
                    <a:lnTo>
                      <a:pt x="3342547" y="0"/>
                    </a:lnTo>
                    <a:cubicBezTo>
                      <a:pt x="3348967" y="0"/>
                      <a:pt x="3354084" y="7620"/>
                      <a:pt x="3354084" y="16891"/>
                    </a:cubicBezTo>
                    <a:lnTo>
                      <a:pt x="3354084" y="2455291"/>
                    </a:lnTo>
                    <a:cubicBezTo>
                      <a:pt x="3354084" y="2464689"/>
                      <a:pt x="3348880" y="2472182"/>
                      <a:pt x="3342547" y="2472182"/>
                    </a:cubicBezTo>
                    <a:lnTo>
                      <a:pt x="11537" y="2472182"/>
                    </a:lnTo>
                    <a:cubicBezTo>
                      <a:pt x="5118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5205" y="0"/>
                      <a:pt x="11537" y="0"/>
                    </a:cubicBezTo>
                    <a:moveTo>
                      <a:pt x="11537" y="33909"/>
                    </a:moveTo>
                    <a:lnTo>
                      <a:pt x="11537" y="16891"/>
                    </a:lnTo>
                    <a:lnTo>
                      <a:pt x="23161" y="16891"/>
                    </a:lnTo>
                    <a:lnTo>
                      <a:pt x="23161" y="2455291"/>
                    </a:lnTo>
                    <a:lnTo>
                      <a:pt x="11537" y="2455291"/>
                    </a:lnTo>
                    <a:lnTo>
                      <a:pt x="11537" y="2438400"/>
                    </a:lnTo>
                    <a:lnTo>
                      <a:pt x="3342547" y="2438400"/>
                    </a:lnTo>
                    <a:lnTo>
                      <a:pt x="3342547" y="2455291"/>
                    </a:lnTo>
                    <a:lnTo>
                      <a:pt x="3331010" y="2455291"/>
                    </a:lnTo>
                    <a:lnTo>
                      <a:pt x="3331010" y="16891"/>
                    </a:lnTo>
                    <a:lnTo>
                      <a:pt x="3342547" y="16891"/>
                    </a:lnTo>
                    <a:lnTo>
                      <a:pt x="3342547" y="33909"/>
                    </a:lnTo>
                    <a:lnTo>
                      <a:pt x="11537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0" y="58692"/>
              <a:ext cx="2670106" cy="1954598"/>
              <a:chOff x="0" y="0"/>
              <a:chExt cx="3331010" cy="2438400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333101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3331010">
                    <a:moveTo>
                      <a:pt x="0" y="0"/>
                    </a:moveTo>
                    <a:lnTo>
                      <a:pt x="3331010" y="0"/>
                    </a:lnTo>
                    <a:lnTo>
                      <a:pt x="333101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0719" t="0" r="-67125" b="0"/>
                </a:stretch>
              </a:blipFill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66675"/>
                <a:ext cx="3331010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Reminders</a:t>
                </a:r>
              </a:p>
            </p:txBody>
          </p:sp>
        </p:grpSp>
      </p:grpSp>
      <p:grpSp>
        <p:nvGrpSpPr>
          <p:cNvPr name="Group 128" id="128"/>
          <p:cNvGrpSpPr/>
          <p:nvPr/>
        </p:nvGrpSpPr>
        <p:grpSpPr>
          <a:xfrm rot="0">
            <a:off x="1049865" y="7861509"/>
            <a:ext cx="1941854" cy="1509967"/>
            <a:chOff x="0" y="0"/>
            <a:chExt cx="2589139" cy="2013290"/>
          </a:xfrm>
        </p:grpSpPr>
        <p:grpSp>
          <p:nvGrpSpPr>
            <p:cNvPr name="Group 129" id="129"/>
            <p:cNvGrpSpPr/>
            <p:nvPr/>
          </p:nvGrpSpPr>
          <p:grpSpPr>
            <a:xfrm rot="0">
              <a:off x="0" y="0"/>
              <a:ext cx="2589139" cy="1983015"/>
              <a:chOff x="0" y="0"/>
              <a:chExt cx="3227940" cy="2472271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11103" y="16891"/>
                <a:ext cx="3205676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3205676">
                    <a:moveTo>
                      <a:pt x="0" y="0"/>
                    </a:moveTo>
                    <a:lnTo>
                      <a:pt x="3205676" y="0"/>
                    </a:lnTo>
                    <a:lnTo>
                      <a:pt x="320567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322788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3227882">
                    <a:moveTo>
                      <a:pt x="11103" y="0"/>
                    </a:moveTo>
                    <a:lnTo>
                      <a:pt x="3216779" y="0"/>
                    </a:lnTo>
                    <a:cubicBezTo>
                      <a:pt x="3222957" y="0"/>
                      <a:pt x="3227882" y="7620"/>
                      <a:pt x="3227882" y="16891"/>
                    </a:cubicBezTo>
                    <a:lnTo>
                      <a:pt x="3227882" y="2455291"/>
                    </a:lnTo>
                    <a:cubicBezTo>
                      <a:pt x="3227882" y="2464689"/>
                      <a:pt x="3222873" y="2472182"/>
                      <a:pt x="3216779" y="2472182"/>
                    </a:cubicBezTo>
                    <a:lnTo>
                      <a:pt x="11103" y="2472182"/>
                    </a:lnTo>
                    <a:cubicBezTo>
                      <a:pt x="4925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5009" y="0"/>
                      <a:pt x="11103" y="0"/>
                    </a:cubicBezTo>
                    <a:moveTo>
                      <a:pt x="11103" y="33909"/>
                    </a:moveTo>
                    <a:lnTo>
                      <a:pt x="11103" y="16891"/>
                    </a:lnTo>
                    <a:lnTo>
                      <a:pt x="22289" y="16891"/>
                    </a:lnTo>
                    <a:lnTo>
                      <a:pt x="22289" y="2455291"/>
                    </a:lnTo>
                    <a:lnTo>
                      <a:pt x="11103" y="2455291"/>
                    </a:lnTo>
                    <a:lnTo>
                      <a:pt x="11103" y="2438400"/>
                    </a:lnTo>
                    <a:lnTo>
                      <a:pt x="3216779" y="2438400"/>
                    </a:lnTo>
                    <a:lnTo>
                      <a:pt x="3216779" y="2455291"/>
                    </a:lnTo>
                    <a:lnTo>
                      <a:pt x="3205676" y="2455291"/>
                    </a:lnTo>
                    <a:lnTo>
                      <a:pt x="3205676" y="16891"/>
                    </a:lnTo>
                    <a:lnTo>
                      <a:pt x="3216779" y="16891"/>
                    </a:lnTo>
                    <a:lnTo>
                      <a:pt x="3216779" y="33909"/>
                    </a:lnTo>
                    <a:lnTo>
                      <a:pt x="11103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0" y="58692"/>
              <a:ext cx="2569639" cy="1954598"/>
              <a:chOff x="0" y="0"/>
              <a:chExt cx="3205676" cy="243840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3205676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3205676">
                    <a:moveTo>
                      <a:pt x="0" y="0"/>
                    </a:moveTo>
                    <a:lnTo>
                      <a:pt x="3205676" y="0"/>
                    </a:lnTo>
                    <a:lnTo>
                      <a:pt x="320567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529" t="0" r="-73659" b="0"/>
                </a:stretch>
              </a:blip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66675"/>
                <a:ext cx="3205676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History</a:t>
                </a:r>
              </a:p>
            </p:txBody>
          </p:sp>
        </p:grpSp>
      </p:grpSp>
      <p:grpSp>
        <p:nvGrpSpPr>
          <p:cNvPr name="Group 135" id="135"/>
          <p:cNvGrpSpPr/>
          <p:nvPr/>
        </p:nvGrpSpPr>
        <p:grpSpPr>
          <a:xfrm rot="0">
            <a:off x="6215567" y="7838802"/>
            <a:ext cx="1941854" cy="1487261"/>
            <a:chOff x="0" y="0"/>
            <a:chExt cx="2589139" cy="1983015"/>
          </a:xfrm>
        </p:grpSpPr>
        <p:grpSp>
          <p:nvGrpSpPr>
            <p:cNvPr name="Group 136" id="136"/>
            <p:cNvGrpSpPr/>
            <p:nvPr/>
          </p:nvGrpSpPr>
          <p:grpSpPr>
            <a:xfrm rot="0">
              <a:off x="0" y="0"/>
              <a:ext cx="2589139" cy="1983015"/>
              <a:chOff x="0" y="0"/>
              <a:chExt cx="3227940" cy="2472271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11103" y="16891"/>
                <a:ext cx="3205676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3205676">
                    <a:moveTo>
                      <a:pt x="0" y="0"/>
                    </a:moveTo>
                    <a:lnTo>
                      <a:pt x="3205676" y="0"/>
                    </a:lnTo>
                    <a:lnTo>
                      <a:pt x="3205676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3227882" cy="2472182"/>
              </a:xfrm>
              <a:custGeom>
                <a:avLst/>
                <a:gdLst/>
                <a:ahLst/>
                <a:cxnLst/>
                <a:rect r="r" b="b" t="t" l="l"/>
                <a:pathLst>
                  <a:path h="2472182" w="3227882">
                    <a:moveTo>
                      <a:pt x="11103" y="0"/>
                    </a:moveTo>
                    <a:lnTo>
                      <a:pt x="3216779" y="0"/>
                    </a:lnTo>
                    <a:cubicBezTo>
                      <a:pt x="3222957" y="0"/>
                      <a:pt x="3227882" y="7620"/>
                      <a:pt x="3227882" y="16891"/>
                    </a:cubicBezTo>
                    <a:lnTo>
                      <a:pt x="3227882" y="2455291"/>
                    </a:lnTo>
                    <a:cubicBezTo>
                      <a:pt x="3227882" y="2464689"/>
                      <a:pt x="3222873" y="2472182"/>
                      <a:pt x="3216779" y="2472182"/>
                    </a:cubicBezTo>
                    <a:lnTo>
                      <a:pt x="11103" y="2472182"/>
                    </a:lnTo>
                    <a:cubicBezTo>
                      <a:pt x="4925" y="2472182"/>
                      <a:pt x="0" y="2464562"/>
                      <a:pt x="0" y="2455291"/>
                    </a:cubicBezTo>
                    <a:lnTo>
                      <a:pt x="0" y="16891"/>
                    </a:lnTo>
                    <a:cubicBezTo>
                      <a:pt x="0" y="7620"/>
                      <a:pt x="5009" y="0"/>
                      <a:pt x="11103" y="0"/>
                    </a:cubicBezTo>
                    <a:moveTo>
                      <a:pt x="11103" y="33909"/>
                    </a:moveTo>
                    <a:lnTo>
                      <a:pt x="11103" y="16891"/>
                    </a:lnTo>
                    <a:lnTo>
                      <a:pt x="22289" y="16891"/>
                    </a:lnTo>
                    <a:lnTo>
                      <a:pt x="22289" y="2455291"/>
                    </a:lnTo>
                    <a:lnTo>
                      <a:pt x="11103" y="2455291"/>
                    </a:lnTo>
                    <a:lnTo>
                      <a:pt x="11103" y="2438400"/>
                    </a:lnTo>
                    <a:lnTo>
                      <a:pt x="3216779" y="2438400"/>
                    </a:lnTo>
                    <a:lnTo>
                      <a:pt x="3216779" y="2455291"/>
                    </a:lnTo>
                    <a:lnTo>
                      <a:pt x="3205676" y="2455291"/>
                    </a:lnTo>
                    <a:lnTo>
                      <a:pt x="3205676" y="16891"/>
                    </a:lnTo>
                    <a:lnTo>
                      <a:pt x="3216779" y="16891"/>
                    </a:lnTo>
                    <a:lnTo>
                      <a:pt x="3216779" y="33909"/>
                    </a:lnTo>
                    <a:lnTo>
                      <a:pt x="11103" y="33909"/>
                    </a:lnTo>
                    <a:close/>
                  </a:path>
                </a:pathLst>
              </a:custGeom>
              <a:solidFill>
                <a:srgbClr val="DC2626"/>
              </a:solidFill>
            </p:spPr>
          </p:sp>
        </p:grpSp>
        <p:grpSp>
          <p:nvGrpSpPr>
            <p:cNvPr name="Group 139" id="139"/>
            <p:cNvGrpSpPr/>
            <p:nvPr/>
          </p:nvGrpSpPr>
          <p:grpSpPr>
            <a:xfrm rot="0">
              <a:off x="0" y="0"/>
              <a:ext cx="2589139" cy="1954598"/>
              <a:chOff x="0" y="0"/>
              <a:chExt cx="3230002" cy="2438400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3230002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3230002">
                    <a:moveTo>
                      <a:pt x="0" y="0"/>
                    </a:moveTo>
                    <a:lnTo>
                      <a:pt x="3230002" y="0"/>
                    </a:lnTo>
                    <a:lnTo>
                      <a:pt x="3230002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366" t="0" r="-72351" b="0"/>
                </a:stretch>
              </a:blipFill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0" y="-66675"/>
                <a:ext cx="3230002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Continuity</a:t>
                </a:r>
              </a:p>
            </p:txBody>
          </p:sp>
        </p:grpSp>
      </p:grpSp>
      <p:grpSp>
        <p:nvGrpSpPr>
          <p:cNvPr name="Group 142" id="142"/>
          <p:cNvGrpSpPr/>
          <p:nvPr/>
        </p:nvGrpSpPr>
        <p:grpSpPr>
          <a:xfrm rot="0">
            <a:off x="2991719" y="8311609"/>
            <a:ext cx="366532" cy="549798"/>
            <a:chOff x="0" y="0"/>
            <a:chExt cx="487680" cy="7315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5677078" y="8311609"/>
            <a:ext cx="366532" cy="549798"/>
            <a:chOff x="0" y="0"/>
            <a:chExt cx="487680" cy="73152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76200"/>
              <a:ext cx="48768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910244" y="2962270"/>
            <a:ext cx="7349056" cy="6563605"/>
            <a:chOff x="0" y="0"/>
            <a:chExt cx="9798741" cy="8751473"/>
          </a:xfrm>
        </p:grpSpPr>
        <p:grpSp>
          <p:nvGrpSpPr>
            <p:cNvPr name="Group 149" id="149"/>
            <p:cNvGrpSpPr/>
            <p:nvPr/>
          </p:nvGrpSpPr>
          <p:grpSpPr>
            <a:xfrm rot="0">
              <a:off x="0" y="0"/>
              <a:ext cx="9798741" cy="8751473"/>
              <a:chOff x="0" y="0"/>
              <a:chExt cx="10266680" cy="9169400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12700" y="12700"/>
                <a:ext cx="10241280" cy="9144000"/>
              </a:xfrm>
              <a:custGeom>
                <a:avLst/>
                <a:gdLst/>
                <a:ahLst/>
                <a:cxnLst/>
                <a:rect r="r" b="b" t="t" l="l"/>
                <a:pathLst>
                  <a:path h="9144000" w="10241280">
                    <a:moveTo>
                      <a:pt x="0" y="0"/>
                    </a:moveTo>
                    <a:lnTo>
                      <a:pt x="10241280" y="0"/>
                    </a:lnTo>
                    <a:lnTo>
                      <a:pt x="10241280" y="9144000"/>
                    </a:lnTo>
                    <a:lnTo>
                      <a:pt x="0" y="91440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10266680" cy="9169400"/>
              </a:xfrm>
              <a:custGeom>
                <a:avLst/>
                <a:gdLst/>
                <a:ahLst/>
                <a:cxnLst/>
                <a:rect r="r" b="b" t="t" l="l"/>
                <a:pathLst>
                  <a:path h="9169400" w="10266680">
                    <a:moveTo>
                      <a:pt x="12700" y="0"/>
                    </a:moveTo>
                    <a:lnTo>
                      <a:pt x="10253980" y="0"/>
                    </a:lnTo>
                    <a:cubicBezTo>
                      <a:pt x="10260965" y="0"/>
                      <a:pt x="10266680" y="5715"/>
                      <a:pt x="10266680" y="12700"/>
                    </a:cubicBezTo>
                    <a:lnTo>
                      <a:pt x="10266680" y="9156700"/>
                    </a:lnTo>
                    <a:cubicBezTo>
                      <a:pt x="10266680" y="9163685"/>
                      <a:pt x="10260965" y="9169400"/>
                      <a:pt x="10253980" y="9169400"/>
                    </a:cubicBezTo>
                    <a:lnTo>
                      <a:pt x="12700" y="9169400"/>
                    </a:lnTo>
                    <a:cubicBezTo>
                      <a:pt x="5715" y="9169400"/>
                      <a:pt x="0" y="9163685"/>
                      <a:pt x="0" y="9156700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9156700"/>
                    </a:lnTo>
                    <a:lnTo>
                      <a:pt x="12700" y="9156700"/>
                    </a:lnTo>
                    <a:lnTo>
                      <a:pt x="12700" y="9144000"/>
                    </a:lnTo>
                    <a:lnTo>
                      <a:pt x="10253980" y="9144000"/>
                    </a:lnTo>
                    <a:lnTo>
                      <a:pt x="10253980" y="9156700"/>
                    </a:lnTo>
                    <a:lnTo>
                      <a:pt x="10241280" y="9156700"/>
                    </a:lnTo>
                    <a:lnTo>
                      <a:pt x="10241280" y="12700"/>
                    </a:lnTo>
                    <a:lnTo>
                      <a:pt x="10253980" y="12700"/>
                    </a:lnTo>
                    <a:lnTo>
                      <a:pt x="10253980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004BF0"/>
              </a:solidFill>
            </p:spPr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710300" y="1932112"/>
              <a:ext cx="8378142" cy="2443625"/>
              <a:chOff x="0" y="0"/>
              <a:chExt cx="8778240" cy="2560320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8778240" cy="2560320"/>
              </a:xfrm>
              <a:custGeom>
                <a:avLst/>
                <a:gdLst/>
                <a:ahLst/>
                <a:cxnLst/>
                <a:rect r="r" b="b" t="t" l="l"/>
                <a:pathLst>
                  <a:path h="2560320" w="8778240">
                    <a:moveTo>
                      <a:pt x="0" y="0"/>
                    </a:moveTo>
                    <a:lnTo>
                      <a:pt x="8778240" y="0"/>
                    </a:lnTo>
                    <a:lnTo>
                      <a:pt x="8778240" y="2560320"/>
                    </a:lnTo>
                    <a:lnTo>
                      <a:pt x="0" y="25603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805" r="0" b="-16805"/>
                </a:stretch>
              </a:blipFill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0" y="-66675"/>
                <a:ext cx="8778240" cy="26269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959"/>
                  </a:lnSpc>
                </a:pPr>
                <a:r>
                  <a:rPr lang="en-US" sz="3299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AI-native, consent-aware,</a:t>
                </a:r>
              </a:p>
              <a:p>
                <a:pPr algn="ctr">
                  <a:lnSpc>
                    <a:spcPts val="3959"/>
                  </a:lnSpc>
                </a:pPr>
                <a:r>
                  <a:rPr lang="en-US" sz="3299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bilingual healthcare for everyone.</a:t>
                </a:r>
              </a:p>
            </p:txBody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448483" y="4506645"/>
              <a:ext cx="959995" cy="959995"/>
              <a:chOff x="0" y="0"/>
              <a:chExt cx="548640" cy="548640"/>
            </a:xfrm>
          </p:grpSpPr>
          <p:sp>
            <p:nvSpPr>
              <p:cNvPr name="Freeform 156" id="156" descr="preencoded.png"/>
              <p:cNvSpPr/>
              <p:nvPr/>
            </p:nvSpPr>
            <p:spPr>
              <a:xfrm flipH="false" flipV="false" rot="0">
                <a:off x="0" y="0"/>
                <a:ext cx="54864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535755" y="5466641"/>
              <a:ext cx="785451" cy="785451"/>
              <a:chOff x="0" y="0"/>
              <a:chExt cx="548640" cy="548640"/>
            </a:xfrm>
          </p:grpSpPr>
          <p:sp>
            <p:nvSpPr>
              <p:cNvPr name="Freeform 158" id="158" descr="preencoded.png"/>
              <p:cNvSpPr/>
              <p:nvPr/>
            </p:nvSpPr>
            <p:spPr>
              <a:xfrm flipH="false" flipV="false" rot="0">
                <a:off x="0" y="0"/>
                <a:ext cx="54864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59" id="159"/>
            <p:cNvGrpSpPr/>
            <p:nvPr/>
          </p:nvGrpSpPr>
          <p:grpSpPr>
            <a:xfrm rot="0">
              <a:off x="579391" y="6622999"/>
              <a:ext cx="698178" cy="698178"/>
              <a:chOff x="0" y="0"/>
              <a:chExt cx="548640" cy="548640"/>
            </a:xfrm>
          </p:grpSpPr>
          <p:sp>
            <p:nvSpPr>
              <p:cNvPr name="Freeform 160" id="160" descr="preencoded.png"/>
              <p:cNvSpPr/>
              <p:nvPr/>
            </p:nvSpPr>
            <p:spPr>
              <a:xfrm flipH="false" flipV="false" rot="0">
                <a:off x="0" y="0"/>
                <a:ext cx="54864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579391" y="7696933"/>
              <a:ext cx="610906" cy="610906"/>
              <a:chOff x="0" y="0"/>
              <a:chExt cx="548640" cy="548640"/>
            </a:xfrm>
          </p:grpSpPr>
          <p:sp>
            <p:nvSpPr>
              <p:cNvPr name="Freeform 162" id="162" descr="preencoded.png"/>
              <p:cNvSpPr/>
              <p:nvPr/>
            </p:nvSpPr>
            <p:spPr>
              <a:xfrm flipH="false" flipV="false" rot="0">
                <a:off x="0" y="0"/>
                <a:ext cx="54864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163" id="163"/>
          <p:cNvGrpSpPr/>
          <p:nvPr/>
        </p:nvGrpSpPr>
        <p:grpSpPr>
          <a:xfrm rot="0">
            <a:off x="11058200" y="7140037"/>
            <a:ext cx="5759973" cy="557138"/>
            <a:chOff x="0" y="0"/>
            <a:chExt cx="8046720" cy="778325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8046720" cy="778325"/>
            </a:xfrm>
            <a:custGeom>
              <a:avLst/>
              <a:gdLst/>
              <a:ahLst/>
              <a:cxnLst/>
              <a:rect r="r" b="b" t="t" l="l"/>
              <a:pathLst>
                <a:path h="778325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52" r="0" b="-148439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slots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1058200" y="6424528"/>
            <a:ext cx="5759973" cy="557138"/>
            <a:chOff x="0" y="0"/>
            <a:chExt cx="8046720" cy="778325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8046720" cy="778325"/>
            </a:xfrm>
            <a:custGeom>
              <a:avLst/>
              <a:gdLst/>
              <a:ahLst/>
              <a:cxnLst/>
              <a:rect r="r" b="b" t="t" l="l"/>
              <a:pathLst>
                <a:path h="778325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52" r="0" b="-148439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English + বাংলা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1058200" y="7916250"/>
            <a:ext cx="5759973" cy="557138"/>
            <a:chOff x="0" y="0"/>
            <a:chExt cx="8046720" cy="778325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8046720" cy="778325"/>
            </a:xfrm>
            <a:custGeom>
              <a:avLst/>
              <a:gdLst/>
              <a:ahLst/>
              <a:cxnLst/>
              <a:rect r="r" b="b" t="t" l="l"/>
              <a:pathLst>
                <a:path h="778325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52" r="0" b="-148439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Consent-first AI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1058200" y="8690800"/>
            <a:ext cx="5759973" cy="557138"/>
            <a:chOff x="0" y="0"/>
            <a:chExt cx="8046720" cy="778325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8046720" cy="778325"/>
            </a:xfrm>
            <a:custGeom>
              <a:avLst/>
              <a:gdLst/>
              <a:ahLst/>
              <a:cxnLst/>
              <a:rect r="r" b="b" t="t" l="l"/>
              <a:pathLst>
                <a:path h="778325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78325"/>
                  </a:lnTo>
                  <a:lnTo>
                    <a:pt x="0" y="7783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52" r="0" b="-148439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66675"/>
              <a:ext cx="8046720" cy="84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&amp; OCR</a:t>
              </a:r>
            </a:p>
          </p:txBody>
        </p:sp>
      </p:grpSp>
      <p:sp>
        <p:nvSpPr>
          <p:cNvPr name="TextBox 175" id="175"/>
          <p:cNvSpPr txBox="true"/>
          <p:nvPr/>
        </p:nvSpPr>
        <p:spPr>
          <a:xfrm rot="0">
            <a:off x="11848781" y="3232564"/>
            <a:ext cx="3471982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  <a:spcBef>
                <a:spcPct val="0"/>
              </a:spcBef>
            </a:pPr>
            <a:r>
              <a:rPr lang="en-US" b="true" sz="7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Medora 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13795117" y="6280564"/>
            <a:ext cx="836567" cy="836567"/>
            <a:chOff x="0" y="0"/>
            <a:chExt cx="1115423" cy="1115423"/>
          </a:xfrm>
        </p:grpSpPr>
        <p:grpSp>
          <p:nvGrpSpPr>
            <p:cNvPr name="Group 177" id="177"/>
            <p:cNvGrpSpPr/>
            <p:nvPr/>
          </p:nvGrpSpPr>
          <p:grpSpPr>
            <a:xfrm rot="0">
              <a:off x="0" y="0"/>
              <a:ext cx="1115423" cy="1115423"/>
              <a:chOff x="0" y="0"/>
              <a:chExt cx="1579880" cy="1579880"/>
            </a:xfrm>
          </p:grpSpPr>
          <p:sp>
            <p:nvSpPr>
              <p:cNvPr name="Freeform 178" id="178"/>
              <p:cNvSpPr/>
              <p:nvPr/>
            </p:nvSpPr>
            <p:spPr>
              <a:xfrm flipH="false" flipV="false" rot="0">
                <a:off x="12700" y="12700"/>
                <a:ext cx="1554480" cy="1554480"/>
              </a:xfrm>
              <a:custGeom>
                <a:avLst/>
                <a:gdLst/>
                <a:ahLst/>
                <a:cxnLst/>
                <a:rect r="r" b="b" t="t" l="l"/>
                <a:pathLst>
                  <a:path h="1554480" w="1554480">
                    <a:moveTo>
                      <a:pt x="0" y="777240"/>
                    </a:moveTo>
                    <a:cubicBezTo>
                      <a:pt x="0" y="347980"/>
                      <a:pt x="347980" y="0"/>
                      <a:pt x="777240" y="0"/>
                    </a:cubicBezTo>
                    <a:cubicBezTo>
                      <a:pt x="1206500" y="0"/>
                      <a:pt x="1554480" y="347980"/>
                      <a:pt x="1554480" y="777240"/>
                    </a:cubicBezTo>
                    <a:cubicBezTo>
                      <a:pt x="1554480" y="1206500"/>
                      <a:pt x="1206500" y="1554480"/>
                      <a:pt x="777240" y="1554480"/>
                    </a:cubicBezTo>
                    <a:cubicBezTo>
                      <a:pt x="347980" y="1554480"/>
                      <a:pt x="0" y="1206500"/>
                      <a:pt x="0" y="777240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name="Freeform 179" id="179"/>
              <p:cNvSpPr/>
              <p:nvPr/>
            </p:nvSpPr>
            <p:spPr>
              <a:xfrm flipH="false" flipV="false" rot="0">
                <a:off x="0" y="0"/>
                <a:ext cx="1579880" cy="1579880"/>
              </a:xfrm>
              <a:custGeom>
                <a:avLst/>
                <a:gdLst/>
                <a:ahLst/>
                <a:cxnLst/>
                <a:rect r="r" b="b" t="t" l="l"/>
                <a:pathLst>
                  <a:path h="1579880" w="1579880">
                    <a:moveTo>
                      <a:pt x="0" y="789940"/>
                    </a:moveTo>
                    <a:cubicBezTo>
                      <a:pt x="0" y="353695"/>
                      <a:pt x="353695" y="0"/>
                      <a:pt x="789940" y="0"/>
                    </a:cubicBezTo>
                    <a:lnTo>
                      <a:pt x="789940" y="12700"/>
                    </a:lnTo>
                    <a:lnTo>
                      <a:pt x="789940" y="0"/>
                    </a:lnTo>
                    <a:cubicBezTo>
                      <a:pt x="1226185" y="0"/>
                      <a:pt x="1579880" y="353695"/>
                      <a:pt x="1579880" y="789940"/>
                    </a:cubicBezTo>
                    <a:cubicBezTo>
                      <a:pt x="1579880" y="1226185"/>
                      <a:pt x="1226185" y="1579880"/>
                      <a:pt x="789940" y="1579880"/>
                    </a:cubicBezTo>
                    <a:lnTo>
                      <a:pt x="789940" y="1567180"/>
                    </a:lnTo>
                    <a:lnTo>
                      <a:pt x="789940" y="1579880"/>
                    </a:lnTo>
                    <a:cubicBezTo>
                      <a:pt x="353695" y="1579880"/>
                      <a:pt x="0" y="1226185"/>
                      <a:pt x="0" y="789940"/>
                    </a:cubicBezTo>
                    <a:lnTo>
                      <a:pt x="12700" y="789940"/>
                    </a:lnTo>
                    <a:lnTo>
                      <a:pt x="23495" y="796671"/>
                    </a:lnTo>
                    <a:cubicBezTo>
                      <a:pt x="20447" y="801497"/>
                      <a:pt x="14605" y="803656"/>
                      <a:pt x="9271" y="802132"/>
                    </a:cubicBezTo>
                    <a:cubicBezTo>
                      <a:pt x="3937" y="800608"/>
                      <a:pt x="0" y="795655"/>
                      <a:pt x="0" y="789940"/>
                    </a:cubicBezTo>
                    <a:moveTo>
                      <a:pt x="25400" y="789940"/>
                    </a:moveTo>
                    <a:lnTo>
                      <a:pt x="12700" y="789940"/>
                    </a:lnTo>
                    <a:lnTo>
                      <a:pt x="1905" y="783209"/>
                    </a:lnTo>
                    <a:cubicBezTo>
                      <a:pt x="4953" y="778383"/>
                      <a:pt x="10795" y="776224"/>
                      <a:pt x="16129" y="777748"/>
                    </a:cubicBezTo>
                    <a:cubicBezTo>
                      <a:pt x="21463" y="779272"/>
                      <a:pt x="25273" y="784352"/>
                      <a:pt x="25273" y="789940"/>
                    </a:cubicBezTo>
                    <a:cubicBezTo>
                      <a:pt x="25273" y="1212215"/>
                      <a:pt x="367538" y="1554480"/>
                      <a:pt x="789813" y="1554480"/>
                    </a:cubicBezTo>
                    <a:cubicBezTo>
                      <a:pt x="1212088" y="1554480"/>
                      <a:pt x="1554353" y="1212215"/>
                      <a:pt x="1554353" y="789940"/>
                    </a:cubicBezTo>
                    <a:lnTo>
                      <a:pt x="1567053" y="789940"/>
                    </a:lnTo>
                    <a:lnTo>
                      <a:pt x="1554353" y="789940"/>
                    </a:lnTo>
                    <a:cubicBezTo>
                      <a:pt x="1554480" y="367665"/>
                      <a:pt x="1212215" y="25400"/>
                      <a:pt x="789940" y="25400"/>
                    </a:cubicBezTo>
                    <a:lnTo>
                      <a:pt x="789940" y="12700"/>
                    </a:lnTo>
                    <a:lnTo>
                      <a:pt x="789940" y="25400"/>
                    </a:lnTo>
                    <a:cubicBezTo>
                      <a:pt x="367665" y="25400"/>
                      <a:pt x="25400" y="367665"/>
                      <a:pt x="25400" y="789940"/>
                    </a:cubicBezTo>
                    <a:close/>
                  </a:path>
                </a:pathLst>
              </a:custGeom>
              <a:solidFill>
                <a:srgbClr val="DBEAFE"/>
              </a:solidFill>
            </p:spPr>
          </p:sp>
        </p:grpSp>
        <p:grpSp>
          <p:nvGrpSpPr>
            <p:cNvPr name="Group 180" id="180"/>
            <p:cNvGrpSpPr/>
            <p:nvPr/>
          </p:nvGrpSpPr>
          <p:grpSpPr>
            <a:xfrm rot="0">
              <a:off x="287020" y="287020"/>
              <a:ext cx="502920" cy="502920"/>
              <a:chOff x="0" y="0"/>
              <a:chExt cx="1005840" cy="1005840"/>
            </a:xfrm>
          </p:grpSpPr>
          <p:sp>
            <p:nvSpPr>
              <p:cNvPr name="Freeform 181" id="181" descr="preencoded.png"/>
              <p:cNvSpPr/>
              <p:nvPr/>
            </p:nvSpPr>
            <p:spPr>
              <a:xfrm flipH="false" flipV="false" rot="0">
                <a:off x="0" y="0"/>
                <a:ext cx="100584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1005840">
                    <a:moveTo>
                      <a:pt x="0" y="0"/>
                    </a:moveTo>
                    <a:lnTo>
                      <a:pt x="1005840" y="0"/>
                    </a:lnTo>
                    <a:lnTo>
                      <a:pt x="1005840" y="1005840"/>
                    </a:lnTo>
                    <a:lnTo>
                      <a:pt x="0" y="10058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182" id="182"/>
          <p:cNvGrpSpPr/>
          <p:nvPr/>
        </p:nvGrpSpPr>
        <p:grpSpPr>
          <a:xfrm rot="0">
            <a:off x="14948535" y="6424528"/>
            <a:ext cx="6035040" cy="557138"/>
            <a:chOff x="0" y="0"/>
            <a:chExt cx="8046720" cy="742851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8046720" cy="742851"/>
            </a:xfrm>
            <a:custGeom>
              <a:avLst/>
              <a:gdLst/>
              <a:ahLst/>
              <a:cxnLst/>
              <a:rect r="r" b="b" t="t" l="l"/>
              <a:pathLst>
                <a:path h="742851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28" r="0" b="-160303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66675"/>
              <a:ext cx="804672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776066" y="7365852"/>
            <a:ext cx="898771" cy="898771"/>
            <a:chOff x="0" y="0"/>
            <a:chExt cx="1198362" cy="1198362"/>
          </a:xfrm>
        </p:grpSpPr>
        <p:grpSp>
          <p:nvGrpSpPr>
            <p:cNvPr name="Group 186" id="186"/>
            <p:cNvGrpSpPr/>
            <p:nvPr/>
          </p:nvGrpSpPr>
          <p:grpSpPr>
            <a:xfrm rot="0">
              <a:off x="0" y="0"/>
              <a:ext cx="1198362" cy="1198362"/>
              <a:chOff x="0" y="0"/>
              <a:chExt cx="1579880" cy="1579880"/>
            </a:xfrm>
          </p:grpSpPr>
          <p:sp>
            <p:nvSpPr>
              <p:cNvPr name="Freeform 187" id="187"/>
              <p:cNvSpPr/>
              <p:nvPr/>
            </p:nvSpPr>
            <p:spPr>
              <a:xfrm flipH="false" flipV="false" rot="0">
                <a:off x="12700" y="12700"/>
                <a:ext cx="1554480" cy="1554480"/>
              </a:xfrm>
              <a:custGeom>
                <a:avLst/>
                <a:gdLst/>
                <a:ahLst/>
                <a:cxnLst/>
                <a:rect r="r" b="b" t="t" l="l"/>
                <a:pathLst>
                  <a:path h="1554480" w="1554480">
                    <a:moveTo>
                      <a:pt x="0" y="777240"/>
                    </a:moveTo>
                    <a:cubicBezTo>
                      <a:pt x="0" y="347980"/>
                      <a:pt x="347980" y="0"/>
                      <a:pt x="777240" y="0"/>
                    </a:cubicBezTo>
                    <a:cubicBezTo>
                      <a:pt x="1206500" y="0"/>
                      <a:pt x="1554480" y="347980"/>
                      <a:pt x="1554480" y="777240"/>
                    </a:cubicBezTo>
                    <a:cubicBezTo>
                      <a:pt x="1554480" y="1206500"/>
                      <a:pt x="1206500" y="1554480"/>
                      <a:pt x="777240" y="1554480"/>
                    </a:cubicBezTo>
                    <a:cubicBezTo>
                      <a:pt x="347980" y="1554480"/>
                      <a:pt x="0" y="1206500"/>
                      <a:pt x="0" y="777240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name="Freeform 188" id="188"/>
              <p:cNvSpPr/>
              <p:nvPr/>
            </p:nvSpPr>
            <p:spPr>
              <a:xfrm flipH="false" flipV="false" rot="0">
                <a:off x="0" y="0"/>
                <a:ext cx="1579880" cy="1579880"/>
              </a:xfrm>
              <a:custGeom>
                <a:avLst/>
                <a:gdLst/>
                <a:ahLst/>
                <a:cxnLst/>
                <a:rect r="r" b="b" t="t" l="l"/>
                <a:pathLst>
                  <a:path h="1579880" w="1579880">
                    <a:moveTo>
                      <a:pt x="0" y="789940"/>
                    </a:moveTo>
                    <a:cubicBezTo>
                      <a:pt x="0" y="353695"/>
                      <a:pt x="353695" y="0"/>
                      <a:pt x="789940" y="0"/>
                    </a:cubicBezTo>
                    <a:lnTo>
                      <a:pt x="789940" y="12700"/>
                    </a:lnTo>
                    <a:lnTo>
                      <a:pt x="789940" y="0"/>
                    </a:lnTo>
                    <a:cubicBezTo>
                      <a:pt x="1226185" y="0"/>
                      <a:pt x="1579880" y="353695"/>
                      <a:pt x="1579880" y="789940"/>
                    </a:cubicBezTo>
                    <a:cubicBezTo>
                      <a:pt x="1579880" y="1226185"/>
                      <a:pt x="1226185" y="1579880"/>
                      <a:pt x="789940" y="1579880"/>
                    </a:cubicBezTo>
                    <a:lnTo>
                      <a:pt x="789940" y="1567180"/>
                    </a:lnTo>
                    <a:lnTo>
                      <a:pt x="789940" y="1579880"/>
                    </a:lnTo>
                    <a:cubicBezTo>
                      <a:pt x="353695" y="1579880"/>
                      <a:pt x="0" y="1226185"/>
                      <a:pt x="0" y="789940"/>
                    </a:cubicBezTo>
                    <a:lnTo>
                      <a:pt x="12700" y="789940"/>
                    </a:lnTo>
                    <a:lnTo>
                      <a:pt x="23495" y="796671"/>
                    </a:lnTo>
                    <a:cubicBezTo>
                      <a:pt x="20447" y="801497"/>
                      <a:pt x="14605" y="803656"/>
                      <a:pt x="9271" y="802132"/>
                    </a:cubicBezTo>
                    <a:cubicBezTo>
                      <a:pt x="3937" y="800608"/>
                      <a:pt x="0" y="795655"/>
                      <a:pt x="0" y="789940"/>
                    </a:cubicBezTo>
                    <a:moveTo>
                      <a:pt x="25400" y="789940"/>
                    </a:moveTo>
                    <a:lnTo>
                      <a:pt x="12700" y="789940"/>
                    </a:lnTo>
                    <a:lnTo>
                      <a:pt x="1905" y="783209"/>
                    </a:lnTo>
                    <a:cubicBezTo>
                      <a:pt x="4953" y="778383"/>
                      <a:pt x="10795" y="776224"/>
                      <a:pt x="16129" y="777748"/>
                    </a:cubicBezTo>
                    <a:cubicBezTo>
                      <a:pt x="21463" y="779272"/>
                      <a:pt x="25273" y="784352"/>
                      <a:pt x="25273" y="789940"/>
                    </a:cubicBezTo>
                    <a:cubicBezTo>
                      <a:pt x="25273" y="1212215"/>
                      <a:pt x="367538" y="1554480"/>
                      <a:pt x="789813" y="1554480"/>
                    </a:cubicBezTo>
                    <a:cubicBezTo>
                      <a:pt x="1212088" y="1554480"/>
                      <a:pt x="1554353" y="1212215"/>
                      <a:pt x="1554353" y="789940"/>
                    </a:cubicBezTo>
                    <a:lnTo>
                      <a:pt x="1567053" y="789940"/>
                    </a:lnTo>
                    <a:lnTo>
                      <a:pt x="1554353" y="789940"/>
                    </a:lnTo>
                    <a:cubicBezTo>
                      <a:pt x="1554480" y="367665"/>
                      <a:pt x="1212215" y="25400"/>
                      <a:pt x="789940" y="25400"/>
                    </a:cubicBezTo>
                    <a:lnTo>
                      <a:pt x="789940" y="12700"/>
                    </a:lnTo>
                    <a:lnTo>
                      <a:pt x="789940" y="25400"/>
                    </a:lnTo>
                    <a:cubicBezTo>
                      <a:pt x="367665" y="25400"/>
                      <a:pt x="25400" y="367665"/>
                      <a:pt x="25400" y="789940"/>
                    </a:cubicBezTo>
                    <a:close/>
                  </a:path>
                </a:pathLst>
              </a:custGeom>
              <a:solidFill>
                <a:srgbClr val="004BF0"/>
              </a:solidFill>
            </p:spPr>
          </p:sp>
        </p:grpSp>
        <p:grpSp>
          <p:nvGrpSpPr>
            <p:cNvPr name="Group 189" id="189"/>
            <p:cNvGrpSpPr/>
            <p:nvPr/>
          </p:nvGrpSpPr>
          <p:grpSpPr>
            <a:xfrm rot="0">
              <a:off x="324472" y="324472"/>
              <a:ext cx="549418" cy="549418"/>
              <a:chOff x="0" y="0"/>
              <a:chExt cx="1005840" cy="1005840"/>
            </a:xfrm>
          </p:grpSpPr>
          <p:sp>
            <p:nvSpPr>
              <p:cNvPr name="Freeform 190" id="190" descr="preencoded.png"/>
              <p:cNvSpPr/>
              <p:nvPr/>
            </p:nvSpPr>
            <p:spPr>
              <a:xfrm flipH="false" flipV="false" rot="0">
                <a:off x="0" y="0"/>
                <a:ext cx="100584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1005840">
                    <a:moveTo>
                      <a:pt x="0" y="0"/>
                    </a:moveTo>
                    <a:lnTo>
                      <a:pt x="1005840" y="0"/>
                    </a:lnTo>
                    <a:lnTo>
                      <a:pt x="1005840" y="1005840"/>
                    </a:lnTo>
                    <a:lnTo>
                      <a:pt x="0" y="10058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191" id="191"/>
          <p:cNvGrpSpPr/>
          <p:nvPr/>
        </p:nvGrpSpPr>
        <p:grpSpPr>
          <a:xfrm rot="0">
            <a:off x="13763625" y="8473387"/>
            <a:ext cx="923653" cy="923653"/>
            <a:chOff x="0" y="0"/>
            <a:chExt cx="1231537" cy="1231537"/>
          </a:xfrm>
        </p:grpSpPr>
        <p:grpSp>
          <p:nvGrpSpPr>
            <p:cNvPr name="Group 192" id="192"/>
            <p:cNvGrpSpPr/>
            <p:nvPr/>
          </p:nvGrpSpPr>
          <p:grpSpPr>
            <a:xfrm rot="0">
              <a:off x="0" y="0"/>
              <a:ext cx="1231537" cy="1231537"/>
              <a:chOff x="0" y="0"/>
              <a:chExt cx="1579880" cy="1579880"/>
            </a:xfrm>
          </p:grpSpPr>
          <p:sp>
            <p:nvSpPr>
              <p:cNvPr name="Freeform 193" id="193"/>
              <p:cNvSpPr/>
              <p:nvPr/>
            </p:nvSpPr>
            <p:spPr>
              <a:xfrm flipH="false" flipV="false" rot="0">
                <a:off x="12700" y="12700"/>
                <a:ext cx="1554480" cy="1554480"/>
              </a:xfrm>
              <a:custGeom>
                <a:avLst/>
                <a:gdLst/>
                <a:ahLst/>
                <a:cxnLst/>
                <a:rect r="r" b="b" t="t" l="l"/>
                <a:pathLst>
                  <a:path h="1554480" w="1554480">
                    <a:moveTo>
                      <a:pt x="0" y="777240"/>
                    </a:moveTo>
                    <a:cubicBezTo>
                      <a:pt x="0" y="347980"/>
                      <a:pt x="347980" y="0"/>
                      <a:pt x="777240" y="0"/>
                    </a:cubicBezTo>
                    <a:cubicBezTo>
                      <a:pt x="1206500" y="0"/>
                      <a:pt x="1554480" y="347980"/>
                      <a:pt x="1554480" y="777240"/>
                    </a:cubicBezTo>
                    <a:cubicBezTo>
                      <a:pt x="1554480" y="1206500"/>
                      <a:pt x="1206500" y="1554480"/>
                      <a:pt x="777240" y="1554480"/>
                    </a:cubicBezTo>
                    <a:cubicBezTo>
                      <a:pt x="347980" y="1554480"/>
                      <a:pt x="0" y="1206500"/>
                      <a:pt x="0" y="777240"/>
                    </a:cubicBezTo>
                    <a:close/>
                  </a:path>
                </a:pathLst>
              </a:custGeom>
              <a:solidFill>
                <a:srgbClr val="0D9488"/>
              </a:solidFill>
            </p:spPr>
          </p:sp>
          <p:sp>
            <p:nvSpPr>
              <p:cNvPr name="Freeform 194" id="194"/>
              <p:cNvSpPr/>
              <p:nvPr/>
            </p:nvSpPr>
            <p:spPr>
              <a:xfrm flipH="false" flipV="false" rot="0">
                <a:off x="0" y="0"/>
                <a:ext cx="1579880" cy="1579880"/>
              </a:xfrm>
              <a:custGeom>
                <a:avLst/>
                <a:gdLst/>
                <a:ahLst/>
                <a:cxnLst/>
                <a:rect r="r" b="b" t="t" l="l"/>
                <a:pathLst>
                  <a:path h="1579880" w="1579880">
                    <a:moveTo>
                      <a:pt x="0" y="789940"/>
                    </a:moveTo>
                    <a:cubicBezTo>
                      <a:pt x="0" y="353695"/>
                      <a:pt x="353695" y="0"/>
                      <a:pt x="789940" y="0"/>
                    </a:cubicBezTo>
                    <a:lnTo>
                      <a:pt x="789940" y="12700"/>
                    </a:lnTo>
                    <a:lnTo>
                      <a:pt x="789940" y="0"/>
                    </a:lnTo>
                    <a:cubicBezTo>
                      <a:pt x="1226185" y="0"/>
                      <a:pt x="1579880" y="353695"/>
                      <a:pt x="1579880" y="789940"/>
                    </a:cubicBezTo>
                    <a:cubicBezTo>
                      <a:pt x="1579880" y="1226185"/>
                      <a:pt x="1226185" y="1579880"/>
                      <a:pt x="789940" y="1579880"/>
                    </a:cubicBezTo>
                    <a:lnTo>
                      <a:pt x="789940" y="1567180"/>
                    </a:lnTo>
                    <a:lnTo>
                      <a:pt x="789940" y="1579880"/>
                    </a:lnTo>
                    <a:cubicBezTo>
                      <a:pt x="353695" y="1579880"/>
                      <a:pt x="0" y="1226185"/>
                      <a:pt x="0" y="789940"/>
                    </a:cubicBezTo>
                    <a:lnTo>
                      <a:pt x="12700" y="789940"/>
                    </a:lnTo>
                    <a:lnTo>
                      <a:pt x="23495" y="796671"/>
                    </a:lnTo>
                    <a:cubicBezTo>
                      <a:pt x="20447" y="801497"/>
                      <a:pt x="14605" y="803656"/>
                      <a:pt x="9271" y="802132"/>
                    </a:cubicBezTo>
                    <a:cubicBezTo>
                      <a:pt x="3937" y="800608"/>
                      <a:pt x="0" y="795655"/>
                      <a:pt x="0" y="789940"/>
                    </a:cubicBezTo>
                    <a:moveTo>
                      <a:pt x="25400" y="789940"/>
                    </a:moveTo>
                    <a:lnTo>
                      <a:pt x="12700" y="789940"/>
                    </a:lnTo>
                    <a:lnTo>
                      <a:pt x="1905" y="783209"/>
                    </a:lnTo>
                    <a:cubicBezTo>
                      <a:pt x="4953" y="778383"/>
                      <a:pt x="10795" y="776224"/>
                      <a:pt x="16129" y="777748"/>
                    </a:cubicBezTo>
                    <a:cubicBezTo>
                      <a:pt x="21463" y="779272"/>
                      <a:pt x="25273" y="784352"/>
                      <a:pt x="25273" y="789940"/>
                    </a:cubicBezTo>
                    <a:cubicBezTo>
                      <a:pt x="25273" y="1212215"/>
                      <a:pt x="367538" y="1554480"/>
                      <a:pt x="789813" y="1554480"/>
                    </a:cubicBezTo>
                    <a:cubicBezTo>
                      <a:pt x="1212088" y="1554480"/>
                      <a:pt x="1554353" y="1212215"/>
                      <a:pt x="1554353" y="789940"/>
                    </a:cubicBezTo>
                    <a:lnTo>
                      <a:pt x="1567053" y="789940"/>
                    </a:lnTo>
                    <a:lnTo>
                      <a:pt x="1554353" y="789940"/>
                    </a:lnTo>
                    <a:cubicBezTo>
                      <a:pt x="1554480" y="367665"/>
                      <a:pt x="1212215" y="25400"/>
                      <a:pt x="789940" y="25400"/>
                    </a:cubicBezTo>
                    <a:lnTo>
                      <a:pt x="789940" y="12700"/>
                    </a:lnTo>
                    <a:lnTo>
                      <a:pt x="789940" y="25400"/>
                    </a:lnTo>
                    <a:cubicBezTo>
                      <a:pt x="367665" y="25400"/>
                      <a:pt x="25400" y="367665"/>
                      <a:pt x="25400" y="789940"/>
                    </a:cubicBezTo>
                    <a:close/>
                  </a:path>
                </a:pathLst>
              </a:custGeom>
              <a:solidFill>
                <a:srgbClr val="F59E0B"/>
              </a:solidFill>
            </p:spPr>
          </p:sp>
        </p:grpSp>
        <p:grpSp>
          <p:nvGrpSpPr>
            <p:cNvPr name="Group 195" id="195"/>
            <p:cNvGrpSpPr/>
            <p:nvPr/>
          </p:nvGrpSpPr>
          <p:grpSpPr>
            <a:xfrm rot="0">
              <a:off x="278726" y="278726"/>
              <a:ext cx="674085" cy="674085"/>
              <a:chOff x="0" y="0"/>
              <a:chExt cx="1005840" cy="1005840"/>
            </a:xfrm>
          </p:grpSpPr>
          <p:sp>
            <p:nvSpPr>
              <p:cNvPr name="Freeform 196" id="196" descr="preencoded.png"/>
              <p:cNvSpPr/>
              <p:nvPr/>
            </p:nvSpPr>
            <p:spPr>
              <a:xfrm flipH="false" flipV="false" rot="0">
                <a:off x="0" y="0"/>
                <a:ext cx="1005840" cy="1005840"/>
              </a:xfrm>
              <a:custGeom>
                <a:avLst/>
                <a:gdLst/>
                <a:ahLst/>
                <a:cxnLst/>
                <a:rect r="r" b="b" t="t" l="l"/>
                <a:pathLst>
                  <a:path h="1005840" w="1005840">
                    <a:moveTo>
                      <a:pt x="0" y="0"/>
                    </a:moveTo>
                    <a:lnTo>
                      <a:pt x="1005840" y="0"/>
                    </a:lnTo>
                    <a:lnTo>
                      <a:pt x="1005840" y="1005840"/>
                    </a:lnTo>
                    <a:lnTo>
                      <a:pt x="0" y="10058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197" id="197"/>
          <p:cNvGrpSpPr/>
          <p:nvPr/>
        </p:nvGrpSpPr>
        <p:grpSpPr>
          <a:xfrm rot="0">
            <a:off x="14948535" y="7515716"/>
            <a:ext cx="6035040" cy="548640"/>
            <a:chOff x="0" y="0"/>
            <a:chExt cx="8046720" cy="73152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57150"/>
              <a:ext cx="8046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4948535" y="8654149"/>
            <a:ext cx="6035040" cy="548640"/>
            <a:chOff x="0" y="0"/>
            <a:chExt cx="8046720" cy="73152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57150"/>
              <a:ext cx="80467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5281" y="1992630"/>
            <a:ext cx="5341689" cy="2415540"/>
            <a:chOff x="0" y="0"/>
            <a:chExt cx="7122251" cy="322072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91" y="0"/>
              <a:ext cx="7122160" cy="3220720"/>
              <a:chOff x="0" y="0"/>
              <a:chExt cx="7122160" cy="322072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25400" y="25400"/>
                <a:ext cx="7071360" cy="3169920"/>
              </a:xfrm>
              <a:custGeom>
                <a:avLst/>
                <a:gdLst/>
                <a:ahLst/>
                <a:cxnLst/>
                <a:rect r="r" b="b" t="t" l="l"/>
                <a:pathLst>
                  <a:path h="316992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22160" cy="3220720"/>
              </a:xfrm>
              <a:custGeom>
                <a:avLst/>
                <a:gdLst/>
                <a:ahLst/>
                <a:cxnLst/>
                <a:rect r="r" b="b" t="t" l="l"/>
                <a:pathLst>
                  <a:path h="3220720" w="7122160">
                    <a:moveTo>
                      <a:pt x="25400" y="0"/>
                    </a:moveTo>
                    <a:lnTo>
                      <a:pt x="7096760" y="0"/>
                    </a:lnTo>
                    <a:cubicBezTo>
                      <a:pt x="7110730" y="0"/>
                      <a:pt x="7122160" y="11430"/>
                      <a:pt x="7122160" y="25400"/>
                    </a:cubicBezTo>
                    <a:lnTo>
                      <a:pt x="7122160" y="3195320"/>
                    </a:lnTo>
                    <a:cubicBezTo>
                      <a:pt x="7122160" y="3209290"/>
                      <a:pt x="7110730" y="3220720"/>
                      <a:pt x="7096760" y="3220720"/>
                    </a:cubicBezTo>
                    <a:lnTo>
                      <a:pt x="25400" y="3220720"/>
                    </a:lnTo>
                    <a:cubicBezTo>
                      <a:pt x="11430" y="3220720"/>
                      <a:pt x="0" y="3209290"/>
                      <a:pt x="0" y="319532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195320"/>
                    </a:lnTo>
                    <a:lnTo>
                      <a:pt x="25400" y="3195320"/>
                    </a:lnTo>
                    <a:lnTo>
                      <a:pt x="25400" y="3169920"/>
                    </a:lnTo>
                    <a:lnTo>
                      <a:pt x="7096760" y="3169920"/>
                    </a:lnTo>
                    <a:lnTo>
                      <a:pt x="7096760" y="3195320"/>
                    </a:lnTo>
                    <a:lnTo>
                      <a:pt x="7071360" y="3195320"/>
                    </a:lnTo>
                    <a:lnTo>
                      <a:pt x="7071360" y="25400"/>
                    </a:lnTo>
                    <a:lnTo>
                      <a:pt x="7096760" y="25400"/>
                    </a:lnTo>
                    <a:lnTo>
                      <a:pt x="70967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25491" y="147320"/>
              <a:ext cx="7071360" cy="1219200"/>
              <a:chOff x="0" y="0"/>
              <a:chExt cx="7071360" cy="1219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07136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3013" r="0" b="-63013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76200"/>
                <a:ext cx="7071360" cy="12954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Patients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5491" y="1366520"/>
              <a:ext cx="7071360" cy="1706880"/>
              <a:chOff x="0" y="0"/>
              <a:chExt cx="7071360" cy="17068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071360" cy="1706880"/>
              </a:xfrm>
              <a:custGeom>
                <a:avLst/>
                <a:gdLst/>
                <a:ahLst/>
                <a:cxnLst/>
                <a:rect r="r" b="b" t="t" l="l"/>
                <a:pathLst>
                  <a:path h="170688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706880"/>
                    </a:lnTo>
                    <a:lnTo>
                      <a:pt x="0" y="17068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0723" r="0" b="-30723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66675"/>
                <a:ext cx="7071360" cy="17735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Find doctors, book visits,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track health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>
              <a:off x="91" y="1341120"/>
              <a:ext cx="7063486" cy="254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115546" y="4408170"/>
            <a:ext cx="53848" cy="829304"/>
            <a:chOff x="0" y="0"/>
            <a:chExt cx="67729" cy="10430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33909"/>
              <a:ext cx="67691" cy="975360"/>
            </a:xfrm>
            <a:custGeom>
              <a:avLst/>
              <a:gdLst/>
              <a:ahLst/>
              <a:cxnLst/>
              <a:rect r="r" b="b" t="t" l="l"/>
              <a:pathLst>
                <a:path h="975360" w="67691">
                  <a:moveTo>
                    <a:pt x="67691" y="0"/>
                  </a:moveTo>
                  <a:lnTo>
                    <a:pt x="67691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72000" y="5212080"/>
            <a:ext cx="9144000" cy="1280160"/>
            <a:chOff x="0" y="0"/>
            <a:chExt cx="121920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0">
                  <a:moveTo>
                    <a:pt x="853440" y="0"/>
                  </a:moveTo>
                  <a:lnTo>
                    <a:pt x="11338560" y="0"/>
                  </a:lnTo>
                  <a:cubicBezTo>
                    <a:pt x="11809902" y="0"/>
                    <a:pt x="12192000" y="382098"/>
                    <a:pt x="12192000" y="853440"/>
                  </a:cubicBezTo>
                  <a:lnTo>
                    <a:pt x="12192000" y="853440"/>
                  </a:lnTo>
                  <a:cubicBezTo>
                    <a:pt x="12192000" y="1079786"/>
                    <a:pt x="12102085" y="1296862"/>
                    <a:pt x="11942033" y="1456913"/>
                  </a:cubicBezTo>
                  <a:cubicBezTo>
                    <a:pt x="11781982" y="1616964"/>
                    <a:pt x="11564906" y="1706880"/>
                    <a:pt x="11338560" y="1706880"/>
                  </a:cubicBezTo>
                  <a:lnTo>
                    <a:pt x="853440" y="1706880"/>
                  </a:lnTo>
                  <a:cubicBezTo>
                    <a:pt x="382098" y="1706880"/>
                    <a:pt x="0" y="1324782"/>
                    <a:pt x="0" y="853440"/>
                  </a:cubicBezTo>
                  <a:lnTo>
                    <a:pt x="0" y="853440"/>
                  </a:lnTo>
                  <a:cubicBezTo>
                    <a:pt x="0" y="382098"/>
                    <a:pt x="382098" y="0"/>
                    <a:pt x="85344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849052" y="5212080"/>
            <a:ext cx="8640684" cy="1280160"/>
            <a:chOff x="0" y="0"/>
            <a:chExt cx="11520912" cy="1706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20912" cy="1706880"/>
            </a:xfrm>
            <a:custGeom>
              <a:avLst/>
              <a:gdLst/>
              <a:ahLst/>
              <a:cxnLst/>
              <a:rect r="r" b="b" t="t" l="l"/>
              <a:pathLst>
                <a:path h="1706880" w="11520912">
                  <a:moveTo>
                    <a:pt x="0" y="0"/>
                  </a:moveTo>
                  <a:lnTo>
                    <a:pt x="11520912" y="0"/>
                  </a:lnTo>
                  <a:lnTo>
                    <a:pt x="11520912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1520912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MEDORA — One Platform, Three Roles, English + Bangla, AI Native Solution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3143" y="7028183"/>
            <a:ext cx="2037083" cy="2037083"/>
            <a:chOff x="0" y="0"/>
            <a:chExt cx="2716111" cy="2716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16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28700" y="7028183"/>
            <a:ext cx="2011680" cy="2011680"/>
            <a:chOff x="0" y="0"/>
            <a:chExt cx="2682240" cy="2682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1270000" y="0"/>
                  </a:moveTo>
                  <a:lnTo>
                    <a:pt x="1412240" y="0"/>
                  </a:lnTo>
                  <a:cubicBezTo>
                    <a:pt x="1749065" y="0"/>
                    <a:pt x="2072094" y="133803"/>
                    <a:pt x="2310266" y="371974"/>
                  </a:cubicBezTo>
                  <a:cubicBezTo>
                    <a:pt x="2548437" y="610146"/>
                    <a:pt x="2682240" y="933175"/>
                    <a:pt x="2682240" y="1270000"/>
                  </a:cubicBezTo>
                  <a:lnTo>
                    <a:pt x="2682240" y="1412240"/>
                  </a:lnTo>
                  <a:cubicBezTo>
                    <a:pt x="2682240" y="1749065"/>
                    <a:pt x="2548437" y="2072094"/>
                    <a:pt x="2310266" y="2310266"/>
                  </a:cubicBezTo>
                  <a:cubicBezTo>
                    <a:pt x="2072094" y="2548437"/>
                    <a:pt x="1749065" y="2682240"/>
                    <a:pt x="1412240" y="2682240"/>
                  </a:cubicBezTo>
                  <a:lnTo>
                    <a:pt x="1270000" y="2682240"/>
                  </a:lnTo>
                  <a:cubicBezTo>
                    <a:pt x="568598" y="2682240"/>
                    <a:pt x="0" y="2113642"/>
                    <a:pt x="0" y="1412240"/>
                  </a:cubicBezTo>
                  <a:lnTo>
                    <a:pt x="0" y="1270000"/>
                  </a:ln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solidFill>
              <a:srgbClr val="004BF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Discovery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19223" y="7028183"/>
            <a:ext cx="2037083" cy="2037083"/>
            <a:chOff x="0" y="0"/>
            <a:chExt cx="2716111" cy="2716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16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947798" y="7053586"/>
            <a:ext cx="2011680" cy="2011680"/>
            <a:chOff x="0" y="0"/>
            <a:chExt cx="2682240" cy="2682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45303" y="7028183"/>
            <a:ext cx="2037083" cy="2037083"/>
            <a:chOff x="0" y="0"/>
            <a:chExt cx="2716111" cy="2716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16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873878" y="7053586"/>
            <a:ext cx="2011680" cy="2011680"/>
            <a:chOff x="0" y="0"/>
            <a:chExt cx="2682240" cy="2682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71383" y="7028183"/>
            <a:ext cx="2037083" cy="2037083"/>
            <a:chOff x="0" y="0"/>
            <a:chExt cx="2716111" cy="271611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16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61858" y="7028183"/>
            <a:ext cx="2011680" cy="2011680"/>
            <a:chOff x="0" y="0"/>
            <a:chExt cx="2682240" cy="2682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Assistant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97463" y="7028183"/>
            <a:ext cx="2037083" cy="2037083"/>
            <a:chOff x="0" y="0"/>
            <a:chExt cx="2716111" cy="271611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16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722866" y="7028183"/>
            <a:ext cx="2011680" cy="2011680"/>
            <a:chOff x="0" y="0"/>
            <a:chExt cx="2682240" cy="26822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623543" y="7028183"/>
            <a:ext cx="2037083" cy="2037083"/>
            <a:chOff x="0" y="0"/>
            <a:chExt cx="2716111" cy="27161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1341120"/>
                  </a:moveTo>
                  <a:cubicBezTo>
                    <a:pt x="0" y="600456"/>
                    <a:pt x="600456" y="0"/>
                    <a:pt x="1341120" y="0"/>
                  </a:cubicBezTo>
                  <a:cubicBezTo>
                    <a:pt x="2081784" y="0"/>
                    <a:pt x="2682240" y="600456"/>
                    <a:pt x="2682240" y="1341120"/>
                  </a:cubicBezTo>
                  <a:cubicBezTo>
                    <a:pt x="2682240" y="2081784"/>
                    <a:pt x="2081784" y="2682240"/>
                    <a:pt x="1341120" y="2682240"/>
                  </a:cubicBezTo>
                  <a:cubicBezTo>
                    <a:pt x="600456" y="2682240"/>
                    <a:pt x="0" y="2081784"/>
                    <a:pt x="0" y="134112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160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716022">
                  <a:moveTo>
                    <a:pt x="0" y="1358011"/>
                  </a:moveTo>
                  <a:cubicBezTo>
                    <a:pt x="0" y="608076"/>
                    <a:pt x="608076" y="0"/>
                    <a:pt x="1358011" y="0"/>
                  </a:cubicBezTo>
                  <a:lnTo>
                    <a:pt x="1358011" y="16891"/>
                  </a:lnTo>
                  <a:lnTo>
                    <a:pt x="1358011" y="0"/>
                  </a:lnTo>
                  <a:cubicBezTo>
                    <a:pt x="2108073" y="0"/>
                    <a:pt x="2716022" y="608076"/>
                    <a:pt x="2716022" y="1358011"/>
                  </a:cubicBezTo>
                  <a:lnTo>
                    <a:pt x="2699131" y="1358011"/>
                  </a:lnTo>
                  <a:lnTo>
                    <a:pt x="2716022" y="1358011"/>
                  </a:lnTo>
                  <a:cubicBezTo>
                    <a:pt x="2716022" y="2108073"/>
                    <a:pt x="2107946" y="2716022"/>
                    <a:pt x="1358011" y="2716022"/>
                  </a:cubicBezTo>
                  <a:lnTo>
                    <a:pt x="1358011" y="2699131"/>
                  </a:lnTo>
                  <a:lnTo>
                    <a:pt x="1358011" y="2716022"/>
                  </a:lnTo>
                  <a:cubicBezTo>
                    <a:pt x="608076" y="2716149"/>
                    <a:pt x="0" y="2108073"/>
                    <a:pt x="0" y="1358011"/>
                  </a:cubicBezTo>
                  <a:lnTo>
                    <a:pt x="16891" y="135801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0" y="1358011"/>
                  </a:lnTo>
                  <a:moveTo>
                    <a:pt x="33909" y="1358011"/>
                  </a:moveTo>
                  <a:cubicBezTo>
                    <a:pt x="33909" y="1367409"/>
                    <a:pt x="26289" y="1374902"/>
                    <a:pt x="17018" y="1374902"/>
                  </a:cubicBezTo>
                  <a:cubicBezTo>
                    <a:pt x="7747" y="1374902"/>
                    <a:pt x="0" y="1367409"/>
                    <a:pt x="0" y="1358011"/>
                  </a:cubicBezTo>
                  <a:cubicBezTo>
                    <a:pt x="0" y="1348613"/>
                    <a:pt x="7620" y="1341120"/>
                    <a:pt x="16891" y="1341120"/>
                  </a:cubicBezTo>
                  <a:cubicBezTo>
                    <a:pt x="26162" y="1341120"/>
                    <a:pt x="33782" y="1348740"/>
                    <a:pt x="33782" y="1358011"/>
                  </a:cubicBezTo>
                  <a:cubicBezTo>
                    <a:pt x="33782" y="2089277"/>
                    <a:pt x="626618" y="2682240"/>
                    <a:pt x="1358011" y="2682240"/>
                  </a:cubicBezTo>
                  <a:cubicBezTo>
                    <a:pt x="2089404" y="2682240"/>
                    <a:pt x="2682240" y="2089404"/>
                    <a:pt x="2682240" y="1358011"/>
                  </a:cubicBezTo>
                  <a:cubicBezTo>
                    <a:pt x="2682240" y="626745"/>
                    <a:pt x="2089404" y="33782"/>
                    <a:pt x="1358011" y="33782"/>
                  </a:cubicBezTo>
                  <a:lnTo>
                    <a:pt x="1358011" y="16891"/>
                  </a:lnTo>
                  <a:lnTo>
                    <a:pt x="1358011" y="33909"/>
                  </a:lnTo>
                  <a:cubicBezTo>
                    <a:pt x="626745" y="33909"/>
                    <a:pt x="33909" y="626745"/>
                    <a:pt x="33909" y="135801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610846" y="7053586"/>
            <a:ext cx="2011680" cy="2011680"/>
            <a:chOff x="0" y="0"/>
            <a:chExt cx="2682240" cy="2682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6822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682240" cy="2729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Consent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498549" y="1987942"/>
            <a:ext cx="5341689" cy="2831143"/>
            <a:chOff x="0" y="0"/>
            <a:chExt cx="7122251" cy="3774857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91" y="0"/>
              <a:ext cx="7122160" cy="3220720"/>
              <a:chOff x="0" y="0"/>
              <a:chExt cx="7122160" cy="322072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25400" y="25400"/>
                <a:ext cx="7071360" cy="3169920"/>
              </a:xfrm>
              <a:custGeom>
                <a:avLst/>
                <a:gdLst/>
                <a:ahLst/>
                <a:cxnLst/>
                <a:rect r="r" b="b" t="t" l="l"/>
                <a:pathLst>
                  <a:path h="316992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7122160" cy="3220720"/>
              </a:xfrm>
              <a:custGeom>
                <a:avLst/>
                <a:gdLst/>
                <a:ahLst/>
                <a:cxnLst/>
                <a:rect r="r" b="b" t="t" l="l"/>
                <a:pathLst>
                  <a:path h="3220720" w="7122160">
                    <a:moveTo>
                      <a:pt x="25400" y="0"/>
                    </a:moveTo>
                    <a:lnTo>
                      <a:pt x="7096760" y="0"/>
                    </a:lnTo>
                    <a:cubicBezTo>
                      <a:pt x="7110730" y="0"/>
                      <a:pt x="7122160" y="11430"/>
                      <a:pt x="7122160" y="25400"/>
                    </a:cubicBezTo>
                    <a:lnTo>
                      <a:pt x="7122160" y="3195320"/>
                    </a:lnTo>
                    <a:cubicBezTo>
                      <a:pt x="7122160" y="3209290"/>
                      <a:pt x="7110730" y="3220720"/>
                      <a:pt x="7096760" y="3220720"/>
                    </a:cubicBezTo>
                    <a:lnTo>
                      <a:pt x="25400" y="3220720"/>
                    </a:lnTo>
                    <a:cubicBezTo>
                      <a:pt x="11430" y="3220720"/>
                      <a:pt x="0" y="3209290"/>
                      <a:pt x="0" y="319532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195320"/>
                    </a:lnTo>
                    <a:lnTo>
                      <a:pt x="25400" y="3195320"/>
                    </a:lnTo>
                    <a:lnTo>
                      <a:pt x="25400" y="3169920"/>
                    </a:lnTo>
                    <a:lnTo>
                      <a:pt x="7096760" y="3169920"/>
                    </a:lnTo>
                    <a:lnTo>
                      <a:pt x="7096760" y="3195320"/>
                    </a:lnTo>
                    <a:lnTo>
                      <a:pt x="7071360" y="3195320"/>
                    </a:lnTo>
                    <a:lnTo>
                      <a:pt x="7071360" y="25400"/>
                    </a:lnTo>
                    <a:lnTo>
                      <a:pt x="7096760" y="25400"/>
                    </a:lnTo>
                    <a:lnTo>
                      <a:pt x="70967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65" id="65"/>
            <p:cNvGrpSpPr/>
            <p:nvPr/>
          </p:nvGrpSpPr>
          <p:grpSpPr>
            <a:xfrm rot="0">
              <a:off x="25491" y="147320"/>
              <a:ext cx="7071360" cy="1219200"/>
              <a:chOff x="0" y="0"/>
              <a:chExt cx="7071360" cy="12192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707136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3013" r="0" b="-63013"/>
                </a:stretch>
              </a:blip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76200"/>
                <a:ext cx="7071360" cy="12954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Doc</a:t>
                </a:r>
                <a:r>
                  <a:rPr lang="en-US" sz="44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tors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25491" y="1366520"/>
              <a:ext cx="7071360" cy="2408337"/>
              <a:chOff x="0" y="0"/>
              <a:chExt cx="7071360" cy="2408337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7071360" cy="2408337"/>
              </a:xfrm>
              <a:custGeom>
                <a:avLst/>
                <a:gdLst/>
                <a:ahLst/>
                <a:cxnLst/>
                <a:rect r="r" b="b" t="t" l="l"/>
                <a:pathLst>
                  <a:path h="2408337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2408337"/>
                    </a:lnTo>
                    <a:lnTo>
                      <a:pt x="0" y="24083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775" r="0" b="7351"/>
                </a:stretch>
              </a:blip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66675"/>
                <a:ext cx="7071360" cy="24750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Manage schedule,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consult, prescribe</a:t>
                </a:r>
              </a:p>
              <a:p>
                <a:pPr algn="ctr">
                  <a:lnSpc>
                    <a:spcPts val="4320"/>
                  </a:lnSpc>
                </a:pPr>
              </a:p>
            </p:txBody>
          </p:sp>
        </p:grpSp>
        <p:sp>
          <p:nvSpPr>
            <p:cNvPr name="AutoShape 71" id="71"/>
            <p:cNvSpPr/>
            <p:nvPr/>
          </p:nvSpPr>
          <p:spPr>
            <a:xfrm>
              <a:off x="91" y="1341120"/>
              <a:ext cx="7063486" cy="254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097413" y="1987942"/>
            <a:ext cx="5341689" cy="2831143"/>
            <a:chOff x="0" y="0"/>
            <a:chExt cx="7122251" cy="3774857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91" y="0"/>
              <a:ext cx="7122160" cy="3220720"/>
              <a:chOff x="0" y="0"/>
              <a:chExt cx="7122160" cy="322072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25400" y="25400"/>
                <a:ext cx="7071360" cy="3169920"/>
              </a:xfrm>
              <a:custGeom>
                <a:avLst/>
                <a:gdLst/>
                <a:ahLst/>
                <a:cxnLst/>
                <a:rect r="r" b="b" t="t" l="l"/>
                <a:pathLst>
                  <a:path h="316992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3169920"/>
                    </a:lnTo>
                    <a:lnTo>
                      <a:pt x="0" y="316992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7122160" cy="3220720"/>
              </a:xfrm>
              <a:custGeom>
                <a:avLst/>
                <a:gdLst/>
                <a:ahLst/>
                <a:cxnLst/>
                <a:rect r="r" b="b" t="t" l="l"/>
                <a:pathLst>
                  <a:path h="3220720" w="7122160">
                    <a:moveTo>
                      <a:pt x="25400" y="0"/>
                    </a:moveTo>
                    <a:lnTo>
                      <a:pt x="7096760" y="0"/>
                    </a:lnTo>
                    <a:cubicBezTo>
                      <a:pt x="7110730" y="0"/>
                      <a:pt x="7122160" y="11430"/>
                      <a:pt x="7122160" y="25400"/>
                    </a:cubicBezTo>
                    <a:lnTo>
                      <a:pt x="7122160" y="3195320"/>
                    </a:lnTo>
                    <a:cubicBezTo>
                      <a:pt x="7122160" y="3209290"/>
                      <a:pt x="7110730" y="3220720"/>
                      <a:pt x="7096760" y="3220720"/>
                    </a:cubicBezTo>
                    <a:lnTo>
                      <a:pt x="25400" y="3220720"/>
                    </a:lnTo>
                    <a:cubicBezTo>
                      <a:pt x="11430" y="3220720"/>
                      <a:pt x="0" y="3209290"/>
                      <a:pt x="0" y="319532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195320"/>
                    </a:lnTo>
                    <a:lnTo>
                      <a:pt x="25400" y="3195320"/>
                    </a:lnTo>
                    <a:lnTo>
                      <a:pt x="25400" y="3169920"/>
                    </a:lnTo>
                    <a:lnTo>
                      <a:pt x="7096760" y="3169920"/>
                    </a:lnTo>
                    <a:lnTo>
                      <a:pt x="7096760" y="3195320"/>
                    </a:lnTo>
                    <a:lnTo>
                      <a:pt x="7071360" y="3195320"/>
                    </a:lnTo>
                    <a:lnTo>
                      <a:pt x="7071360" y="25400"/>
                    </a:lnTo>
                    <a:lnTo>
                      <a:pt x="7096760" y="25400"/>
                    </a:lnTo>
                    <a:lnTo>
                      <a:pt x="70967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25491" y="147320"/>
              <a:ext cx="7071360" cy="1219200"/>
              <a:chOff x="0" y="0"/>
              <a:chExt cx="7071360" cy="12192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707136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63013" r="0" b="-63013"/>
                </a:stretch>
              </a:blip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76200"/>
                <a:ext cx="7071360" cy="12954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280"/>
                  </a:lnSpc>
                </a:pPr>
                <a:r>
                  <a:rPr lang="en-US" sz="44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Admin</a:t>
                </a:r>
                <a:r>
                  <a:rPr lang="en-US" sz="44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25491" y="1366520"/>
              <a:ext cx="7071360" cy="2408337"/>
              <a:chOff x="0" y="0"/>
              <a:chExt cx="7071360" cy="2408337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7071360" cy="2408337"/>
              </a:xfrm>
              <a:custGeom>
                <a:avLst/>
                <a:gdLst/>
                <a:ahLst/>
                <a:cxnLst/>
                <a:rect r="r" b="b" t="t" l="l"/>
                <a:pathLst>
                  <a:path h="2408337" w="7071360">
                    <a:moveTo>
                      <a:pt x="0" y="0"/>
                    </a:moveTo>
                    <a:lnTo>
                      <a:pt x="7071360" y="0"/>
                    </a:lnTo>
                    <a:lnTo>
                      <a:pt x="7071360" y="2408337"/>
                    </a:lnTo>
                    <a:lnTo>
                      <a:pt x="0" y="24083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1775" r="0" b="7351"/>
                </a:stretch>
              </a:blip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66675"/>
                <a:ext cx="7071360" cy="24750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Verify doctors,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moderate actions, monitor</a:t>
                </a:r>
              </a:p>
              <a:p>
                <a:pPr algn="ctr">
                  <a:lnSpc>
                    <a:spcPts val="4320"/>
                  </a:lnSpc>
                </a:pPr>
              </a:p>
            </p:txBody>
          </p:sp>
        </p:grpSp>
        <p:sp>
          <p:nvSpPr>
            <p:cNvPr name="AutoShape 82" id="82"/>
            <p:cNvSpPr/>
            <p:nvPr/>
          </p:nvSpPr>
          <p:spPr>
            <a:xfrm>
              <a:off x="91" y="1341120"/>
              <a:ext cx="7063486" cy="2540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3" id="83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450137" y="9654025"/>
            <a:ext cx="16740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86" id="86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89" id="89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0" id="90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1" id="91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2" id="92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3" id="93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97" id="97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27" id="127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8" id="128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29" id="129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30" id="130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31" id="131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32" id="132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33" id="133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34" id="134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name="AutoShape 138" id="138"/>
          <p:cNvSpPr/>
          <p:nvPr/>
        </p:nvSpPr>
        <p:spPr>
          <a:xfrm flipV="true">
            <a:off x="2139967" y="6187895"/>
            <a:ext cx="2527045" cy="783512"/>
          </a:xfrm>
          <a:prstGeom prst="line">
            <a:avLst/>
          </a:prstGeom>
          <a:ln cap="flat" w="38100">
            <a:solidFill>
              <a:srgbClr val="2563E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9" id="139"/>
          <p:cNvSpPr/>
          <p:nvPr/>
        </p:nvSpPr>
        <p:spPr>
          <a:xfrm flipV="true">
            <a:off x="4953638" y="6542855"/>
            <a:ext cx="1635792" cy="510732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0" id="140"/>
          <p:cNvSpPr/>
          <p:nvPr/>
        </p:nvSpPr>
        <p:spPr>
          <a:xfrm flipV="true">
            <a:off x="7863845" y="6662546"/>
            <a:ext cx="753430" cy="365637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1" id="141"/>
          <p:cNvSpPr/>
          <p:nvPr/>
        </p:nvSpPr>
        <p:spPr>
          <a:xfrm flipH="true" flipV="true">
            <a:off x="9979667" y="6492240"/>
            <a:ext cx="945552" cy="427965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2" id="142"/>
          <p:cNvSpPr/>
          <p:nvPr/>
        </p:nvSpPr>
        <p:spPr>
          <a:xfrm flipH="true" flipV="true">
            <a:off x="12649098" y="6492240"/>
            <a:ext cx="1137997" cy="657023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3" id="143"/>
          <p:cNvSpPr/>
          <p:nvPr/>
        </p:nvSpPr>
        <p:spPr>
          <a:xfrm flipH="true" flipV="true">
            <a:off x="13678566" y="6046920"/>
            <a:ext cx="2742370" cy="908804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4" id="144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45" id="145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48" id="148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49" id="149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255030"/>
            <a:ext cx="16807265" cy="6585151"/>
            <a:chOff x="0" y="0"/>
            <a:chExt cx="22409686" cy="878020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175604"/>
              <a:ext cx="1133074" cy="987773"/>
              <a:chOff x="0" y="0"/>
              <a:chExt cx="1133074" cy="98777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00347"/>
              <a:ext cx="1133074" cy="1063030"/>
              <a:chOff x="0" y="0"/>
              <a:chExt cx="1133074" cy="106303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510765" y="0"/>
              <a:ext cx="20898921" cy="1863130"/>
              <a:chOff x="0" y="0"/>
              <a:chExt cx="20898921" cy="186313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898921" cy="1863130"/>
              </a:xfrm>
              <a:custGeom>
                <a:avLst/>
                <a:gdLst/>
                <a:ahLst/>
                <a:cxnLst/>
                <a:rect r="r" b="b" t="t" l="l"/>
                <a:pathLst>
                  <a:path h="1863130" w="20898921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863130"/>
                    </a:lnTo>
                    <a:lnTo>
                      <a:pt x="0" y="18631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2398" r="3159" b="-150924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76200"/>
                <a:ext cx="20898921" cy="19393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Unified platform with role-based workflows for patients, doctors and administrators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2041397"/>
              <a:ext cx="1133074" cy="987773"/>
              <a:chOff x="0" y="0"/>
              <a:chExt cx="1133074" cy="98777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966140"/>
              <a:ext cx="1133074" cy="1063030"/>
              <a:chOff x="0" y="0"/>
              <a:chExt cx="1133074" cy="10630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510765" y="1865793"/>
              <a:ext cx="20898921" cy="1317030"/>
              <a:chOff x="0" y="0"/>
              <a:chExt cx="20898921" cy="131703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0898921" cy="1317030"/>
              </a:xfrm>
              <a:custGeom>
                <a:avLst/>
                <a:gdLst/>
                <a:ahLst/>
                <a:cxnLst/>
                <a:rect r="r" b="b" t="t" l="l"/>
                <a:pathLst>
                  <a:path h="1317030" w="20898921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317030"/>
                    </a:lnTo>
                    <a:lnTo>
                      <a:pt x="0" y="1317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3882" r="3159" b="-254968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76200"/>
                <a:ext cx="20898921" cy="1393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AI-powered doctor search and Chorui assistant with safety guardrails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3907190"/>
              <a:ext cx="1133074" cy="987773"/>
              <a:chOff x="0" y="0"/>
              <a:chExt cx="1133074" cy="98777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3831933"/>
              <a:ext cx="1133074" cy="1063030"/>
              <a:chOff x="0" y="0"/>
              <a:chExt cx="1133074" cy="106303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510765" y="3731586"/>
              <a:ext cx="20898921" cy="1317030"/>
              <a:chOff x="0" y="0"/>
              <a:chExt cx="20898921" cy="131703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0898921" cy="1317030"/>
              </a:xfrm>
              <a:custGeom>
                <a:avLst/>
                <a:gdLst/>
                <a:ahLst/>
                <a:cxnLst/>
                <a:rect r="r" b="b" t="t" l="l"/>
                <a:pathLst>
                  <a:path h="1317030" w="20898921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317030"/>
                    </a:lnTo>
                    <a:lnTo>
                      <a:pt x="0" y="1317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3882" r="3159" b="-254968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76200"/>
                <a:ext cx="20898921" cy="1393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OCR pipeline to digitize handwritten prescriptions (English + Bangla)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5772983"/>
              <a:ext cx="1133074" cy="987773"/>
              <a:chOff x="0" y="0"/>
              <a:chExt cx="1133074" cy="98777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5697726"/>
              <a:ext cx="1133074" cy="1063030"/>
              <a:chOff x="0" y="0"/>
              <a:chExt cx="1133074" cy="106303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510765" y="5597379"/>
              <a:ext cx="20898921" cy="1317030"/>
              <a:chOff x="0" y="0"/>
              <a:chExt cx="20898921" cy="131703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0898921" cy="1317030"/>
              </a:xfrm>
              <a:custGeom>
                <a:avLst/>
                <a:gdLst/>
                <a:ahLst/>
                <a:cxnLst/>
                <a:rect r="r" b="b" t="t" l="l"/>
                <a:pathLst>
                  <a:path h="1317030" w="20898921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317030"/>
                    </a:lnTo>
                    <a:lnTo>
                      <a:pt x="0" y="1317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3882" r="3159" b="-254968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76200"/>
                <a:ext cx="20898921" cy="1393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Real-time appointment slot synchronization to prevent double-booking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7638775"/>
              <a:ext cx="1133074" cy="987773"/>
              <a:chOff x="0" y="0"/>
              <a:chExt cx="1133074" cy="98777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133074" cy="987773"/>
              </a:xfrm>
              <a:custGeom>
                <a:avLst/>
                <a:gdLst/>
                <a:ahLst/>
                <a:cxnLst/>
                <a:rect r="r" b="b" t="t" l="l"/>
                <a:pathLst>
                  <a:path h="987773" w="1133074">
                    <a:moveTo>
                      <a:pt x="0" y="493886"/>
                    </a:moveTo>
                    <a:cubicBezTo>
                      <a:pt x="0" y="221106"/>
                      <a:pt x="253630" y="0"/>
                      <a:pt x="566537" y="0"/>
                    </a:cubicBezTo>
                    <a:cubicBezTo>
                      <a:pt x="879444" y="0"/>
                      <a:pt x="1133074" y="221106"/>
                      <a:pt x="1133074" y="493886"/>
                    </a:cubicBezTo>
                    <a:cubicBezTo>
                      <a:pt x="1133074" y="766667"/>
                      <a:pt x="879444" y="987773"/>
                      <a:pt x="566537" y="987773"/>
                    </a:cubicBezTo>
                    <a:cubicBezTo>
                      <a:pt x="253630" y="987773"/>
                      <a:pt x="0" y="766667"/>
                      <a:pt x="0" y="493886"/>
                    </a:cubicBez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7563518"/>
              <a:ext cx="1133074" cy="1063030"/>
              <a:chOff x="0" y="0"/>
              <a:chExt cx="1133074" cy="106303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133074" cy="1063030"/>
              </a:xfrm>
              <a:custGeom>
                <a:avLst/>
                <a:gdLst/>
                <a:ahLst/>
                <a:cxnLst/>
                <a:rect r="r" b="b" t="t" l="l"/>
                <a:pathLst>
                  <a:path h="1063030" w="1133074">
                    <a:moveTo>
                      <a:pt x="0" y="0"/>
                    </a:moveTo>
                    <a:lnTo>
                      <a:pt x="1133074" y="0"/>
                    </a:lnTo>
                    <a:lnTo>
                      <a:pt x="1133074" y="1063030"/>
                    </a:lnTo>
                    <a:lnTo>
                      <a:pt x="0" y="10630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829" t="0" r="-72670" b="-3221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76200"/>
                <a:ext cx="1133074" cy="1139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510765" y="6917072"/>
              <a:ext cx="20898921" cy="1863130"/>
              <a:chOff x="0" y="0"/>
              <a:chExt cx="20898921" cy="186313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0898921" cy="1863130"/>
              </a:xfrm>
              <a:custGeom>
                <a:avLst/>
                <a:gdLst/>
                <a:ahLst/>
                <a:cxnLst/>
                <a:rect r="r" b="b" t="t" l="l"/>
                <a:pathLst>
                  <a:path h="1863130" w="20898921">
                    <a:moveTo>
                      <a:pt x="0" y="0"/>
                    </a:moveTo>
                    <a:lnTo>
                      <a:pt x="20898921" y="0"/>
                    </a:lnTo>
                    <a:lnTo>
                      <a:pt x="20898921" y="1863130"/>
                    </a:lnTo>
                    <a:lnTo>
                      <a:pt x="0" y="18631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72398" r="3159" b="-150924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76200"/>
                <a:ext cx="20898921" cy="19393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800"/>
                  </a:lnSpc>
                </a:pPr>
                <a:r>
                  <a:rPr lang="en-US" sz="4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Production cloud deployment with CI/CD, observability and performance budgets</a:t>
                </a: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1097280" y="1689463"/>
            <a:ext cx="16484603" cy="25403"/>
            <a:chOff x="0" y="0"/>
            <a:chExt cx="21979471" cy="338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53" id="53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1" id="61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91" id="91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2" id="92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03" id="103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06" id="106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303535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Related Works — Feature Gap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2133600"/>
          <a:ext cx="16471906" cy="6579916"/>
        </p:xfrm>
        <a:graphic>
          <a:graphicData uri="http://schemas.openxmlformats.org/drawingml/2006/table">
            <a:tbl>
              <a:tblPr/>
              <a:tblGrid>
                <a:gridCol w="2428302"/>
                <a:gridCol w="2267883"/>
                <a:gridCol w="2436432"/>
                <a:gridCol w="2104623"/>
                <a:gridCol w="1851800"/>
                <a:gridCol w="2436432"/>
                <a:gridCol w="2946433"/>
              </a:tblGrid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Platform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Records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Real-time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OCR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AI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Consent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41F5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Bangla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DocTime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Sasthya Seba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Sebaghar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Praava Health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Doctorola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Epic / Cerner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Teladoc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Partial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1A1A1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1A1A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Medora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16A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552474" y="8942116"/>
            <a:ext cx="16459200" cy="731520"/>
            <a:chOff x="0" y="0"/>
            <a:chExt cx="219456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i="true">
                  <a:solidFill>
                    <a:srgbClr val="041F5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existing platform covers all six dimensions. This is the gap Medora fills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54" id="54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5" id="55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420380"/>
            <a:ext cx="16870680" cy="1450330"/>
            <a:chOff x="0" y="0"/>
            <a:chExt cx="2249424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933773"/>
            </a:xfrm>
            <a:custGeom>
              <a:avLst/>
              <a:gdLst/>
              <a:ahLst/>
              <a:cxnLst/>
              <a:rect r="r" b="b" t="t" l="l"/>
              <a:pathLst>
                <a:path h="1933773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55" r="0" b="-15975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249424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2527935"/>
            <a:ext cx="8797290" cy="1480947"/>
            <a:chOff x="0" y="0"/>
            <a:chExt cx="11729720" cy="197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4683"/>
              <a:ext cx="11704320" cy="1945230"/>
            </a:xfrm>
            <a:custGeom>
              <a:avLst/>
              <a:gdLst/>
              <a:ahLst/>
              <a:cxnLst/>
              <a:rect r="r" b="b" t="t" l="l"/>
              <a:pathLst>
                <a:path h="194523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45230"/>
                  </a:lnTo>
                  <a:lnTo>
                    <a:pt x="0" y="1945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9720" cy="1974596"/>
            </a:xfrm>
            <a:custGeom>
              <a:avLst/>
              <a:gdLst/>
              <a:ahLst/>
              <a:cxnLst/>
              <a:rect r="r" b="b" t="t" l="l"/>
              <a:pathLst>
                <a:path h="1974596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607"/>
                    <a:pt x="11729720" y="14683"/>
                  </a:cubicBezTo>
                  <a:lnTo>
                    <a:pt x="11729720" y="1959913"/>
                  </a:lnTo>
                  <a:cubicBezTo>
                    <a:pt x="11729720" y="1967989"/>
                    <a:pt x="11724005" y="1974596"/>
                    <a:pt x="11717020" y="1974596"/>
                  </a:cubicBezTo>
                  <a:lnTo>
                    <a:pt x="12700" y="1974596"/>
                  </a:lnTo>
                  <a:cubicBezTo>
                    <a:pt x="5715" y="1974596"/>
                    <a:pt x="0" y="1967989"/>
                    <a:pt x="0" y="1959913"/>
                  </a:cubicBezTo>
                  <a:lnTo>
                    <a:pt x="0" y="14683"/>
                  </a:lnTo>
                  <a:cubicBezTo>
                    <a:pt x="0" y="6607"/>
                    <a:pt x="5715" y="0"/>
                    <a:pt x="12700" y="0"/>
                  </a:cubicBezTo>
                  <a:moveTo>
                    <a:pt x="12700" y="29366"/>
                  </a:moveTo>
                  <a:lnTo>
                    <a:pt x="12700" y="14683"/>
                  </a:lnTo>
                  <a:lnTo>
                    <a:pt x="25400" y="14683"/>
                  </a:lnTo>
                  <a:lnTo>
                    <a:pt x="25400" y="1959913"/>
                  </a:lnTo>
                  <a:lnTo>
                    <a:pt x="12700" y="1959913"/>
                  </a:lnTo>
                  <a:lnTo>
                    <a:pt x="12700" y="1945230"/>
                  </a:lnTo>
                  <a:lnTo>
                    <a:pt x="11717020" y="1945230"/>
                  </a:lnTo>
                  <a:lnTo>
                    <a:pt x="11717020" y="1959913"/>
                  </a:lnTo>
                  <a:lnTo>
                    <a:pt x="11704320" y="1959913"/>
                  </a:lnTo>
                  <a:lnTo>
                    <a:pt x="11704320" y="14683"/>
                  </a:lnTo>
                  <a:lnTo>
                    <a:pt x="11717020" y="14683"/>
                  </a:lnTo>
                  <a:lnTo>
                    <a:pt x="11717020" y="29366"/>
                  </a:lnTo>
                  <a:lnTo>
                    <a:pt x="12700" y="293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3495" y="2815971"/>
            <a:ext cx="704850" cy="704850"/>
            <a:chOff x="0" y="0"/>
            <a:chExt cx="939800" cy="93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3495" y="2825115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63140" y="2612148"/>
            <a:ext cx="7269480" cy="681967"/>
            <a:chOff x="0" y="0"/>
            <a:chExt cx="9692640" cy="9092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92640" cy="909289"/>
            </a:xfrm>
            <a:custGeom>
              <a:avLst/>
              <a:gdLst/>
              <a:ahLst/>
              <a:cxnLst/>
              <a:rect r="r" b="b" t="t" l="l"/>
              <a:pathLst>
                <a:path h="9092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99" r="0" b="-1439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 verified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263140" y="3101721"/>
            <a:ext cx="72694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license &amp; credentials. Admin reviews, then dashboard unlocks.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0595" y="3968115"/>
            <a:ext cx="8797290" cy="1440180"/>
            <a:chOff x="0" y="0"/>
            <a:chExt cx="1172972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4279"/>
              <a:ext cx="11704320" cy="1891682"/>
            </a:xfrm>
            <a:custGeom>
              <a:avLst/>
              <a:gdLst/>
              <a:ahLst/>
              <a:cxnLst/>
              <a:rect r="r" b="b" t="t" l="l"/>
              <a:pathLst>
                <a:path h="189168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29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3495" y="4256151"/>
            <a:ext cx="704850" cy="704850"/>
            <a:chOff x="0" y="0"/>
            <a:chExt cx="939800" cy="939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3020" y="4265676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63140" y="4052328"/>
            <a:ext cx="7269480" cy="681967"/>
            <a:chOff x="0" y="0"/>
            <a:chExt cx="9692640" cy="9092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2640" cy="909289"/>
            </a:xfrm>
            <a:custGeom>
              <a:avLst/>
              <a:gdLst/>
              <a:ahLst/>
              <a:cxnLst/>
              <a:rect r="r" b="b" t="t" l="l"/>
              <a:pathLst>
                <a:path h="9092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99" r="0" b="-1439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 availability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263140" y="4541901"/>
            <a:ext cx="72694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Weekly schedule, exceptions, optional Google Calendar sync.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0595" y="5408295"/>
            <a:ext cx="8797290" cy="1440180"/>
            <a:chOff x="0" y="0"/>
            <a:chExt cx="11729720" cy="1920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4279"/>
              <a:ext cx="11704320" cy="1891682"/>
            </a:xfrm>
            <a:custGeom>
              <a:avLst/>
              <a:gdLst/>
              <a:ahLst/>
              <a:cxnLst/>
              <a:rect r="r" b="b" t="t" l="l"/>
              <a:pathLst>
                <a:path h="189168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29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93495" y="5696331"/>
            <a:ext cx="704850" cy="704850"/>
            <a:chOff x="0" y="0"/>
            <a:chExt cx="939800" cy="939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020" y="5705856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63140" y="5492508"/>
            <a:ext cx="7269480" cy="681967"/>
            <a:chOff x="0" y="0"/>
            <a:chExt cx="9692640" cy="9092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909289"/>
            </a:xfrm>
            <a:custGeom>
              <a:avLst/>
              <a:gdLst/>
              <a:ahLst/>
              <a:cxnLst/>
              <a:rect r="r" b="b" t="t" l="l"/>
              <a:pathLst>
                <a:path h="9092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99" r="0" b="-1439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consultation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263140" y="5982081"/>
            <a:ext cx="72694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patient summary on the side, voice-to-notes, draft auto-saves.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50595" y="6848475"/>
            <a:ext cx="8797290" cy="1478661"/>
            <a:chOff x="0" y="0"/>
            <a:chExt cx="11729720" cy="19715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4661"/>
              <a:ext cx="11704320" cy="1942227"/>
            </a:xfrm>
            <a:custGeom>
              <a:avLst/>
              <a:gdLst/>
              <a:ahLst/>
              <a:cxnLst/>
              <a:rect r="r" b="b" t="t" l="l"/>
              <a:pathLst>
                <a:path h="1942227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42226"/>
                  </a:lnTo>
                  <a:lnTo>
                    <a:pt x="0" y="1942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29720" cy="1971548"/>
            </a:xfrm>
            <a:custGeom>
              <a:avLst/>
              <a:gdLst/>
              <a:ahLst/>
              <a:cxnLst/>
              <a:rect r="r" b="b" t="t" l="l"/>
              <a:pathLst>
                <a:path h="1971548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597"/>
                    <a:pt x="11729720" y="14661"/>
                  </a:cubicBezTo>
                  <a:lnTo>
                    <a:pt x="11729720" y="1956887"/>
                  </a:lnTo>
                  <a:cubicBezTo>
                    <a:pt x="11729720" y="1964951"/>
                    <a:pt x="11724005" y="1971548"/>
                    <a:pt x="11717020" y="1971548"/>
                  </a:cubicBezTo>
                  <a:lnTo>
                    <a:pt x="12700" y="1971548"/>
                  </a:lnTo>
                  <a:cubicBezTo>
                    <a:pt x="5715" y="1971548"/>
                    <a:pt x="0" y="1964951"/>
                    <a:pt x="0" y="1956887"/>
                  </a:cubicBezTo>
                  <a:lnTo>
                    <a:pt x="0" y="14661"/>
                  </a:lnTo>
                  <a:cubicBezTo>
                    <a:pt x="0" y="6597"/>
                    <a:pt x="5715" y="0"/>
                    <a:pt x="12700" y="0"/>
                  </a:cubicBezTo>
                  <a:moveTo>
                    <a:pt x="12700" y="29321"/>
                  </a:moveTo>
                  <a:lnTo>
                    <a:pt x="12700" y="14661"/>
                  </a:lnTo>
                  <a:lnTo>
                    <a:pt x="25400" y="14661"/>
                  </a:lnTo>
                  <a:lnTo>
                    <a:pt x="25400" y="1956887"/>
                  </a:lnTo>
                  <a:lnTo>
                    <a:pt x="12700" y="1956887"/>
                  </a:lnTo>
                  <a:lnTo>
                    <a:pt x="12700" y="1942227"/>
                  </a:lnTo>
                  <a:lnTo>
                    <a:pt x="11717020" y="1942227"/>
                  </a:lnTo>
                  <a:lnTo>
                    <a:pt x="11717020" y="1956887"/>
                  </a:lnTo>
                  <a:lnTo>
                    <a:pt x="11704320" y="1956887"/>
                  </a:lnTo>
                  <a:lnTo>
                    <a:pt x="11704320" y="14661"/>
                  </a:lnTo>
                  <a:lnTo>
                    <a:pt x="11717020" y="14661"/>
                  </a:lnTo>
                  <a:lnTo>
                    <a:pt x="11717020" y="29321"/>
                  </a:lnTo>
                  <a:lnTo>
                    <a:pt x="12700" y="2932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93495" y="7136511"/>
            <a:ext cx="704850" cy="704850"/>
            <a:chOff x="0" y="0"/>
            <a:chExt cx="939800" cy="939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03020" y="7146036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263140" y="6932688"/>
            <a:ext cx="7269480" cy="681967"/>
            <a:chOff x="0" y="0"/>
            <a:chExt cx="9692640" cy="9092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92640" cy="909289"/>
            </a:xfrm>
            <a:custGeom>
              <a:avLst/>
              <a:gdLst/>
              <a:ahLst/>
              <a:cxnLst/>
              <a:rect r="r" b="b" t="t" l="l"/>
              <a:pathLst>
                <a:path h="9092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99" r="0" b="-14390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 prescription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263140" y="7422261"/>
            <a:ext cx="72694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medication, tests, surgery — patient gets it instantly.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50595" y="8288655"/>
            <a:ext cx="8797290" cy="1478661"/>
            <a:chOff x="0" y="0"/>
            <a:chExt cx="11729720" cy="197154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4661"/>
              <a:ext cx="11704320" cy="1942227"/>
            </a:xfrm>
            <a:custGeom>
              <a:avLst/>
              <a:gdLst/>
              <a:ahLst/>
              <a:cxnLst/>
              <a:rect r="r" b="b" t="t" l="l"/>
              <a:pathLst>
                <a:path h="1942227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42226"/>
                  </a:lnTo>
                  <a:lnTo>
                    <a:pt x="0" y="1942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729720" cy="1971548"/>
            </a:xfrm>
            <a:custGeom>
              <a:avLst/>
              <a:gdLst/>
              <a:ahLst/>
              <a:cxnLst/>
              <a:rect r="r" b="b" t="t" l="l"/>
              <a:pathLst>
                <a:path h="1971548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597"/>
                    <a:pt x="11729720" y="14661"/>
                  </a:cubicBezTo>
                  <a:lnTo>
                    <a:pt x="11729720" y="1956887"/>
                  </a:lnTo>
                  <a:cubicBezTo>
                    <a:pt x="11729720" y="1964951"/>
                    <a:pt x="11724005" y="1971548"/>
                    <a:pt x="11717020" y="1971548"/>
                  </a:cubicBezTo>
                  <a:lnTo>
                    <a:pt x="12700" y="1971548"/>
                  </a:lnTo>
                  <a:cubicBezTo>
                    <a:pt x="5715" y="1971548"/>
                    <a:pt x="0" y="1964951"/>
                    <a:pt x="0" y="1956887"/>
                  </a:cubicBezTo>
                  <a:lnTo>
                    <a:pt x="0" y="14661"/>
                  </a:lnTo>
                  <a:cubicBezTo>
                    <a:pt x="0" y="6597"/>
                    <a:pt x="5715" y="0"/>
                    <a:pt x="12700" y="0"/>
                  </a:cubicBezTo>
                  <a:moveTo>
                    <a:pt x="12700" y="29321"/>
                  </a:moveTo>
                  <a:lnTo>
                    <a:pt x="12700" y="14661"/>
                  </a:lnTo>
                  <a:lnTo>
                    <a:pt x="25400" y="14661"/>
                  </a:lnTo>
                  <a:lnTo>
                    <a:pt x="25400" y="1956887"/>
                  </a:lnTo>
                  <a:lnTo>
                    <a:pt x="12700" y="1956887"/>
                  </a:lnTo>
                  <a:lnTo>
                    <a:pt x="12700" y="1942227"/>
                  </a:lnTo>
                  <a:lnTo>
                    <a:pt x="11717020" y="1942227"/>
                  </a:lnTo>
                  <a:lnTo>
                    <a:pt x="11717020" y="1956887"/>
                  </a:lnTo>
                  <a:lnTo>
                    <a:pt x="11704320" y="1956887"/>
                  </a:lnTo>
                  <a:lnTo>
                    <a:pt x="11704320" y="14661"/>
                  </a:lnTo>
                  <a:lnTo>
                    <a:pt x="11717020" y="14661"/>
                  </a:lnTo>
                  <a:lnTo>
                    <a:pt x="11717020" y="29321"/>
                  </a:lnTo>
                  <a:lnTo>
                    <a:pt x="12700" y="2932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93495" y="8576691"/>
            <a:ext cx="704850" cy="704850"/>
            <a:chOff x="0" y="0"/>
            <a:chExt cx="939800" cy="939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03020" y="8586216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263140" y="8372868"/>
            <a:ext cx="7269480" cy="681967"/>
            <a:chOff x="0" y="0"/>
            <a:chExt cx="9692640" cy="90928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92640" cy="909289"/>
            </a:xfrm>
            <a:custGeom>
              <a:avLst/>
              <a:gdLst/>
              <a:ahLst/>
              <a:cxnLst/>
              <a:rect r="r" b="b" t="t" l="l"/>
              <a:pathLst>
                <a:path h="9092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99" r="0" b="-14390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patients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263140" y="8862441"/>
            <a:ext cx="72694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Analytics, follow-ups, reschedule negotiations, completed reviews.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0405110" y="2702052"/>
            <a:ext cx="7151370" cy="6945630"/>
            <a:chOff x="0" y="0"/>
            <a:chExt cx="9535160" cy="9260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9509760" cy="9235440"/>
            </a:xfrm>
            <a:custGeom>
              <a:avLst/>
              <a:gdLst/>
              <a:ahLst/>
              <a:cxnLst/>
              <a:rect r="r" b="b" t="t" l="l"/>
              <a:pathLst>
                <a:path h="9235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235440"/>
                  </a:lnTo>
                  <a:lnTo>
                    <a:pt x="0" y="9235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535160" cy="9260840"/>
            </a:xfrm>
            <a:custGeom>
              <a:avLst/>
              <a:gdLst/>
              <a:ahLst/>
              <a:cxnLst/>
              <a:rect r="r" b="b" t="t" l="l"/>
              <a:pathLst>
                <a:path h="9260840" w="9535160">
                  <a:moveTo>
                    <a:pt x="12700" y="0"/>
                  </a:moveTo>
                  <a:lnTo>
                    <a:pt x="9522460" y="0"/>
                  </a:lnTo>
                  <a:cubicBezTo>
                    <a:pt x="9529445" y="0"/>
                    <a:pt x="9535160" y="5715"/>
                    <a:pt x="9535160" y="12700"/>
                  </a:cubicBezTo>
                  <a:lnTo>
                    <a:pt x="9535160" y="9248140"/>
                  </a:lnTo>
                  <a:cubicBezTo>
                    <a:pt x="9535160" y="9255125"/>
                    <a:pt x="9529445" y="9260840"/>
                    <a:pt x="9522460" y="9260840"/>
                  </a:cubicBezTo>
                  <a:lnTo>
                    <a:pt x="12700" y="9260840"/>
                  </a:lnTo>
                  <a:cubicBezTo>
                    <a:pt x="5715" y="9260840"/>
                    <a:pt x="0" y="9255125"/>
                    <a:pt x="0" y="9248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48140"/>
                  </a:lnTo>
                  <a:lnTo>
                    <a:pt x="12700" y="9248140"/>
                  </a:lnTo>
                  <a:lnTo>
                    <a:pt x="12700" y="9235440"/>
                  </a:lnTo>
                  <a:lnTo>
                    <a:pt x="9522460" y="9235440"/>
                  </a:lnTo>
                  <a:lnTo>
                    <a:pt x="9522460" y="9248140"/>
                  </a:lnTo>
                  <a:lnTo>
                    <a:pt x="9509760" y="9248140"/>
                  </a:lnTo>
                  <a:lnTo>
                    <a:pt x="9509760" y="12700"/>
                  </a:lnTo>
                  <a:lnTo>
                    <a:pt x="9522460" y="12700"/>
                  </a:lnTo>
                  <a:lnTo>
                    <a:pt x="95224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767060" y="3086100"/>
            <a:ext cx="685800" cy="685800"/>
            <a:chOff x="0" y="0"/>
            <a:chExt cx="914400" cy="91440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719560" y="3099435"/>
            <a:ext cx="5486400" cy="822960"/>
            <a:chOff x="0" y="0"/>
            <a:chExt cx="731520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85725"/>
              <a:ext cx="731520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available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67060" y="3909060"/>
            <a:ext cx="6035040" cy="643532"/>
            <a:chOff x="0" y="0"/>
            <a:chExt cx="8046720" cy="8580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46720" cy="858043"/>
            </a:xfrm>
            <a:custGeom>
              <a:avLst/>
              <a:gdLst/>
              <a:ahLst/>
              <a:cxnLst/>
              <a:rect r="r" b="b" t="t" l="l"/>
              <a:pathLst>
                <a:path h="858043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8043"/>
                  </a:lnTo>
                  <a:lnTo>
                    <a:pt x="0" y="8580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431" r="0" b="-12002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76200"/>
              <a:ext cx="8046720" cy="934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</a:t>
              </a:r>
              <a:r>
                <a:rPr lang="en-US" sz="3199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uring a consultation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688955" y="4653915"/>
            <a:ext cx="6570345" cy="1088898"/>
            <a:chOff x="0" y="0"/>
            <a:chExt cx="8760460" cy="145186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688955" y="4653915"/>
            <a:ext cx="101346" cy="1088898"/>
            <a:chOff x="0" y="0"/>
            <a:chExt cx="135128" cy="14518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972800" y="4773168"/>
            <a:ext cx="5760720" cy="557138"/>
            <a:chOff x="0" y="0"/>
            <a:chExt cx="7680960" cy="74285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summary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0972800" y="5145405"/>
            <a:ext cx="679734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Consent-filtered context from past visits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0688955" y="5833491"/>
            <a:ext cx="6570345" cy="1088898"/>
            <a:chOff x="0" y="0"/>
            <a:chExt cx="8760460" cy="14518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688955" y="5833491"/>
            <a:ext cx="101346" cy="1088898"/>
            <a:chOff x="0" y="0"/>
            <a:chExt cx="135128" cy="14518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972800" y="5952744"/>
            <a:ext cx="5760720" cy="557138"/>
            <a:chOff x="0" y="0"/>
            <a:chExt cx="7680960" cy="74285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query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0972800" y="6324981"/>
            <a:ext cx="576072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 info for specific conditions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0688955" y="7013067"/>
            <a:ext cx="6570345" cy="1088898"/>
            <a:chOff x="0" y="0"/>
            <a:chExt cx="8760460" cy="14518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688955" y="7013067"/>
            <a:ext cx="101346" cy="1088898"/>
            <a:chOff x="0" y="0"/>
            <a:chExt cx="135128" cy="14518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972800" y="7132320"/>
            <a:ext cx="5760720" cy="557138"/>
            <a:chOff x="0" y="0"/>
            <a:chExt cx="7680960" cy="74285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Voice-to-notes</a:t>
              </a: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10972800" y="7504557"/>
            <a:ext cx="65836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Speech recognition → editable note draft</a:t>
            </a:r>
          </a:p>
        </p:txBody>
      </p:sp>
      <p:grpSp>
        <p:nvGrpSpPr>
          <p:cNvPr name="Group 111" id="111"/>
          <p:cNvGrpSpPr/>
          <p:nvPr/>
        </p:nvGrpSpPr>
        <p:grpSpPr>
          <a:xfrm rot="0">
            <a:off x="10688955" y="8192643"/>
            <a:ext cx="6570345" cy="1088898"/>
            <a:chOff x="0" y="0"/>
            <a:chExt cx="8760460" cy="145186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0688955" y="8192643"/>
            <a:ext cx="101346" cy="1088898"/>
            <a:chOff x="0" y="0"/>
            <a:chExt cx="135128" cy="14518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972800" y="8311896"/>
            <a:ext cx="5760720" cy="557138"/>
            <a:chOff x="0" y="0"/>
            <a:chExt cx="7680960" cy="74285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SOAP drafting</a:t>
              </a: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10972800" y="8684133"/>
            <a:ext cx="775622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Structured note generation, clinician edits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3" id="123"/>
          <p:cNvSpPr/>
          <p:nvPr/>
        </p:nvSpPr>
        <p:spPr>
          <a:xfrm flipH="false" flipV="false" rot="0">
            <a:off x="16931953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4" id="124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125" id="125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28" id="128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9" id="129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0" id="130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1" id="131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2" id="132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3" id="133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4" id="134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5" id="135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6" id="136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9" id="139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5" id="145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9" id="15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60" id="160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62" id="16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63" id="163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65" id="16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66" id="166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7" id="167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68" id="168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69" id="169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70" id="170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71" id="171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72" id="172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73" id="173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74" id="174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75" id="175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76" id="176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78" id="178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79" id="17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80" id="18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81" id="181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82" id="182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420380"/>
            <a:ext cx="16870680" cy="1450330"/>
            <a:chOff x="0" y="0"/>
            <a:chExt cx="2249424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94239" cy="1933773"/>
            </a:xfrm>
            <a:custGeom>
              <a:avLst/>
              <a:gdLst/>
              <a:ahLst/>
              <a:cxnLst/>
              <a:rect r="r" b="b" t="t" l="l"/>
              <a:pathLst>
                <a:path h="1933773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55" r="0" b="-15975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249424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402072"/>
            <a:ext cx="8797290" cy="1480947"/>
            <a:chOff x="0" y="0"/>
            <a:chExt cx="11729720" cy="1974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4683"/>
              <a:ext cx="11704320" cy="1945230"/>
            </a:xfrm>
            <a:custGeom>
              <a:avLst/>
              <a:gdLst/>
              <a:ahLst/>
              <a:cxnLst/>
              <a:rect r="r" b="b" t="t" l="l"/>
              <a:pathLst>
                <a:path h="194523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45230"/>
                  </a:lnTo>
                  <a:lnTo>
                    <a:pt x="0" y="1945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9720" cy="1974596"/>
            </a:xfrm>
            <a:custGeom>
              <a:avLst/>
              <a:gdLst/>
              <a:ahLst/>
              <a:cxnLst/>
              <a:rect r="r" b="b" t="t" l="l"/>
              <a:pathLst>
                <a:path h="1974596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607"/>
                    <a:pt x="11729720" y="14683"/>
                  </a:cubicBezTo>
                  <a:lnTo>
                    <a:pt x="11729720" y="1959913"/>
                  </a:lnTo>
                  <a:cubicBezTo>
                    <a:pt x="11729720" y="1967989"/>
                    <a:pt x="11724005" y="1974596"/>
                    <a:pt x="11717020" y="1974596"/>
                  </a:cubicBezTo>
                  <a:lnTo>
                    <a:pt x="12700" y="1974596"/>
                  </a:lnTo>
                  <a:cubicBezTo>
                    <a:pt x="5715" y="1974596"/>
                    <a:pt x="0" y="1967989"/>
                    <a:pt x="0" y="1959913"/>
                  </a:cubicBezTo>
                  <a:lnTo>
                    <a:pt x="0" y="14683"/>
                  </a:lnTo>
                  <a:cubicBezTo>
                    <a:pt x="0" y="6607"/>
                    <a:pt x="5715" y="0"/>
                    <a:pt x="12700" y="0"/>
                  </a:cubicBezTo>
                  <a:moveTo>
                    <a:pt x="12700" y="29366"/>
                  </a:moveTo>
                  <a:lnTo>
                    <a:pt x="12700" y="14683"/>
                  </a:lnTo>
                  <a:lnTo>
                    <a:pt x="25400" y="14683"/>
                  </a:lnTo>
                  <a:lnTo>
                    <a:pt x="25400" y="1959913"/>
                  </a:lnTo>
                  <a:lnTo>
                    <a:pt x="12700" y="1959913"/>
                  </a:lnTo>
                  <a:lnTo>
                    <a:pt x="12700" y="1945230"/>
                  </a:lnTo>
                  <a:lnTo>
                    <a:pt x="11717020" y="1945230"/>
                  </a:lnTo>
                  <a:lnTo>
                    <a:pt x="11717020" y="1959913"/>
                  </a:lnTo>
                  <a:lnTo>
                    <a:pt x="11704320" y="1959913"/>
                  </a:lnTo>
                  <a:lnTo>
                    <a:pt x="11704320" y="14683"/>
                  </a:lnTo>
                  <a:lnTo>
                    <a:pt x="11717020" y="14683"/>
                  </a:lnTo>
                  <a:lnTo>
                    <a:pt x="11717020" y="29366"/>
                  </a:lnTo>
                  <a:lnTo>
                    <a:pt x="12700" y="293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1600" y="2690108"/>
            <a:ext cx="704850" cy="704850"/>
            <a:chOff x="0" y="0"/>
            <a:chExt cx="939800" cy="93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2699252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41245" y="2486285"/>
            <a:ext cx="7269480" cy="681967"/>
            <a:chOff x="0" y="0"/>
            <a:chExt cx="9692640" cy="9092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92640" cy="909289"/>
            </a:xfrm>
            <a:custGeom>
              <a:avLst/>
              <a:gdLst/>
              <a:ahLst/>
              <a:cxnLst/>
              <a:rect r="r" b="b" t="t" l="l"/>
              <a:pathLst>
                <a:path h="9092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99" r="0" b="-1439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Find Doctor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41245" y="3080957"/>
            <a:ext cx="726948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Types sym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ptoms; AI maps to a speciality, shows verified doctors near them.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3947351"/>
            <a:ext cx="8797290" cy="1440180"/>
            <a:chOff x="0" y="0"/>
            <a:chExt cx="11729720" cy="1920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4279"/>
              <a:ext cx="11704320" cy="1891682"/>
            </a:xfrm>
            <a:custGeom>
              <a:avLst/>
              <a:gdLst/>
              <a:ahLst/>
              <a:cxnLst/>
              <a:rect r="r" b="b" t="t" l="l"/>
              <a:pathLst>
                <a:path h="189168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29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4235387"/>
            <a:ext cx="704850" cy="704850"/>
            <a:chOff x="0" y="0"/>
            <a:chExt cx="939800" cy="939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81125" y="4244912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41245" y="4031563"/>
            <a:ext cx="7269480" cy="681967"/>
            <a:chOff x="0" y="0"/>
            <a:chExt cx="9692640" cy="9092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92640" cy="909289"/>
            </a:xfrm>
            <a:custGeom>
              <a:avLst/>
              <a:gdLst/>
              <a:ahLst/>
              <a:cxnLst/>
              <a:rect r="r" b="b" t="t" l="l"/>
              <a:pathLst>
                <a:path h="9092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09289"/>
                  </a:lnTo>
                  <a:lnTo>
                    <a:pt x="0" y="9092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499" r="0" b="-1439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9692640" cy="975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 Booking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341245" y="4521137"/>
            <a:ext cx="726948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ees live slots via Supabase Realtime; soft hold prevents double-booking.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1028700" y="5442775"/>
            <a:ext cx="8797290" cy="1440180"/>
            <a:chOff x="0" y="0"/>
            <a:chExt cx="11729720" cy="1920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4279"/>
              <a:ext cx="11704320" cy="1891682"/>
            </a:xfrm>
            <a:custGeom>
              <a:avLst/>
              <a:gdLst/>
              <a:ahLst/>
              <a:cxnLst/>
              <a:rect r="r" b="b" t="t" l="l"/>
              <a:pathLst>
                <a:path h="189168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891682"/>
                  </a:lnTo>
                  <a:lnTo>
                    <a:pt x="0" y="18916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297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426"/>
                    <a:pt x="11729720" y="14279"/>
                  </a:cubicBezTo>
                  <a:lnTo>
                    <a:pt x="11729720" y="1905961"/>
                  </a:lnTo>
                  <a:cubicBezTo>
                    <a:pt x="11729720" y="1913814"/>
                    <a:pt x="11724005" y="1920240"/>
                    <a:pt x="11717020" y="1920240"/>
                  </a:cubicBezTo>
                  <a:lnTo>
                    <a:pt x="12700" y="1920240"/>
                  </a:lnTo>
                  <a:cubicBezTo>
                    <a:pt x="5715" y="1920240"/>
                    <a:pt x="0" y="1913814"/>
                    <a:pt x="0" y="1905961"/>
                  </a:cubicBezTo>
                  <a:lnTo>
                    <a:pt x="0" y="14279"/>
                  </a:lnTo>
                  <a:cubicBezTo>
                    <a:pt x="0" y="6426"/>
                    <a:pt x="5715" y="0"/>
                    <a:pt x="12700" y="0"/>
                  </a:cubicBezTo>
                  <a:moveTo>
                    <a:pt x="12700" y="28558"/>
                  </a:moveTo>
                  <a:lnTo>
                    <a:pt x="12700" y="14279"/>
                  </a:lnTo>
                  <a:lnTo>
                    <a:pt x="25400" y="14279"/>
                  </a:lnTo>
                  <a:lnTo>
                    <a:pt x="25400" y="1905961"/>
                  </a:lnTo>
                  <a:lnTo>
                    <a:pt x="12700" y="1905961"/>
                  </a:lnTo>
                  <a:lnTo>
                    <a:pt x="12700" y="1891682"/>
                  </a:lnTo>
                  <a:lnTo>
                    <a:pt x="11717020" y="1891682"/>
                  </a:lnTo>
                  <a:lnTo>
                    <a:pt x="11717020" y="1905961"/>
                  </a:lnTo>
                  <a:lnTo>
                    <a:pt x="11704320" y="1905961"/>
                  </a:lnTo>
                  <a:lnTo>
                    <a:pt x="11704320" y="14279"/>
                  </a:lnTo>
                  <a:lnTo>
                    <a:pt x="11717020" y="14279"/>
                  </a:lnTo>
                  <a:lnTo>
                    <a:pt x="11717020" y="28558"/>
                  </a:lnTo>
                  <a:lnTo>
                    <a:pt x="12700" y="28558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1600" y="5730812"/>
            <a:ext cx="704850" cy="704850"/>
            <a:chOff x="0" y="0"/>
            <a:chExt cx="939800" cy="939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81125" y="5740336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341245" y="5526988"/>
            <a:ext cx="7269480" cy="1196317"/>
            <a:chOff x="0" y="0"/>
            <a:chExt cx="9692640" cy="15950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1595089"/>
            </a:xfrm>
            <a:custGeom>
              <a:avLst/>
              <a:gdLst/>
              <a:ahLst/>
              <a:cxnLst/>
              <a:rect r="r" b="b" t="t" l="l"/>
              <a:pathLst>
                <a:path h="15950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595089"/>
                  </a:lnTo>
                  <a:lnTo>
                    <a:pt x="0" y="1595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764" r="0" b="-3903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692640" cy="166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onsult &amp; receive Rx</a:t>
              </a:r>
            </a:p>
            <a:p>
              <a:pPr algn="l">
                <a:lnSpc>
                  <a:spcPts val="40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341245" y="6016561"/>
            <a:ext cx="726948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tor writes a structured prescription. Patient sees it instantly inside the app.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1028700" y="6888604"/>
            <a:ext cx="8797290" cy="1478661"/>
            <a:chOff x="0" y="0"/>
            <a:chExt cx="11729720" cy="19715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4661"/>
              <a:ext cx="11704320" cy="1942227"/>
            </a:xfrm>
            <a:custGeom>
              <a:avLst/>
              <a:gdLst/>
              <a:ahLst/>
              <a:cxnLst/>
              <a:rect r="r" b="b" t="t" l="l"/>
              <a:pathLst>
                <a:path h="1942227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42226"/>
                  </a:lnTo>
                  <a:lnTo>
                    <a:pt x="0" y="1942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729720" cy="1971548"/>
            </a:xfrm>
            <a:custGeom>
              <a:avLst/>
              <a:gdLst/>
              <a:ahLst/>
              <a:cxnLst/>
              <a:rect r="r" b="b" t="t" l="l"/>
              <a:pathLst>
                <a:path h="1971548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597"/>
                    <a:pt x="11729720" y="14661"/>
                  </a:cubicBezTo>
                  <a:lnTo>
                    <a:pt x="11729720" y="1956887"/>
                  </a:lnTo>
                  <a:cubicBezTo>
                    <a:pt x="11729720" y="1964951"/>
                    <a:pt x="11724005" y="1971548"/>
                    <a:pt x="11717020" y="1971548"/>
                  </a:cubicBezTo>
                  <a:lnTo>
                    <a:pt x="12700" y="1971548"/>
                  </a:lnTo>
                  <a:cubicBezTo>
                    <a:pt x="5715" y="1971548"/>
                    <a:pt x="0" y="1964951"/>
                    <a:pt x="0" y="1956887"/>
                  </a:cubicBezTo>
                  <a:lnTo>
                    <a:pt x="0" y="14661"/>
                  </a:lnTo>
                  <a:cubicBezTo>
                    <a:pt x="0" y="6597"/>
                    <a:pt x="5715" y="0"/>
                    <a:pt x="12700" y="0"/>
                  </a:cubicBezTo>
                  <a:moveTo>
                    <a:pt x="12700" y="29321"/>
                  </a:moveTo>
                  <a:lnTo>
                    <a:pt x="12700" y="14661"/>
                  </a:lnTo>
                  <a:lnTo>
                    <a:pt x="25400" y="14661"/>
                  </a:lnTo>
                  <a:lnTo>
                    <a:pt x="25400" y="1956887"/>
                  </a:lnTo>
                  <a:lnTo>
                    <a:pt x="12700" y="1956887"/>
                  </a:lnTo>
                  <a:lnTo>
                    <a:pt x="12700" y="1942227"/>
                  </a:lnTo>
                  <a:lnTo>
                    <a:pt x="11717020" y="1942227"/>
                  </a:lnTo>
                  <a:lnTo>
                    <a:pt x="11717020" y="1956887"/>
                  </a:lnTo>
                  <a:lnTo>
                    <a:pt x="11704320" y="1956887"/>
                  </a:lnTo>
                  <a:lnTo>
                    <a:pt x="11704320" y="14661"/>
                  </a:lnTo>
                  <a:lnTo>
                    <a:pt x="11717020" y="14661"/>
                  </a:lnTo>
                  <a:lnTo>
                    <a:pt x="11717020" y="29321"/>
                  </a:lnTo>
                  <a:lnTo>
                    <a:pt x="12700" y="2932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71600" y="7176640"/>
            <a:ext cx="704850" cy="704850"/>
            <a:chOff x="0" y="0"/>
            <a:chExt cx="939800" cy="939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81125" y="7186165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341245" y="6973074"/>
            <a:ext cx="7269480" cy="1196317"/>
            <a:chOff x="0" y="0"/>
            <a:chExt cx="9692640" cy="159508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92640" cy="1595089"/>
            </a:xfrm>
            <a:custGeom>
              <a:avLst/>
              <a:gdLst/>
              <a:ahLst/>
              <a:cxnLst/>
              <a:rect r="r" b="b" t="t" l="l"/>
              <a:pathLst>
                <a:path h="15950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595089"/>
                  </a:lnTo>
                  <a:lnTo>
                    <a:pt x="0" y="1595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764" r="0" b="-3903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9692640" cy="166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</a:t>
              </a: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paper Rx</a:t>
              </a:r>
            </a:p>
            <a:p>
              <a:pPr algn="l">
                <a:lnSpc>
                  <a:spcPts val="40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341245" y="7462390"/>
            <a:ext cx="726948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Ol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 handwritten prescriptions photographed → OCR pipeline extracts medicines and dosages.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57" id="57"/>
          <p:cNvGrpSpPr/>
          <p:nvPr/>
        </p:nvGrpSpPr>
        <p:grpSpPr>
          <a:xfrm rot="0">
            <a:off x="1028700" y="8311896"/>
            <a:ext cx="8797290" cy="1484890"/>
            <a:chOff x="0" y="0"/>
            <a:chExt cx="11729720" cy="197985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2700" y="14722"/>
              <a:ext cx="11704320" cy="1950408"/>
            </a:xfrm>
            <a:custGeom>
              <a:avLst/>
              <a:gdLst/>
              <a:ahLst/>
              <a:cxnLst/>
              <a:rect r="r" b="b" t="t" l="l"/>
              <a:pathLst>
                <a:path h="1950408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950408"/>
                  </a:lnTo>
                  <a:lnTo>
                    <a:pt x="0" y="1950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729720" cy="1979853"/>
            </a:xfrm>
            <a:custGeom>
              <a:avLst/>
              <a:gdLst/>
              <a:ahLst/>
              <a:cxnLst/>
              <a:rect r="r" b="b" t="t" l="l"/>
              <a:pathLst>
                <a:path h="1979853" w="11729720">
                  <a:moveTo>
                    <a:pt x="12700" y="0"/>
                  </a:moveTo>
                  <a:lnTo>
                    <a:pt x="11717020" y="0"/>
                  </a:lnTo>
                  <a:cubicBezTo>
                    <a:pt x="11724005" y="0"/>
                    <a:pt x="11729720" y="6625"/>
                    <a:pt x="11729720" y="14722"/>
                  </a:cubicBezTo>
                  <a:lnTo>
                    <a:pt x="11729720" y="1965130"/>
                  </a:lnTo>
                  <a:cubicBezTo>
                    <a:pt x="11729720" y="1973228"/>
                    <a:pt x="11724005" y="1979853"/>
                    <a:pt x="11717020" y="1979853"/>
                  </a:cubicBezTo>
                  <a:lnTo>
                    <a:pt x="12700" y="1979853"/>
                  </a:lnTo>
                  <a:cubicBezTo>
                    <a:pt x="5715" y="1979853"/>
                    <a:pt x="0" y="1973228"/>
                    <a:pt x="0" y="1965130"/>
                  </a:cubicBezTo>
                  <a:lnTo>
                    <a:pt x="0" y="14722"/>
                  </a:lnTo>
                  <a:cubicBezTo>
                    <a:pt x="0" y="6625"/>
                    <a:pt x="5715" y="0"/>
                    <a:pt x="12700" y="0"/>
                  </a:cubicBezTo>
                  <a:moveTo>
                    <a:pt x="12700" y="29445"/>
                  </a:moveTo>
                  <a:lnTo>
                    <a:pt x="12700" y="14722"/>
                  </a:lnTo>
                  <a:lnTo>
                    <a:pt x="25400" y="14722"/>
                  </a:lnTo>
                  <a:lnTo>
                    <a:pt x="25400" y="1965130"/>
                  </a:lnTo>
                  <a:lnTo>
                    <a:pt x="12700" y="1965130"/>
                  </a:lnTo>
                  <a:lnTo>
                    <a:pt x="12700" y="1950408"/>
                  </a:lnTo>
                  <a:lnTo>
                    <a:pt x="11717020" y="1950408"/>
                  </a:lnTo>
                  <a:lnTo>
                    <a:pt x="11717020" y="1965130"/>
                  </a:lnTo>
                  <a:lnTo>
                    <a:pt x="11704320" y="1965130"/>
                  </a:lnTo>
                  <a:lnTo>
                    <a:pt x="11704320" y="14722"/>
                  </a:lnTo>
                  <a:lnTo>
                    <a:pt x="11717020" y="14722"/>
                  </a:lnTo>
                  <a:lnTo>
                    <a:pt x="11717020" y="29445"/>
                  </a:lnTo>
                  <a:lnTo>
                    <a:pt x="12700" y="2944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71600" y="8599932"/>
            <a:ext cx="704850" cy="704850"/>
            <a:chOff x="0" y="0"/>
            <a:chExt cx="939800" cy="939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469900" y="12700"/>
                  </a:lnTo>
                  <a:lnTo>
                    <a:pt x="469900" y="0"/>
                  </a:lnTo>
                  <a:cubicBezTo>
                    <a:pt x="729361" y="0"/>
                    <a:pt x="939800" y="210439"/>
                    <a:pt x="939800" y="469900"/>
                  </a:cubicBezTo>
                  <a:lnTo>
                    <a:pt x="927100" y="469900"/>
                  </a:lnTo>
                  <a:lnTo>
                    <a:pt x="939800" y="469900"/>
                  </a:lnTo>
                  <a:cubicBezTo>
                    <a:pt x="939800" y="729361"/>
                    <a:pt x="729361" y="939800"/>
                    <a:pt x="469900" y="939800"/>
                  </a:cubicBezTo>
                  <a:lnTo>
                    <a:pt x="469900" y="927100"/>
                  </a:ln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lnTo>
                    <a:pt x="12700" y="469900"/>
                  </a:lnTo>
                  <a:lnTo>
                    <a:pt x="23495" y="476631"/>
                  </a:lnTo>
                  <a:cubicBezTo>
                    <a:pt x="20447" y="481457"/>
                    <a:pt x="14732" y="483616"/>
                    <a:pt x="9271" y="482092"/>
                  </a:cubicBezTo>
                  <a:cubicBezTo>
                    <a:pt x="3810" y="480568"/>
                    <a:pt x="0" y="475615"/>
                    <a:pt x="0" y="469900"/>
                  </a:cubicBezTo>
                  <a:moveTo>
                    <a:pt x="25400" y="469900"/>
                  </a:moveTo>
                  <a:lnTo>
                    <a:pt x="12700" y="469900"/>
                  </a:lnTo>
                  <a:lnTo>
                    <a:pt x="1905" y="463169"/>
                  </a:lnTo>
                  <a:cubicBezTo>
                    <a:pt x="4953" y="458343"/>
                    <a:pt x="10668" y="456184"/>
                    <a:pt x="16129" y="457708"/>
                  </a:cubicBezTo>
                  <a:cubicBezTo>
                    <a:pt x="21590" y="459232"/>
                    <a:pt x="25400" y="464185"/>
                    <a:pt x="25400" y="469900"/>
                  </a:cubicBezTo>
                  <a:cubicBezTo>
                    <a:pt x="25400" y="715391"/>
                    <a:pt x="224409" y="914400"/>
                    <a:pt x="469900" y="914400"/>
                  </a:cubicBezTo>
                  <a:cubicBezTo>
                    <a:pt x="715391" y="914400"/>
                    <a:pt x="914400" y="715391"/>
                    <a:pt x="914400" y="469900"/>
                  </a:cubicBezTo>
                  <a:cubicBezTo>
                    <a:pt x="914400" y="224409"/>
                    <a:pt x="715391" y="25400"/>
                    <a:pt x="469900" y="25400"/>
                  </a:cubicBezTo>
                  <a:lnTo>
                    <a:pt x="469900" y="12700"/>
                  </a:lnTo>
                  <a:lnTo>
                    <a:pt x="469900" y="25400"/>
                  </a:lnTo>
                  <a:cubicBezTo>
                    <a:pt x="224409" y="25400"/>
                    <a:pt x="25400" y="224409"/>
                    <a:pt x="25400" y="4699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81125" y="8609457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9144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341245" y="8396109"/>
            <a:ext cx="7269480" cy="1196317"/>
            <a:chOff x="0" y="0"/>
            <a:chExt cx="9692640" cy="159508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92640" cy="1595089"/>
            </a:xfrm>
            <a:custGeom>
              <a:avLst/>
              <a:gdLst/>
              <a:ahLst/>
              <a:cxnLst/>
              <a:rect r="r" b="b" t="t" l="l"/>
              <a:pathLst>
                <a:path h="1595089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595089"/>
                  </a:lnTo>
                  <a:lnTo>
                    <a:pt x="0" y="1595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764" r="0" b="-3903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9692640" cy="166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Follow-up &amp; Cho</a:t>
              </a:r>
              <a:r>
                <a:rPr lang="en-US" b="true" sz="33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rui</a:t>
              </a:r>
            </a:p>
            <a:p>
              <a:pPr algn="l">
                <a:lnSpc>
                  <a:spcPts val="407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341245" y="8885682"/>
            <a:ext cx="726948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Smart reminders, adherence a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nalytics, ask Chorui to navigate or summarise.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70" id="70"/>
          <p:cNvGrpSpPr/>
          <p:nvPr/>
        </p:nvGrpSpPr>
        <p:grpSpPr>
          <a:xfrm rot="0">
            <a:off x="10405110" y="2702052"/>
            <a:ext cx="7151370" cy="6945630"/>
            <a:chOff x="0" y="0"/>
            <a:chExt cx="9535160" cy="9260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9509760" cy="9235440"/>
            </a:xfrm>
            <a:custGeom>
              <a:avLst/>
              <a:gdLst/>
              <a:ahLst/>
              <a:cxnLst/>
              <a:rect r="r" b="b" t="t" l="l"/>
              <a:pathLst>
                <a:path h="9235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235440"/>
                  </a:lnTo>
                  <a:lnTo>
                    <a:pt x="0" y="9235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535160" cy="9260840"/>
            </a:xfrm>
            <a:custGeom>
              <a:avLst/>
              <a:gdLst/>
              <a:ahLst/>
              <a:cxnLst/>
              <a:rect r="r" b="b" t="t" l="l"/>
              <a:pathLst>
                <a:path h="9260840" w="9535160">
                  <a:moveTo>
                    <a:pt x="12700" y="0"/>
                  </a:moveTo>
                  <a:lnTo>
                    <a:pt x="9522460" y="0"/>
                  </a:lnTo>
                  <a:cubicBezTo>
                    <a:pt x="9529445" y="0"/>
                    <a:pt x="9535160" y="5715"/>
                    <a:pt x="9535160" y="12700"/>
                  </a:cubicBezTo>
                  <a:lnTo>
                    <a:pt x="9535160" y="9248140"/>
                  </a:lnTo>
                  <a:cubicBezTo>
                    <a:pt x="9535160" y="9255125"/>
                    <a:pt x="9529445" y="9260840"/>
                    <a:pt x="9522460" y="9260840"/>
                  </a:cubicBezTo>
                  <a:lnTo>
                    <a:pt x="12700" y="9260840"/>
                  </a:lnTo>
                  <a:cubicBezTo>
                    <a:pt x="5715" y="9260840"/>
                    <a:pt x="0" y="9255125"/>
                    <a:pt x="0" y="92481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48140"/>
                  </a:lnTo>
                  <a:lnTo>
                    <a:pt x="12700" y="9248140"/>
                  </a:lnTo>
                  <a:lnTo>
                    <a:pt x="12700" y="9235440"/>
                  </a:lnTo>
                  <a:lnTo>
                    <a:pt x="9522460" y="9235440"/>
                  </a:lnTo>
                  <a:lnTo>
                    <a:pt x="9522460" y="9248140"/>
                  </a:lnTo>
                  <a:lnTo>
                    <a:pt x="9509760" y="9248140"/>
                  </a:lnTo>
                  <a:lnTo>
                    <a:pt x="9509760" y="12700"/>
                  </a:lnTo>
                  <a:lnTo>
                    <a:pt x="9522460" y="12700"/>
                  </a:lnTo>
                  <a:lnTo>
                    <a:pt x="95224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767060" y="3086100"/>
            <a:ext cx="685800" cy="685800"/>
            <a:chOff x="0" y="0"/>
            <a:chExt cx="914400" cy="91440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719560" y="3099435"/>
            <a:ext cx="5486400" cy="822960"/>
            <a:chOff x="0" y="0"/>
            <a:chExt cx="731520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85725"/>
              <a:ext cx="731520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b="true" sz="35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available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67060" y="3909060"/>
            <a:ext cx="6035040" cy="643532"/>
            <a:chOff x="0" y="0"/>
            <a:chExt cx="8046720" cy="8580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046720" cy="858043"/>
            </a:xfrm>
            <a:custGeom>
              <a:avLst/>
              <a:gdLst/>
              <a:ahLst/>
              <a:cxnLst/>
              <a:rect r="r" b="b" t="t" l="l"/>
              <a:pathLst>
                <a:path h="858043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858043"/>
                  </a:lnTo>
                  <a:lnTo>
                    <a:pt x="0" y="8580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431" r="0" b="-12002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76200"/>
              <a:ext cx="8046720" cy="934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Before &amp; After Consultation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688955" y="4653915"/>
            <a:ext cx="6570345" cy="1088898"/>
            <a:chOff x="0" y="0"/>
            <a:chExt cx="8760460" cy="145186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688955" y="4653915"/>
            <a:ext cx="101346" cy="1088898"/>
            <a:chOff x="0" y="0"/>
            <a:chExt cx="135128" cy="14518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0972800" y="4773168"/>
            <a:ext cx="5760720" cy="557138"/>
            <a:chOff x="0" y="0"/>
            <a:chExt cx="7680960" cy="74285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Chorui AI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0972800" y="5145405"/>
            <a:ext cx="679734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Ask Personal queries on consent basis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0688955" y="5833491"/>
            <a:ext cx="6570345" cy="1088898"/>
            <a:chOff x="0" y="0"/>
            <a:chExt cx="8760460" cy="14518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688955" y="5833491"/>
            <a:ext cx="101346" cy="1088898"/>
            <a:chOff x="0" y="0"/>
            <a:chExt cx="135128" cy="145186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972800" y="5952744"/>
            <a:ext cx="5760720" cy="557138"/>
            <a:chOff x="0" y="0"/>
            <a:chExt cx="7680960" cy="74285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based Health Analytics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0972800" y="6324981"/>
            <a:ext cx="679734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Health score based on many health metrics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0688955" y="7013067"/>
            <a:ext cx="6570345" cy="1088898"/>
            <a:chOff x="0" y="0"/>
            <a:chExt cx="8760460" cy="14518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688955" y="7013067"/>
            <a:ext cx="101346" cy="1088898"/>
            <a:chOff x="0" y="0"/>
            <a:chExt cx="135128" cy="14518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972800" y="7132320"/>
            <a:ext cx="5760720" cy="557138"/>
            <a:chOff x="0" y="0"/>
            <a:chExt cx="7680960" cy="74285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Based Doctor Searching</a:t>
              </a: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10972800" y="7504557"/>
            <a:ext cx="65836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Voice + Text → Ranked Doctor matching</a:t>
            </a:r>
          </a:p>
        </p:txBody>
      </p:sp>
      <p:grpSp>
        <p:nvGrpSpPr>
          <p:cNvPr name="Group 111" id="111"/>
          <p:cNvGrpSpPr/>
          <p:nvPr/>
        </p:nvGrpSpPr>
        <p:grpSpPr>
          <a:xfrm rot="0">
            <a:off x="10688955" y="8192643"/>
            <a:ext cx="6570345" cy="1088898"/>
            <a:chOff x="0" y="0"/>
            <a:chExt cx="8760460" cy="145186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13478" y="12700"/>
              <a:ext cx="8733505" cy="1426464"/>
            </a:xfrm>
            <a:custGeom>
              <a:avLst/>
              <a:gdLst/>
              <a:ahLst/>
              <a:cxnLst/>
              <a:rect r="r" b="b" t="t" l="l"/>
              <a:pathLst>
                <a:path h="1426464" w="8733505">
                  <a:moveTo>
                    <a:pt x="0" y="0"/>
                  </a:moveTo>
                  <a:lnTo>
                    <a:pt x="8733504" y="0"/>
                  </a:lnTo>
                  <a:lnTo>
                    <a:pt x="8733504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760460" cy="1451864"/>
            </a:xfrm>
            <a:custGeom>
              <a:avLst/>
              <a:gdLst/>
              <a:ahLst/>
              <a:cxnLst/>
              <a:rect r="r" b="b" t="t" l="l"/>
              <a:pathLst>
                <a:path h="1451864" w="8760460">
                  <a:moveTo>
                    <a:pt x="13478" y="0"/>
                  </a:moveTo>
                  <a:lnTo>
                    <a:pt x="8746982" y="0"/>
                  </a:lnTo>
                  <a:cubicBezTo>
                    <a:pt x="8754395" y="0"/>
                    <a:pt x="8760460" y="5715"/>
                    <a:pt x="8760460" y="12700"/>
                  </a:cubicBezTo>
                  <a:lnTo>
                    <a:pt x="8760460" y="1439164"/>
                  </a:lnTo>
                  <a:cubicBezTo>
                    <a:pt x="8760460" y="1446149"/>
                    <a:pt x="8754395" y="1451864"/>
                    <a:pt x="8746982" y="1451864"/>
                  </a:cubicBezTo>
                  <a:lnTo>
                    <a:pt x="13478" y="1451864"/>
                  </a:lnTo>
                  <a:cubicBezTo>
                    <a:pt x="606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6065" y="0"/>
                    <a:pt x="13478" y="0"/>
                  </a:cubicBezTo>
                  <a:moveTo>
                    <a:pt x="13478" y="25400"/>
                  </a:moveTo>
                  <a:lnTo>
                    <a:pt x="13478" y="12700"/>
                  </a:lnTo>
                  <a:lnTo>
                    <a:pt x="26955" y="12700"/>
                  </a:lnTo>
                  <a:lnTo>
                    <a:pt x="26955" y="1439164"/>
                  </a:lnTo>
                  <a:lnTo>
                    <a:pt x="13478" y="1439164"/>
                  </a:lnTo>
                  <a:lnTo>
                    <a:pt x="13478" y="1426464"/>
                  </a:lnTo>
                  <a:lnTo>
                    <a:pt x="8746982" y="1426464"/>
                  </a:lnTo>
                  <a:lnTo>
                    <a:pt x="8746982" y="1439164"/>
                  </a:lnTo>
                  <a:lnTo>
                    <a:pt x="8733505" y="1439164"/>
                  </a:lnTo>
                  <a:lnTo>
                    <a:pt x="8733505" y="12700"/>
                  </a:lnTo>
                  <a:lnTo>
                    <a:pt x="8746982" y="12700"/>
                  </a:lnTo>
                  <a:lnTo>
                    <a:pt x="8746982" y="25400"/>
                  </a:lnTo>
                  <a:lnTo>
                    <a:pt x="13478" y="2540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0688955" y="8192643"/>
            <a:ext cx="101346" cy="1088898"/>
            <a:chOff x="0" y="0"/>
            <a:chExt cx="135128" cy="14518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2700" y="12700"/>
              <a:ext cx="109728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426464"/>
                  </a:lnTo>
                  <a:lnTo>
                    <a:pt x="0" y="1426464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35128" cy="1451864"/>
            </a:xfrm>
            <a:custGeom>
              <a:avLst/>
              <a:gdLst/>
              <a:ahLst/>
              <a:cxnLst/>
              <a:rect r="r" b="b" t="t" l="l"/>
              <a:pathLst>
                <a:path h="1451864" w="135128">
                  <a:moveTo>
                    <a:pt x="12700" y="0"/>
                  </a:moveTo>
                  <a:lnTo>
                    <a:pt x="122428" y="0"/>
                  </a:lnTo>
                  <a:cubicBezTo>
                    <a:pt x="129413" y="0"/>
                    <a:pt x="135128" y="5715"/>
                    <a:pt x="135128" y="12700"/>
                  </a:cubicBezTo>
                  <a:lnTo>
                    <a:pt x="135128" y="1439164"/>
                  </a:lnTo>
                  <a:cubicBezTo>
                    <a:pt x="135128" y="1446149"/>
                    <a:pt x="129413" y="1451864"/>
                    <a:pt x="122428" y="1451864"/>
                  </a:cubicBezTo>
                  <a:lnTo>
                    <a:pt x="12700" y="1451864"/>
                  </a:lnTo>
                  <a:cubicBezTo>
                    <a:pt x="5715" y="1451864"/>
                    <a:pt x="0" y="1446149"/>
                    <a:pt x="0" y="143916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439164"/>
                  </a:lnTo>
                  <a:lnTo>
                    <a:pt x="12700" y="1439164"/>
                  </a:lnTo>
                  <a:lnTo>
                    <a:pt x="12700" y="1426464"/>
                  </a:lnTo>
                  <a:lnTo>
                    <a:pt x="122428" y="1426464"/>
                  </a:lnTo>
                  <a:lnTo>
                    <a:pt x="122428" y="1439164"/>
                  </a:lnTo>
                  <a:lnTo>
                    <a:pt x="109728" y="1439164"/>
                  </a:lnTo>
                  <a:lnTo>
                    <a:pt x="109728" y="12700"/>
                  </a:lnTo>
                  <a:lnTo>
                    <a:pt x="122428" y="12700"/>
                  </a:lnTo>
                  <a:lnTo>
                    <a:pt x="1224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972800" y="8311896"/>
            <a:ext cx="5760720" cy="557138"/>
            <a:chOff x="0" y="0"/>
            <a:chExt cx="7680960" cy="74285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680960" cy="742851"/>
            </a:xfrm>
            <a:custGeom>
              <a:avLst/>
              <a:gdLst/>
              <a:ahLst/>
              <a:cxnLst/>
              <a:rect r="r" b="b" t="t" l="l"/>
              <a:pathLst>
                <a:path h="742851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082" r="0" b="-14086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768096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 Summarization</a:t>
              </a: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10972800" y="8684133"/>
            <a:ext cx="775622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Prescription summary in voice+text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3" id="123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4" id="124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125" id="125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28" id="128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9" id="129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0" id="130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1" id="131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2" id="132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3" id="133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4" id="134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5" id="135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6" id="136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9" id="139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5" id="145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7" id="157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9" id="15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60" id="160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61" id="16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62" id="16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63" id="163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64" id="16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65" id="16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66" id="166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7" id="167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68" id="168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69" id="169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70" id="170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71" id="171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72" id="172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73" id="173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74" id="174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75" id="175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76" id="176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78" id="178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79" id="17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80" id="18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81" id="181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82" id="182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6710" y="2358390"/>
            <a:ext cx="2598420" cy="1226820"/>
            <a:chOff x="0" y="0"/>
            <a:chExt cx="3464560" cy="163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4560" cy="1635760"/>
            </a:xfrm>
            <a:custGeom>
              <a:avLst/>
              <a:gdLst/>
              <a:ahLst/>
              <a:cxnLst/>
              <a:rect r="r" b="b" t="t" l="l"/>
              <a:pathLst>
                <a:path h="1635760" w="3464560">
                  <a:moveTo>
                    <a:pt x="25400" y="0"/>
                  </a:moveTo>
                  <a:lnTo>
                    <a:pt x="3439160" y="0"/>
                  </a:lnTo>
                  <a:cubicBezTo>
                    <a:pt x="3453130" y="0"/>
                    <a:pt x="3464560" y="11430"/>
                    <a:pt x="3464560" y="25400"/>
                  </a:cubicBezTo>
                  <a:lnTo>
                    <a:pt x="3464560" y="1610360"/>
                  </a:lnTo>
                  <a:cubicBezTo>
                    <a:pt x="3464560" y="1624330"/>
                    <a:pt x="3453130" y="1635760"/>
                    <a:pt x="343916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3439160" y="1584960"/>
                  </a:lnTo>
                  <a:lnTo>
                    <a:pt x="3439160" y="1610360"/>
                  </a:lnTo>
                  <a:lnTo>
                    <a:pt x="3413760" y="1610360"/>
                  </a:lnTo>
                  <a:lnTo>
                    <a:pt x="3413760" y="25400"/>
                  </a:lnTo>
                  <a:lnTo>
                    <a:pt x="3439160" y="25400"/>
                  </a:lnTo>
                  <a:lnTo>
                    <a:pt x="3439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4810" y="2400300"/>
            <a:ext cx="2560320" cy="1188720"/>
            <a:chOff x="0" y="0"/>
            <a:chExt cx="3413760" cy="158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4137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6710" y="3912870"/>
            <a:ext cx="2598420" cy="1226820"/>
            <a:chOff x="0" y="0"/>
            <a:chExt cx="3464560" cy="1635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2540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64560" cy="1635760"/>
            </a:xfrm>
            <a:custGeom>
              <a:avLst/>
              <a:gdLst/>
              <a:ahLst/>
              <a:cxnLst/>
              <a:rect r="r" b="b" t="t" l="l"/>
              <a:pathLst>
                <a:path h="1635760" w="3464560">
                  <a:moveTo>
                    <a:pt x="25400" y="0"/>
                  </a:moveTo>
                  <a:lnTo>
                    <a:pt x="3439160" y="0"/>
                  </a:lnTo>
                  <a:cubicBezTo>
                    <a:pt x="3453130" y="0"/>
                    <a:pt x="3464560" y="11430"/>
                    <a:pt x="3464560" y="25400"/>
                  </a:cubicBezTo>
                  <a:lnTo>
                    <a:pt x="3464560" y="1610360"/>
                  </a:lnTo>
                  <a:cubicBezTo>
                    <a:pt x="3464560" y="1624330"/>
                    <a:pt x="3453130" y="1635760"/>
                    <a:pt x="343916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3439160" y="1584960"/>
                  </a:lnTo>
                  <a:lnTo>
                    <a:pt x="3439160" y="1610360"/>
                  </a:lnTo>
                  <a:lnTo>
                    <a:pt x="3413760" y="1610360"/>
                  </a:lnTo>
                  <a:lnTo>
                    <a:pt x="3413760" y="25400"/>
                  </a:lnTo>
                  <a:lnTo>
                    <a:pt x="3439160" y="25400"/>
                  </a:lnTo>
                  <a:lnTo>
                    <a:pt x="3439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84810" y="3931920"/>
            <a:ext cx="2560320" cy="1188720"/>
            <a:chOff x="0" y="0"/>
            <a:chExt cx="3413760" cy="158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4137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6710" y="5467350"/>
            <a:ext cx="2598420" cy="1226820"/>
            <a:chOff x="0" y="0"/>
            <a:chExt cx="3464560" cy="1635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64560" cy="1635760"/>
            </a:xfrm>
            <a:custGeom>
              <a:avLst/>
              <a:gdLst/>
              <a:ahLst/>
              <a:cxnLst/>
              <a:rect r="r" b="b" t="t" l="l"/>
              <a:pathLst>
                <a:path h="1635760" w="3464560">
                  <a:moveTo>
                    <a:pt x="25400" y="0"/>
                  </a:moveTo>
                  <a:lnTo>
                    <a:pt x="3439160" y="0"/>
                  </a:lnTo>
                  <a:cubicBezTo>
                    <a:pt x="3453130" y="0"/>
                    <a:pt x="3464560" y="11430"/>
                    <a:pt x="3464560" y="25400"/>
                  </a:cubicBezTo>
                  <a:lnTo>
                    <a:pt x="3464560" y="1610360"/>
                  </a:lnTo>
                  <a:cubicBezTo>
                    <a:pt x="3464560" y="1624330"/>
                    <a:pt x="3453130" y="1635760"/>
                    <a:pt x="343916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3439160" y="1584960"/>
                  </a:lnTo>
                  <a:lnTo>
                    <a:pt x="3439160" y="1610360"/>
                  </a:lnTo>
                  <a:lnTo>
                    <a:pt x="3413760" y="1610360"/>
                  </a:lnTo>
                  <a:lnTo>
                    <a:pt x="3413760" y="25400"/>
                  </a:lnTo>
                  <a:lnTo>
                    <a:pt x="3439160" y="25400"/>
                  </a:lnTo>
                  <a:lnTo>
                    <a:pt x="3439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4810" y="5505450"/>
            <a:ext cx="2560320" cy="1188720"/>
            <a:chOff x="0" y="0"/>
            <a:chExt cx="341376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13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69" t="0" r="-9569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41376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992117" y="2955541"/>
            <a:ext cx="965197" cy="910333"/>
            <a:chOff x="0" y="0"/>
            <a:chExt cx="1286929" cy="121377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0668" y="9144"/>
              <a:ext cx="1265555" cy="1195451"/>
            </a:xfrm>
            <a:custGeom>
              <a:avLst/>
              <a:gdLst/>
              <a:ahLst/>
              <a:cxnLst/>
              <a:rect r="r" b="b" t="t" l="l"/>
              <a:pathLst>
                <a:path h="1195451" w="1265555">
                  <a:moveTo>
                    <a:pt x="46355" y="0"/>
                  </a:moveTo>
                  <a:lnTo>
                    <a:pt x="1265555" y="1146048"/>
                  </a:lnTo>
                  <a:lnTo>
                    <a:pt x="1219200" y="1195451"/>
                  </a:lnTo>
                  <a:lnTo>
                    <a:pt x="0" y="4940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906517" y="2352037"/>
            <a:ext cx="3708397" cy="4257037"/>
            <a:chOff x="0" y="0"/>
            <a:chExt cx="4944529" cy="56760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33909" y="33909"/>
              <a:ext cx="4876800" cy="5608320"/>
            </a:xfrm>
            <a:custGeom>
              <a:avLst/>
              <a:gdLst/>
              <a:ahLst/>
              <a:cxnLst/>
              <a:rect r="r" b="b" t="t" l="l"/>
              <a:pathLst>
                <a:path h="56083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44618" cy="5676138"/>
            </a:xfrm>
            <a:custGeom>
              <a:avLst/>
              <a:gdLst/>
              <a:ahLst/>
              <a:cxnLst/>
              <a:rect r="r" b="b" t="t" l="l"/>
              <a:pathLst>
                <a:path h="5676138" w="4944618">
                  <a:moveTo>
                    <a:pt x="33909" y="0"/>
                  </a:moveTo>
                  <a:lnTo>
                    <a:pt x="4910709" y="0"/>
                  </a:lnTo>
                  <a:cubicBezTo>
                    <a:pt x="4929378" y="0"/>
                    <a:pt x="4944618" y="15113"/>
                    <a:pt x="4944618" y="33909"/>
                  </a:cubicBezTo>
                  <a:lnTo>
                    <a:pt x="4944618" y="5642229"/>
                  </a:lnTo>
                  <a:cubicBezTo>
                    <a:pt x="4944618" y="5660898"/>
                    <a:pt x="4929505" y="5676138"/>
                    <a:pt x="4910709" y="5676138"/>
                  </a:cubicBezTo>
                  <a:lnTo>
                    <a:pt x="33909" y="5676138"/>
                  </a:lnTo>
                  <a:cubicBezTo>
                    <a:pt x="15240" y="5676138"/>
                    <a:pt x="0" y="5661025"/>
                    <a:pt x="0" y="564222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5642229"/>
                  </a:lnTo>
                  <a:lnTo>
                    <a:pt x="33909" y="5642229"/>
                  </a:lnTo>
                  <a:lnTo>
                    <a:pt x="33909" y="5608320"/>
                  </a:lnTo>
                  <a:lnTo>
                    <a:pt x="4910709" y="5608320"/>
                  </a:lnTo>
                  <a:lnTo>
                    <a:pt x="4910709" y="5642229"/>
                  </a:lnTo>
                  <a:lnTo>
                    <a:pt x="4876800" y="5642229"/>
                  </a:lnTo>
                  <a:lnTo>
                    <a:pt x="4876800" y="33909"/>
                  </a:lnTo>
                  <a:lnTo>
                    <a:pt x="4910709" y="33909"/>
                  </a:lnTo>
                  <a:lnTo>
                    <a:pt x="49107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906517" y="2827042"/>
            <a:ext cx="3474720" cy="3253718"/>
            <a:chOff x="0" y="0"/>
            <a:chExt cx="4632960" cy="43382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32960" cy="4338290"/>
            </a:xfrm>
            <a:custGeom>
              <a:avLst/>
              <a:gdLst/>
              <a:ahLst/>
              <a:cxnLst/>
              <a:rect r="r" b="b" t="t" l="l"/>
              <a:pathLst>
                <a:path h="433829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38290"/>
                  </a:lnTo>
                  <a:lnTo>
                    <a:pt x="0" y="43382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562" t="0" r="-98562" b="-236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4632960" cy="440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Router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 Actions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shadcn/ui + i18n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Serwist PWA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89520" y="3566160"/>
            <a:ext cx="1097280" cy="548640"/>
            <a:chOff x="0" y="0"/>
            <a:chExt cx="146304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463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64117" y="4089397"/>
            <a:ext cx="1148077" cy="50797"/>
            <a:chOff x="0" y="0"/>
            <a:chExt cx="1530769" cy="6772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33909" y="0"/>
              <a:ext cx="1463040" cy="67691"/>
            </a:xfrm>
            <a:custGeom>
              <a:avLst/>
              <a:gdLst/>
              <a:ahLst/>
              <a:cxnLst/>
              <a:rect r="r" b="b" t="t" l="l"/>
              <a:pathLst>
                <a:path h="6769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661397" y="1986277"/>
            <a:ext cx="4366264" cy="4988557"/>
            <a:chOff x="0" y="0"/>
            <a:chExt cx="5821685" cy="66514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36340" y="33909"/>
              <a:ext cx="57491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5749100">
                  <a:moveTo>
                    <a:pt x="0" y="0"/>
                  </a:moveTo>
                  <a:lnTo>
                    <a:pt x="5749100" y="0"/>
                  </a:lnTo>
                  <a:lnTo>
                    <a:pt x="5749100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21774" cy="6651499"/>
            </a:xfrm>
            <a:custGeom>
              <a:avLst/>
              <a:gdLst/>
              <a:ahLst/>
              <a:cxnLst/>
              <a:rect r="r" b="b" t="t" l="l"/>
              <a:pathLst>
                <a:path h="6651499" w="5821774">
                  <a:moveTo>
                    <a:pt x="36340" y="0"/>
                  </a:moveTo>
                  <a:lnTo>
                    <a:pt x="5785440" y="0"/>
                  </a:lnTo>
                  <a:cubicBezTo>
                    <a:pt x="5805448" y="0"/>
                    <a:pt x="5821774" y="15113"/>
                    <a:pt x="5821774" y="33909"/>
                  </a:cubicBezTo>
                  <a:lnTo>
                    <a:pt x="5821774" y="6617589"/>
                  </a:lnTo>
                  <a:cubicBezTo>
                    <a:pt x="5821774" y="6636258"/>
                    <a:pt x="5805584" y="6651499"/>
                    <a:pt x="5785440" y="6651499"/>
                  </a:cubicBezTo>
                  <a:lnTo>
                    <a:pt x="36340" y="6651499"/>
                  </a:lnTo>
                  <a:cubicBezTo>
                    <a:pt x="16333" y="6651499"/>
                    <a:pt x="0" y="6636386"/>
                    <a:pt x="0" y="6617589"/>
                  </a:cubicBezTo>
                  <a:lnTo>
                    <a:pt x="0" y="33909"/>
                  </a:lnTo>
                  <a:cubicBezTo>
                    <a:pt x="0" y="15113"/>
                    <a:pt x="16197" y="0"/>
                    <a:pt x="36340" y="0"/>
                  </a:cubicBezTo>
                  <a:moveTo>
                    <a:pt x="36340" y="67691"/>
                  </a:moveTo>
                  <a:lnTo>
                    <a:pt x="36340" y="33909"/>
                  </a:lnTo>
                  <a:lnTo>
                    <a:pt x="72544" y="33909"/>
                  </a:lnTo>
                  <a:lnTo>
                    <a:pt x="72544" y="6617589"/>
                  </a:lnTo>
                  <a:lnTo>
                    <a:pt x="36340" y="6617589"/>
                  </a:lnTo>
                  <a:lnTo>
                    <a:pt x="36340" y="6583680"/>
                  </a:lnTo>
                  <a:lnTo>
                    <a:pt x="5785440" y="6583680"/>
                  </a:lnTo>
                  <a:lnTo>
                    <a:pt x="5785440" y="6617589"/>
                  </a:lnTo>
                  <a:lnTo>
                    <a:pt x="5749100" y="6617589"/>
                  </a:lnTo>
                  <a:lnTo>
                    <a:pt x="5749100" y="33909"/>
                  </a:lnTo>
                  <a:lnTo>
                    <a:pt x="5785440" y="33909"/>
                  </a:lnTo>
                  <a:lnTo>
                    <a:pt x="5785440" y="67691"/>
                  </a:lnTo>
                  <a:lnTo>
                    <a:pt x="36340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759819" y="1907530"/>
            <a:ext cx="4450722" cy="4638037"/>
            <a:chOff x="0" y="0"/>
            <a:chExt cx="5934296" cy="618404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34296" cy="6184049"/>
            </a:xfrm>
            <a:custGeom>
              <a:avLst/>
              <a:gdLst/>
              <a:ahLst/>
              <a:cxnLst/>
              <a:rect r="r" b="b" t="t" l="l"/>
              <a:pathLst>
                <a:path h="6184049" w="5934296">
                  <a:moveTo>
                    <a:pt x="0" y="0"/>
                  </a:moveTo>
                  <a:lnTo>
                    <a:pt x="5934296" y="0"/>
                  </a:lnTo>
                  <a:lnTo>
                    <a:pt x="5934296" y="6184049"/>
                  </a:lnTo>
                  <a:lnTo>
                    <a:pt x="0" y="61840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927" t="0" r="-80216" b="-25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5934296" cy="62507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 route modules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194 endpoints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service modules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SQLAlchemy 2</a:t>
              </a:r>
            </a:p>
            <a:p>
              <a:pPr algn="l" marL="734059" indent="-367030" lvl="1">
                <a:lnSpc>
                  <a:spcPts val="4079"/>
                </a:lnSpc>
                <a:buFont typeface="Arial"/>
                <a:buChar char="•"/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41 models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82037" y="2169157"/>
            <a:ext cx="4157244" cy="2062477"/>
            <a:chOff x="0" y="0"/>
            <a:chExt cx="5542992" cy="27499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34601" y="33909"/>
              <a:ext cx="5473881" cy="2682240"/>
            </a:xfrm>
            <a:custGeom>
              <a:avLst/>
              <a:gdLst/>
              <a:ahLst/>
              <a:cxnLst/>
              <a:rect r="r" b="b" t="t" l="l"/>
              <a:pathLst>
                <a:path h="2682240" w="5473881">
                  <a:moveTo>
                    <a:pt x="0" y="0"/>
                  </a:moveTo>
                  <a:lnTo>
                    <a:pt x="5473881" y="0"/>
                  </a:lnTo>
                  <a:lnTo>
                    <a:pt x="5473881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43081" cy="2750058"/>
            </a:xfrm>
            <a:custGeom>
              <a:avLst/>
              <a:gdLst/>
              <a:ahLst/>
              <a:cxnLst/>
              <a:rect r="r" b="b" t="t" l="l"/>
              <a:pathLst>
                <a:path h="2750058" w="5543081">
                  <a:moveTo>
                    <a:pt x="34601" y="0"/>
                  </a:moveTo>
                  <a:lnTo>
                    <a:pt x="5508482" y="0"/>
                  </a:lnTo>
                  <a:cubicBezTo>
                    <a:pt x="5527532" y="0"/>
                    <a:pt x="5543081" y="15113"/>
                    <a:pt x="5543081" y="33909"/>
                  </a:cubicBezTo>
                  <a:lnTo>
                    <a:pt x="5543081" y="2716149"/>
                  </a:lnTo>
                  <a:cubicBezTo>
                    <a:pt x="5543081" y="2734818"/>
                    <a:pt x="5527661" y="2750058"/>
                    <a:pt x="5508482" y="2750058"/>
                  </a:cubicBezTo>
                  <a:lnTo>
                    <a:pt x="34601" y="2750058"/>
                  </a:lnTo>
                  <a:cubicBezTo>
                    <a:pt x="15551" y="2750058"/>
                    <a:pt x="0" y="2734945"/>
                    <a:pt x="0" y="2716149"/>
                  </a:cubicBezTo>
                  <a:lnTo>
                    <a:pt x="0" y="33909"/>
                  </a:lnTo>
                  <a:cubicBezTo>
                    <a:pt x="0" y="15113"/>
                    <a:pt x="15421" y="0"/>
                    <a:pt x="34601" y="0"/>
                  </a:cubicBezTo>
                  <a:moveTo>
                    <a:pt x="34601" y="67691"/>
                  </a:moveTo>
                  <a:lnTo>
                    <a:pt x="34601" y="33909"/>
                  </a:lnTo>
                  <a:lnTo>
                    <a:pt x="69071" y="33909"/>
                  </a:lnTo>
                  <a:lnTo>
                    <a:pt x="69071" y="2716149"/>
                  </a:lnTo>
                  <a:lnTo>
                    <a:pt x="34601" y="2716149"/>
                  </a:lnTo>
                  <a:lnTo>
                    <a:pt x="34601" y="2682240"/>
                  </a:lnTo>
                  <a:lnTo>
                    <a:pt x="5508482" y="2682240"/>
                  </a:lnTo>
                  <a:lnTo>
                    <a:pt x="5508482" y="2716149"/>
                  </a:lnTo>
                  <a:lnTo>
                    <a:pt x="5473881" y="2716149"/>
                  </a:lnTo>
                  <a:lnTo>
                    <a:pt x="5473881" y="33909"/>
                  </a:lnTo>
                  <a:lnTo>
                    <a:pt x="5508482" y="33909"/>
                  </a:lnTo>
                  <a:lnTo>
                    <a:pt x="5508482" y="67691"/>
                  </a:lnTo>
                  <a:lnTo>
                    <a:pt x="34601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843182" y="2240275"/>
            <a:ext cx="4240321" cy="1920240"/>
            <a:chOff x="0" y="0"/>
            <a:chExt cx="5653762" cy="25603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53762" cy="2560320"/>
            </a:xfrm>
            <a:custGeom>
              <a:avLst/>
              <a:gdLst/>
              <a:ahLst/>
              <a:cxnLst/>
              <a:rect r="r" b="b" t="t" l="l"/>
              <a:pathLst>
                <a:path h="2560320" w="5653762">
                  <a:moveTo>
                    <a:pt x="0" y="0"/>
                  </a:moveTo>
                  <a:lnTo>
                    <a:pt x="5653762" y="0"/>
                  </a:lnTo>
                  <a:lnTo>
                    <a:pt x="5653762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817" t="0" r="-338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653762" cy="2617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</a:p>
            <a:p>
              <a:pPr algn="l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YOLO + Azure DI</a:t>
              </a:r>
            </a:p>
            <a:p>
              <a:pPr algn="l" marL="690881" indent="-345440" lvl="1">
                <a:lnSpc>
                  <a:spcPts val="3840"/>
                </a:lnSpc>
                <a:buFont typeface="Arial"/>
                <a:buChar char="•"/>
              </a:pPr>
              <a:r>
                <a:rPr lang="en-US" sz="32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PaddleOCR fallback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82037" y="4546597"/>
            <a:ext cx="4157244" cy="1879597"/>
            <a:chOff x="0" y="0"/>
            <a:chExt cx="5542992" cy="250612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34601" y="33909"/>
              <a:ext cx="5473881" cy="2438400"/>
            </a:xfrm>
            <a:custGeom>
              <a:avLst/>
              <a:gdLst/>
              <a:ahLst/>
              <a:cxnLst/>
              <a:rect r="r" b="b" t="t" l="l"/>
              <a:pathLst>
                <a:path h="2438400" w="5473881">
                  <a:moveTo>
                    <a:pt x="0" y="0"/>
                  </a:moveTo>
                  <a:lnTo>
                    <a:pt x="5473881" y="0"/>
                  </a:lnTo>
                  <a:lnTo>
                    <a:pt x="547388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543081" cy="2506218"/>
            </a:xfrm>
            <a:custGeom>
              <a:avLst/>
              <a:gdLst/>
              <a:ahLst/>
              <a:cxnLst/>
              <a:rect r="r" b="b" t="t" l="l"/>
              <a:pathLst>
                <a:path h="2506218" w="5543081">
                  <a:moveTo>
                    <a:pt x="34601" y="0"/>
                  </a:moveTo>
                  <a:lnTo>
                    <a:pt x="5508482" y="0"/>
                  </a:lnTo>
                  <a:cubicBezTo>
                    <a:pt x="5527532" y="0"/>
                    <a:pt x="5543081" y="15113"/>
                    <a:pt x="5543081" y="33909"/>
                  </a:cubicBezTo>
                  <a:lnTo>
                    <a:pt x="5543081" y="2472309"/>
                  </a:lnTo>
                  <a:cubicBezTo>
                    <a:pt x="5543081" y="2490978"/>
                    <a:pt x="5527661" y="2506218"/>
                    <a:pt x="5508482" y="2506218"/>
                  </a:cubicBezTo>
                  <a:lnTo>
                    <a:pt x="34601" y="2506218"/>
                  </a:lnTo>
                  <a:cubicBezTo>
                    <a:pt x="15551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15421" y="0"/>
                    <a:pt x="34601" y="0"/>
                  </a:cubicBezTo>
                  <a:moveTo>
                    <a:pt x="34601" y="67691"/>
                  </a:moveTo>
                  <a:lnTo>
                    <a:pt x="34601" y="33909"/>
                  </a:lnTo>
                  <a:lnTo>
                    <a:pt x="69071" y="33909"/>
                  </a:lnTo>
                  <a:lnTo>
                    <a:pt x="69071" y="2472309"/>
                  </a:lnTo>
                  <a:lnTo>
                    <a:pt x="34601" y="2472309"/>
                  </a:lnTo>
                  <a:lnTo>
                    <a:pt x="34601" y="2438400"/>
                  </a:lnTo>
                  <a:lnTo>
                    <a:pt x="5508482" y="2438400"/>
                  </a:lnTo>
                  <a:lnTo>
                    <a:pt x="5508482" y="2472309"/>
                  </a:lnTo>
                  <a:lnTo>
                    <a:pt x="5473881" y="2472309"/>
                  </a:lnTo>
                  <a:lnTo>
                    <a:pt x="5473881" y="33909"/>
                  </a:lnTo>
                  <a:lnTo>
                    <a:pt x="5508482" y="33909"/>
                  </a:lnTo>
                  <a:lnTo>
                    <a:pt x="5508482" y="67691"/>
                  </a:lnTo>
                  <a:lnTo>
                    <a:pt x="34601" y="676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234099" y="4688834"/>
            <a:ext cx="3705181" cy="1737360"/>
            <a:chOff x="0" y="0"/>
            <a:chExt cx="4940241" cy="23164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40241" cy="2316480"/>
            </a:xfrm>
            <a:custGeom>
              <a:avLst/>
              <a:gdLst/>
              <a:ahLst/>
              <a:cxnLst/>
              <a:rect r="r" b="b" t="t" l="l"/>
              <a:pathLst>
                <a:path h="2316480" w="4940241">
                  <a:moveTo>
                    <a:pt x="0" y="0"/>
                  </a:moveTo>
                  <a:lnTo>
                    <a:pt x="4940241" y="0"/>
                  </a:lnTo>
                  <a:lnTo>
                    <a:pt x="4940241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335" t="0" r="-119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4940241" cy="2383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</a:p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 | Gemini | Cerebras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095237" y="7472677"/>
            <a:ext cx="10193653" cy="1488443"/>
            <a:chOff x="0" y="0"/>
            <a:chExt cx="13591537" cy="19845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41744" y="40719"/>
              <a:ext cx="13508159" cy="1903260"/>
            </a:xfrm>
            <a:custGeom>
              <a:avLst/>
              <a:gdLst/>
              <a:ahLst/>
              <a:cxnLst/>
              <a:rect r="r" b="b" t="t" l="l"/>
              <a:pathLst>
                <a:path h="1903260" w="13508159">
                  <a:moveTo>
                    <a:pt x="0" y="0"/>
                  </a:moveTo>
                  <a:lnTo>
                    <a:pt x="13508159" y="0"/>
                  </a:lnTo>
                  <a:lnTo>
                    <a:pt x="13508159" y="1903260"/>
                  </a:lnTo>
                  <a:lnTo>
                    <a:pt x="0" y="1903260"/>
                  </a:lnTo>
                  <a:close/>
                </a:path>
              </a:pathLst>
            </a:custGeom>
            <a:solidFill>
              <a:srgbClr val="F5F3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591626" cy="1984680"/>
            </a:xfrm>
            <a:custGeom>
              <a:avLst/>
              <a:gdLst/>
              <a:ahLst/>
              <a:cxnLst/>
              <a:rect r="r" b="b" t="t" l="l"/>
              <a:pathLst>
                <a:path h="1984680" w="13591626">
                  <a:moveTo>
                    <a:pt x="41744" y="0"/>
                  </a:moveTo>
                  <a:lnTo>
                    <a:pt x="13549903" y="0"/>
                  </a:lnTo>
                  <a:cubicBezTo>
                    <a:pt x="13572886" y="0"/>
                    <a:pt x="13591626" y="18148"/>
                    <a:pt x="13591626" y="40719"/>
                  </a:cubicBezTo>
                  <a:lnTo>
                    <a:pt x="13591626" y="1943979"/>
                  </a:lnTo>
                  <a:cubicBezTo>
                    <a:pt x="13591626" y="1966397"/>
                    <a:pt x="13573043" y="1984680"/>
                    <a:pt x="13549903" y="1984680"/>
                  </a:cubicBezTo>
                  <a:lnTo>
                    <a:pt x="41744" y="1984680"/>
                  </a:lnTo>
                  <a:cubicBezTo>
                    <a:pt x="18761" y="1984680"/>
                    <a:pt x="0" y="1966550"/>
                    <a:pt x="0" y="1943979"/>
                  </a:cubicBezTo>
                  <a:lnTo>
                    <a:pt x="0" y="40719"/>
                  </a:lnTo>
                  <a:cubicBezTo>
                    <a:pt x="0" y="18148"/>
                    <a:pt x="18605" y="0"/>
                    <a:pt x="41744" y="0"/>
                  </a:cubicBezTo>
                  <a:moveTo>
                    <a:pt x="41744" y="81285"/>
                  </a:moveTo>
                  <a:lnTo>
                    <a:pt x="41744" y="40719"/>
                  </a:lnTo>
                  <a:lnTo>
                    <a:pt x="83332" y="40719"/>
                  </a:lnTo>
                  <a:lnTo>
                    <a:pt x="83332" y="1943979"/>
                  </a:lnTo>
                  <a:lnTo>
                    <a:pt x="41744" y="1943979"/>
                  </a:lnTo>
                  <a:lnTo>
                    <a:pt x="41744" y="1903260"/>
                  </a:lnTo>
                  <a:lnTo>
                    <a:pt x="13549903" y="1903260"/>
                  </a:lnTo>
                  <a:lnTo>
                    <a:pt x="13549903" y="1943979"/>
                  </a:lnTo>
                  <a:lnTo>
                    <a:pt x="13508158" y="1943979"/>
                  </a:lnTo>
                  <a:lnTo>
                    <a:pt x="13508158" y="40719"/>
                  </a:lnTo>
                  <a:lnTo>
                    <a:pt x="13549903" y="40719"/>
                  </a:lnTo>
                  <a:lnTo>
                    <a:pt x="13549903" y="81285"/>
                  </a:lnTo>
                  <a:lnTo>
                    <a:pt x="41744" y="81285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120640" y="7498080"/>
            <a:ext cx="9744788" cy="1463040"/>
            <a:chOff x="0" y="0"/>
            <a:chExt cx="12993050" cy="1950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99305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2993050">
                  <a:moveTo>
                    <a:pt x="0" y="0"/>
                  </a:moveTo>
                  <a:lnTo>
                    <a:pt x="12993050" y="0"/>
                  </a:lnTo>
                  <a:lnTo>
                    <a:pt x="1299305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78" r="15548" b="-5022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1299305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  —  PostgreSQL  |  Auth  |  Storage  |  Realtime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339165" y="6964680"/>
            <a:ext cx="50797" cy="507997"/>
            <a:chOff x="0" y="0"/>
            <a:chExt cx="67729" cy="6773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33909"/>
              <a:ext cx="67691" cy="609600"/>
            </a:xfrm>
            <a:custGeom>
              <a:avLst/>
              <a:gdLst/>
              <a:ahLst/>
              <a:cxnLst/>
              <a:rect r="r" b="b" t="t" l="l"/>
              <a:pathLst>
                <a:path h="609600" w="67691">
                  <a:moveTo>
                    <a:pt x="67691" y="0"/>
                  </a:moveTo>
                  <a:lnTo>
                    <a:pt x="6769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28700" y="9008745"/>
            <a:ext cx="16459200" cy="640080"/>
            <a:chOff x="0" y="0"/>
            <a:chExt cx="2194560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1A1A1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3.1: Service-oriented architecture with clean boundaries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4231536" y="2607878"/>
            <a:ext cx="305835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</a:t>
            </a:r>
            <a:r>
              <a:rPr lang="en-US" b="true" sz="380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ext.js 16 PWA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008821" y="2275837"/>
            <a:ext cx="327791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</a:t>
            </a:r>
            <a:r>
              <a:rPr lang="en-US" b="true" sz="380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tAPI Backend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110752" y="2275837"/>
            <a:ext cx="324778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/ OCR Service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098801" y="4694549"/>
            <a:ext cx="238017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LLM</a:t>
            </a:r>
            <a:r>
              <a:rPr lang="en-US" b="true" sz="3200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Providers</a:t>
            </a:r>
          </a:p>
        </p:txBody>
      </p:sp>
      <p:grpSp>
        <p:nvGrpSpPr>
          <p:cNvPr name="Group 71" id="71"/>
          <p:cNvGrpSpPr/>
          <p:nvPr/>
        </p:nvGrpSpPr>
        <p:grpSpPr>
          <a:xfrm rot="-2622285">
            <a:off x="3030347" y="4145836"/>
            <a:ext cx="780742" cy="736363"/>
            <a:chOff x="0" y="0"/>
            <a:chExt cx="1286929" cy="121377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0668" y="9144"/>
              <a:ext cx="1265555" cy="1195451"/>
            </a:xfrm>
            <a:custGeom>
              <a:avLst/>
              <a:gdLst/>
              <a:ahLst/>
              <a:cxnLst/>
              <a:rect r="r" b="b" t="t" l="l"/>
              <a:pathLst>
                <a:path h="1195451" w="1265555">
                  <a:moveTo>
                    <a:pt x="46355" y="0"/>
                  </a:moveTo>
                  <a:lnTo>
                    <a:pt x="1265555" y="1146048"/>
                  </a:lnTo>
                  <a:lnTo>
                    <a:pt x="1219200" y="1195451"/>
                  </a:lnTo>
                  <a:lnTo>
                    <a:pt x="0" y="4940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-4805350">
            <a:off x="2991639" y="5457933"/>
            <a:ext cx="919166" cy="866918"/>
            <a:chOff x="0" y="0"/>
            <a:chExt cx="1286929" cy="121377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0668" y="9144"/>
              <a:ext cx="1265555" cy="1195451"/>
            </a:xfrm>
            <a:custGeom>
              <a:avLst/>
              <a:gdLst/>
              <a:ahLst/>
              <a:cxnLst/>
              <a:rect r="r" b="b" t="t" l="l"/>
              <a:pathLst>
                <a:path h="1195451" w="1265555">
                  <a:moveTo>
                    <a:pt x="46355" y="0"/>
                  </a:moveTo>
                  <a:lnTo>
                    <a:pt x="1265555" y="1146048"/>
                  </a:lnTo>
                  <a:lnTo>
                    <a:pt x="1219200" y="1195451"/>
                  </a:lnTo>
                  <a:lnTo>
                    <a:pt x="0" y="49403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sp>
        <p:nvSpPr>
          <p:cNvPr name="AutoShape 75" id="75"/>
          <p:cNvSpPr/>
          <p:nvPr/>
        </p:nvSpPr>
        <p:spPr>
          <a:xfrm>
            <a:off x="13027661" y="3429757"/>
            <a:ext cx="641932" cy="0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V="true">
            <a:off x="13027661" y="5364063"/>
            <a:ext cx="815521" cy="103287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7" id="77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82" id="82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3" id="83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4" id="84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5" id="85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6" id="86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90" id="90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3" id="1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4" id="114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20" id="120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1" id="121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22" id="122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23" id="123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24" id="124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25" id="125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26" id="126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27" id="127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28" id="128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29" id="129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30" id="130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32" id="132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35" id="135"/>
            <p:cNvSpPr txBox="true"/>
            <p:nvPr/>
          </p:nvSpPr>
          <p:spPr>
            <a:xfrm rot="0">
              <a:off x="395815" y="189916"/>
              <a:ext cx="22320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8378334"/>
            <a:ext cx="16775430" cy="731520"/>
            <a:chOff x="0" y="0"/>
            <a:chExt cx="2236724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67239" cy="975360"/>
            </a:xfrm>
            <a:custGeom>
              <a:avLst/>
              <a:gdLst/>
              <a:ahLst/>
              <a:cxnLst/>
              <a:rect r="r" b="b" t="t" l="l"/>
              <a:pathLst>
                <a:path h="975360" w="22367239">
                  <a:moveTo>
                    <a:pt x="0" y="0"/>
                  </a:moveTo>
                  <a:lnTo>
                    <a:pt x="22367239" y="0"/>
                  </a:lnTo>
                  <a:lnTo>
                    <a:pt x="2236723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1885" b="-3884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23672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Key: Two-level access control — middleware redirects at navigation, server actions re-check at request time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6117" y="2502038"/>
            <a:ext cx="16869413" cy="5285746"/>
            <a:chOff x="0" y="0"/>
            <a:chExt cx="22492551" cy="704766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8471" y="313271"/>
              <a:ext cx="4439920" cy="2489200"/>
              <a:chOff x="0" y="0"/>
              <a:chExt cx="4439920" cy="2489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25400" y="25400"/>
                <a:ext cx="438912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439920" cy="2489200"/>
              </a:xfrm>
              <a:custGeom>
                <a:avLst/>
                <a:gdLst/>
                <a:ahLst/>
                <a:cxnLst/>
                <a:rect r="r" b="b" t="t" l="l"/>
                <a:pathLst>
                  <a:path h="2489200" w="4439920">
                    <a:moveTo>
                      <a:pt x="25400" y="0"/>
                    </a:moveTo>
                    <a:lnTo>
                      <a:pt x="4414520" y="0"/>
                    </a:lnTo>
                    <a:cubicBezTo>
                      <a:pt x="4428490" y="0"/>
                      <a:pt x="4439920" y="11430"/>
                      <a:pt x="4439920" y="25400"/>
                    </a:cubicBezTo>
                    <a:lnTo>
                      <a:pt x="4439920" y="2463800"/>
                    </a:lnTo>
                    <a:cubicBezTo>
                      <a:pt x="4439920" y="2477770"/>
                      <a:pt x="4428490" y="2489200"/>
                      <a:pt x="4414520" y="2489200"/>
                    </a:cubicBezTo>
                    <a:lnTo>
                      <a:pt x="25400" y="2489200"/>
                    </a:lnTo>
                    <a:cubicBezTo>
                      <a:pt x="11430" y="2489200"/>
                      <a:pt x="0" y="2477770"/>
                      <a:pt x="0" y="24638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463800"/>
                    </a:lnTo>
                    <a:lnTo>
                      <a:pt x="25400" y="2463800"/>
                    </a:lnTo>
                    <a:lnTo>
                      <a:pt x="25400" y="2438400"/>
                    </a:lnTo>
                    <a:lnTo>
                      <a:pt x="4414520" y="2438400"/>
                    </a:lnTo>
                    <a:lnTo>
                      <a:pt x="4414520" y="2463800"/>
                    </a:lnTo>
                    <a:lnTo>
                      <a:pt x="4389120" y="2463800"/>
                    </a:lnTo>
                    <a:lnTo>
                      <a:pt x="4389120" y="25400"/>
                    </a:lnTo>
                    <a:lnTo>
                      <a:pt x="4414520" y="25400"/>
                    </a:lnTo>
                    <a:lnTo>
                      <a:pt x="441452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41F5A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33871" y="338671"/>
              <a:ext cx="4389120" cy="2679700"/>
              <a:chOff x="0" y="0"/>
              <a:chExt cx="4389120" cy="26797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389120" cy="2679700"/>
              </a:xfrm>
              <a:custGeom>
                <a:avLst/>
                <a:gdLst/>
                <a:ahLst/>
                <a:cxnLst/>
                <a:rect r="r" b="b" t="t" l="l"/>
                <a:pathLst>
                  <a:path h="2679700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679700"/>
                    </a:lnTo>
                    <a:lnTo>
                      <a:pt x="0" y="26797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279" t="0" r="-21279" b="9004"/>
                </a:stretch>
              </a:blip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66675"/>
                <a:ext cx="4389120" cy="27463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Next.js 16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App Router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5129111" y="313271"/>
              <a:ext cx="4927600" cy="2489200"/>
              <a:chOff x="0" y="0"/>
              <a:chExt cx="4927600" cy="2489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25400" y="25400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927600" cy="2489200"/>
              </a:xfrm>
              <a:custGeom>
                <a:avLst/>
                <a:gdLst/>
                <a:ahLst/>
                <a:cxnLst/>
                <a:rect r="r" b="b" t="t" l="l"/>
                <a:pathLst>
                  <a:path h="2489200" w="4927600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430"/>
                      <a:pt x="4927600" y="25400"/>
                    </a:cubicBezTo>
                    <a:lnTo>
                      <a:pt x="4927600" y="2463800"/>
                    </a:lnTo>
                    <a:cubicBezTo>
                      <a:pt x="4927600" y="2477770"/>
                      <a:pt x="4916170" y="2489200"/>
                      <a:pt x="4902200" y="2489200"/>
                    </a:cubicBezTo>
                    <a:lnTo>
                      <a:pt x="25400" y="2489200"/>
                    </a:lnTo>
                    <a:cubicBezTo>
                      <a:pt x="11430" y="2489200"/>
                      <a:pt x="0" y="2477770"/>
                      <a:pt x="0" y="24638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463800"/>
                    </a:lnTo>
                    <a:lnTo>
                      <a:pt x="25400" y="2463800"/>
                    </a:lnTo>
                    <a:lnTo>
                      <a:pt x="25400" y="2438400"/>
                    </a:lnTo>
                    <a:lnTo>
                      <a:pt x="4902200" y="2438400"/>
                    </a:lnTo>
                    <a:lnTo>
                      <a:pt x="4902200" y="2463800"/>
                    </a:lnTo>
                    <a:lnTo>
                      <a:pt x="4876800" y="2463800"/>
                    </a:lnTo>
                    <a:lnTo>
                      <a:pt x="4876800" y="25400"/>
                    </a:lnTo>
                    <a:lnTo>
                      <a:pt x="4902200" y="25400"/>
                    </a:lnTo>
                    <a:lnTo>
                      <a:pt x="490220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5154511" y="0"/>
              <a:ext cx="4876800" cy="3048000"/>
              <a:chOff x="0" y="0"/>
              <a:chExt cx="4876800" cy="3048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8768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20000"/>
                </a:stretch>
              </a:blip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4876800" cy="31051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Route Groups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Auth | Dashboard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Onboarding | Admin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0737431" y="313271"/>
              <a:ext cx="4927600" cy="2489200"/>
              <a:chOff x="0" y="0"/>
              <a:chExt cx="4927600" cy="2489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25400" y="25400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27600" cy="2489200"/>
              </a:xfrm>
              <a:custGeom>
                <a:avLst/>
                <a:gdLst/>
                <a:ahLst/>
                <a:cxnLst/>
                <a:rect r="r" b="b" t="t" l="l"/>
                <a:pathLst>
                  <a:path h="2489200" w="4927600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430"/>
                      <a:pt x="4927600" y="25400"/>
                    </a:cubicBezTo>
                    <a:lnTo>
                      <a:pt x="4927600" y="2463800"/>
                    </a:lnTo>
                    <a:cubicBezTo>
                      <a:pt x="4927600" y="2477770"/>
                      <a:pt x="4916170" y="2489200"/>
                      <a:pt x="4902200" y="2489200"/>
                    </a:cubicBezTo>
                    <a:lnTo>
                      <a:pt x="25400" y="2489200"/>
                    </a:lnTo>
                    <a:cubicBezTo>
                      <a:pt x="11430" y="2489200"/>
                      <a:pt x="0" y="2477770"/>
                      <a:pt x="0" y="24638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463800"/>
                    </a:lnTo>
                    <a:lnTo>
                      <a:pt x="25400" y="2463800"/>
                    </a:lnTo>
                    <a:lnTo>
                      <a:pt x="25400" y="2438400"/>
                    </a:lnTo>
                    <a:lnTo>
                      <a:pt x="4902200" y="2438400"/>
                    </a:lnTo>
                    <a:lnTo>
                      <a:pt x="4902200" y="2463800"/>
                    </a:lnTo>
                    <a:lnTo>
                      <a:pt x="4876800" y="2463800"/>
                    </a:lnTo>
                    <a:lnTo>
                      <a:pt x="4876800" y="25400"/>
                    </a:lnTo>
                    <a:lnTo>
                      <a:pt x="4902200" y="25400"/>
                    </a:lnTo>
                    <a:lnTo>
                      <a:pt x="490220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0762831" y="338671"/>
              <a:ext cx="4876800" cy="2463800"/>
              <a:chOff x="0" y="0"/>
              <a:chExt cx="4876800" cy="2463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76800" cy="2463800"/>
              </a:xfrm>
              <a:custGeom>
                <a:avLst/>
                <a:gdLst/>
                <a:ahLst/>
                <a:cxnLst/>
                <a:rect r="r" b="b" t="t" l="l"/>
                <a:pathLst>
                  <a:path h="24638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63800"/>
                    </a:lnTo>
                    <a:lnTo>
                      <a:pt x="0" y="2463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103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876800" cy="25209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Server Actions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Typed API calls</a:t>
                </a:r>
              </a:p>
              <a:p>
                <a:pPr algn="ctr">
                  <a:lnSpc>
                    <a:spcPts val="3840"/>
                  </a:lnSpc>
                </a:pPr>
                <a:r>
                  <a:rPr lang="en-US" sz="32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Permission checks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33871" y="4442127"/>
              <a:ext cx="4439920" cy="2573020"/>
              <a:chOff x="0" y="0"/>
              <a:chExt cx="4439920" cy="257302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25400" y="26255"/>
                <a:ext cx="4389120" cy="2520509"/>
              </a:xfrm>
              <a:custGeom>
                <a:avLst/>
                <a:gdLst/>
                <a:ahLst/>
                <a:cxnLst/>
                <a:rect r="r" b="b" t="t" l="l"/>
                <a:pathLst>
                  <a:path h="2520509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520510"/>
                    </a:lnTo>
                    <a:lnTo>
                      <a:pt x="0" y="252051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439920" cy="2573020"/>
              </a:xfrm>
              <a:custGeom>
                <a:avLst/>
                <a:gdLst/>
                <a:ahLst/>
                <a:cxnLst/>
                <a:rect r="r" b="b" t="t" l="l"/>
                <a:pathLst>
                  <a:path h="2573020" w="4439920">
                    <a:moveTo>
                      <a:pt x="25400" y="0"/>
                    </a:moveTo>
                    <a:lnTo>
                      <a:pt x="4414520" y="0"/>
                    </a:lnTo>
                    <a:cubicBezTo>
                      <a:pt x="4428490" y="0"/>
                      <a:pt x="4439920" y="11815"/>
                      <a:pt x="4439920" y="26255"/>
                    </a:cubicBezTo>
                    <a:lnTo>
                      <a:pt x="4439920" y="2546765"/>
                    </a:lnTo>
                    <a:cubicBezTo>
                      <a:pt x="4439920" y="2561205"/>
                      <a:pt x="4428490" y="2573020"/>
                      <a:pt x="4414520" y="2573020"/>
                    </a:cubicBezTo>
                    <a:lnTo>
                      <a:pt x="25400" y="2573020"/>
                    </a:lnTo>
                    <a:cubicBezTo>
                      <a:pt x="11430" y="2573020"/>
                      <a:pt x="0" y="2561205"/>
                      <a:pt x="0" y="2546765"/>
                    </a:cubicBezTo>
                    <a:lnTo>
                      <a:pt x="0" y="26255"/>
                    </a:lnTo>
                    <a:cubicBezTo>
                      <a:pt x="0" y="11815"/>
                      <a:pt x="11430" y="0"/>
                      <a:pt x="25400" y="0"/>
                    </a:cubicBezTo>
                    <a:moveTo>
                      <a:pt x="25400" y="52511"/>
                    </a:moveTo>
                    <a:lnTo>
                      <a:pt x="25400" y="26255"/>
                    </a:lnTo>
                    <a:lnTo>
                      <a:pt x="50800" y="26255"/>
                    </a:lnTo>
                    <a:lnTo>
                      <a:pt x="50800" y="2546765"/>
                    </a:lnTo>
                    <a:lnTo>
                      <a:pt x="25400" y="2546765"/>
                    </a:lnTo>
                    <a:lnTo>
                      <a:pt x="25400" y="2520509"/>
                    </a:lnTo>
                    <a:lnTo>
                      <a:pt x="4414520" y="2520509"/>
                    </a:lnTo>
                    <a:lnTo>
                      <a:pt x="4414520" y="2546765"/>
                    </a:lnTo>
                    <a:lnTo>
                      <a:pt x="4389120" y="2546765"/>
                    </a:lnTo>
                    <a:lnTo>
                      <a:pt x="4389120" y="26255"/>
                    </a:lnTo>
                    <a:lnTo>
                      <a:pt x="4414520" y="26255"/>
                    </a:lnTo>
                    <a:lnTo>
                      <a:pt x="4414520" y="52511"/>
                    </a:lnTo>
                    <a:lnTo>
                      <a:pt x="25400" y="525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4576747"/>
              <a:ext cx="4389120" cy="2438400"/>
              <a:chOff x="0" y="0"/>
              <a:chExt cx="4389120" cy="2438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38912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1279" t="0" r="-21279" b="0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66675"/>
                <a:ext cx="4389120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UI Layer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45 shadcn/ui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Tailwind CSS 4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5188369" y="4442127"/>
              <a:ext cx="4927600" cy="2605535"/>
              <a:chOff x="0" y="0"/>
              <a:chExt cx="4927600" cy="260553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25400" y="26587"/>
                <a:ext cx="4876800" cy="2552361"/>
              </a:xfrm>
              <a:custGeom>
                <a:avLst/>
                <a:gdLst/>
                <a:ahLst/>
                <a:cxnLst/>
                <a:rect r="r" b="b" t="t" l="l"/>
                <a:pathLst>
                  <a:path h="2552361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552361"/>
                    </a:lnTo>
                    <a:lnTo>
                      <a:pt x="0" y="2552361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927600" cy="2605535"/>
              </a:xfrm>
              <a:custGeom>
                <a:avLst/>
                <a:gdLst/>
                <a:ahLst/>
                <a:cxnLst/>
                <a:rect r="r" b="b" t="t" l="l"/>
                <a:pathLst>
                  <a:path h="2605535" w="4927600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964"/>
                      <a:pt x="4927600" y="26587"/>
                    </a:cubicBezTo>
                    <a:lnTo>
                      <a:pt x="4927600" y="2578948"/>
                    </a:lnTo>
                    <a:cubicBezTo>
                      <a:pt x="4927600" y="2593571"/>
                      <a:pt x="4916170" y="2605535"/>
                      <a:pt x="4902200" y="2605535"/>
                    </a:cubicBezTo>
                    <a:lnTo>
                      <a:pt x="25400" y="2605535"/>
                    </a:lnTo>
                    <a:cubicBezTo>
                      <a:pt x="11430" y="2605535"/>
                      <a:pt x="0" y="2593571"/>
                      <a:pt x="0" y="2578948"/>
                    </a:cubicBezTo>
                    <a:lnTo>
                      <a:pt x="0" y="26587"/>
                    </a:lnTo>
                    <a:cubicBezTo>
                      <a:pt x="0" y="11964"/>
                      <a:pt x="11430" y="0"/>
                      <a:pt x="25400" y="0"/>
                    </a:cubicBezTo>
                    <a:moveTo>
                      <a:pt x="25400" y="53174"/>
                    </a:moveTo>
                    <a:lnTo>
                      <a:pt x="25400" y="26587"/>
                    </a:lnTo>
                    <a:lnTo>
                      <a:pt x="50800" y="26587"/>
                    </a:lnTo>
                    <a:lnTo>
                      <a:pt x="50800" y="2578948"/>
                    </a:lnTo>
                    <a:lnTo>
                      <a:pt x="25400" y="2578948"/>
                    </a:lnTo>
                    <a:lnTo>
                      <a:pt x="25400" y="2552361"/>
                    </a:lnTo>
                    <a:lnTo>
                      <a:pt x="4902200" y="2552361"/>
                    </a:lnTo>
                    <a:lnTo>
                      <a:pt x="4902200" y="2578948"/>
                    </a:lnTo>
                    <a:lnTo>
                      <a:pt x="4876800" y="2578948"/>
                    </a:lnTo>
                    <a:lnTo>
                      <a:pt x="4876800" y="26587"/>
                    </a:lnTo>
                    <a:lnTo>
                      <a:pt x="4902200" y="26587"/>
                    </a:lnTo>
                    <a:lnTo>
                      <a:pt x="4902200" y="53174"/>
                    </a:lnTo>
                    <a:lnTo>
                      <a:pt x="25400" y="5317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5239169" y="4509437"/>
              <a:ext cx="4876800" cy="2438400"/>
              <a:chOff x="0" y="0"/>
              <a:chExt cx="4876800" cy="2438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i18n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English + Bangla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Locale routing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737431" y="4364571"/>
              <a:ext cx="4927600" cy="2601436"/>
              <a:chOff x="0" y="0"/>
              <a:chExt cx="4927600" cy="2601436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25400" y="26545"/>
                <a:ext cx="4876800" cy="2548346"/>
              </a:xfrm>
              <a:custGeom>
                <a:avLst/>
                <a:gdLst/>
                <a:ahLst/>
                <a:cxnLst/>
                <a:rect r="r" b="b" t="t" l="l"/>
                <a:pathLst>
                  <a:path h="2548346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548346"/>
                    </a:lnTo>
                    <a:lnTo>
                      <a:pt x="0" y="2548346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927600" cy="2601436"/>
              </a:xfrm>
              <a:custGeom>
                <a:avLst/>
                <a:gdLst/>
                <a:ahLst/>
                <a:cxnLst/>
                <a:rect r="r" b="b" t="t" l="l"/>
                <a:pathLst>
                  <a:path h="2601436" w="4927600">
                    <a:moveTo>
                      <a:pt x="25400" y="0"/>
                    </a:moveTo>
                    <a:lnTo>
                      <a:pt x="4902200" y="0"/>
                    </a:lnTo>
                    <a:cubicBezTo>
                      <a:pt x="4916170" y="0"/>
                      <a:pt x="4927600" y="11945"/>
                      <a:pt x="4927600" y="26545"/>
                    </a:cubicBezTo>
                    <a:lnTo>
                      <a:pt x="4927600" y="2574891"/>
                    </a:lnTo>
                    <a:cubicBezTo>
                      <a:pt x="4927600" y="2589491"/>
                      <a:pt x="4916170" y="2601436"/>
                      <a:pt x="4902200" y="2601436"/>
                    </a:cubicBezTo>
                    <a:lnTo>
                      <a:pt x="25400" y="2601436"/>
                    </a:lnTo>
                    <a:cubicBezTo>
                      <a:pt x="11430" y="2601436"/>
                      <a:pt x="0" y="2589491"/>
                      <a:pt x="0" y="2574891"/>
                    </a:cubicBezTo>
                    <a:lnTo>
                      <a:pt x="0" y="26545"/>
                    </a:lnTo>
                    <a:cubicBezTo>
                      <a:pt x="0" y="11945"/>
                      <a:pt x="11430" y="0"/>
                      <a:pt x="25400" y="0"/>
                    </a:cubicBezTo>
                    <a:moveTo>
                      <a:pt x="25400" y="53091"/>
                    </a:moveTo>
                    <a:lnTo>
                      <a:pt x="25400" y="26545"/>
                    </a:lnTo>
                    <a:lnTo>
                      <a:pt x="50800" y="26545"/>
                    </a:lnTo>
                    <a:lnTo>
                      <a:pt x="50800" y="2574891"/>
                    </a:lnTo>
                    <a:lnTo>
                      <a:pt x="25400" y="2574891"/>
                    </a:lnTo>
                    <a:lnTo>
                      <a:pt x="25400" y="2548346"/>
                    </a:lnTo>
                    <a:lnTo>
                      <a:pt x="4902200" y="2548346"/>
                    </a:lnTo>
                    <a:lnTo>
                      <a:pt x="4902200" y="2574891"/>
                    </a:lnTo>
                    <a:lnTo>
                      <a:pt x="4876800" y="2574891"/>
                    </a:lnTo>
                    <a:lnTo>
                      <a:pt x="4876800" y="26545"/>
                    </a:lnTo>
                    <a:lnTo>
                      <a:pt x="4902200" y="26545"/>
                    </a:lnTo>
                    <a:lnTo>
                      <a:pt x="4902200" y="53091"/>
                    </a:lnTo>
                    <a:lnTo>
                      <a:pt x="25400" y="5309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10728960" y="4576747"/>
              <a:ext cx="4876800" cy="2438400"/>
              <a:chOff x="0" y="0"/>
              <a:chExt cx="4876800" cy="2438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876800" cy="2438400"/>
              </a:xfrm>
              <a:custGeom>
                <a:avLst/>
                <a:gdLst/>
                <a:ahLst/>
                <a:cxnLst/>
                <a:rect r="r" b="b" t="t" l="l"/>
                <a:pathLst>
                  <a:path h="2438400" w="4876800">
                    <a:moveTo>
                      <a:pt x="0" y="0"/>
                    </a:moveTo>
                    <a:lnTo>
                      <a:pt x="4876800" y="0"/>
                    </a:lnTo>
                    <a:lnTo>
                      <a:pt x="4876800" y="2438400"/>
                    </a:lnTo>
                    <a:lnTo>
                      <a:pt x="0" y="24384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0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66675"/>
                <a:ext cx="4876800" cy="25050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State Flow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RSC + client state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Realtime slot hooks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16833431" y="313271"/>
              <a:ext cx="5659120" cy="6146800"/>
              <a:chOff x="0" y="0"/>
              <a:chExt cx="5659120" cy="6146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25400" y="25400"/>
                <a:ext cx="5608320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5608320">
                    <a:moveTo>
                      <a:pt x="0" y="0"/>
                    </a:moveTo>
                    <a:lnTo>
                      <a:pt x="5608320" y="0"/>
                    </a:lnTo>
                    <a:lnTo>
                      <a:pt x="560832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FEF3C7"/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659120" cy="6146800"/>
              </a:xfrm>
              <a:custGeom>
                <a:avLst/>
                <a:gdLst/>
                <a:ahLst/>
                <a:cxnLst/>
                <a:rect r="r" b="b" t="t" l="l"/>
                <a:pathLst>
                  <a:path h="6146800" w="5659120">
                    <a:moveTo>
                      <a:pt x="25400" y="0"/>
                    </a:moveTo>
                    <a:lnTo>
                      <a:pt x="5633720" y="0"/>
                    </a:lnTo>
                    <a:cubicBezTo>
                      <a:pt x="5647690" y="0"/>
                      <a:pt x="5659120" y="11430"/>
                      <a:pt x="5659120" y="25400"/>
                    </a:cubicBezTo>
                    <a:lnTo>
                      <a:pt x="5659120" y="6121400"/>
                    </a:lnTo>
                    <a:cubicBezTo>
                      <a:pt x="5659120" y="6135370"/>
                      <a:pt x="5647690" y="6146800"/>
                      <a:pt x="5633720" y="6146800"/>
                    </a:cubicBezTo>
                    <a:lnTo>
                      <a:pt x="25400" y="6146800"/>
                    </a:lnTo>
                    <a:cubicBezTo>
                      <a:pt x="11430" y="6146800"/>
                      <a:pt x="0" y="6135370"/>
                      <a:pt x="0" y="612140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6121400"/>
                    </a:lnTo>
                    <a:lnTo>
                      <a:pt x="25400" y="6121400"/>
                    </a:lnTo>
                    <a:lnTo>
                      <a:pt x="25400" y="6096000"/>
                    </a:lnTo>
                    <a:lnTo>
                      <a:pt x="5633720" y="6096000"/>
                    </a:lnTo>
                    <a:lnTo>
                      <a:pt x="5633720" y="6121400"/>
                    </a:lnTo>
                    <a:lnTo>
                      <a:pt x="5608320" y="6121400"/>
                    </a:lnTo>
                    <a:lnTo>
                      <a:pt x="5608320" y="25400"/>
                    </a:lnTo>
                    <a:lnTo>
                      <a:pt x="5633720" y="25400"/>
                    </a:lnTo>
                    <a:lnTo>
                      <a:pt x="563372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16858831" y="364071"/>
              <a:ext cx="5608320" cy="6096000"/>
              <a:chOff x="0" y="0"/>
              <a:chExt cx="5608320" cy="6096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5608320" cy="6096000"/>
              </a:xfrm>
              <a:custGeom>
                <a:avLst/>
                <a:gdLst/>
                <a:ahLst/>
                <a:cxnLst/>
                <a:rect r="r" b="b" t="t" l="l"/>
                <a:pathLst>
                  <a:path h="6096000" w="5608320">
                    <a:moveTo>
                      <a:pt x="0" y="0"/>
                    </a:moveTo>
                    <a:lnTo>
                      <a:pt x="5608320" y="0"/>
                    </a:lnTo>
                    <a:lnTo>
                      <a:pt x="560832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89460" t="0" r="-89460" b="0"/>
                </a:stretch>
              </a:blip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66675"/>
                <a:ext cx="5608320" cy="61626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PWA Layer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Serwist caching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Background sync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Push notifications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4389120" y="1524000"/>
              <a:ext cx="799249" cy="67729"/>
              <a:chOff x="0" y="0"/>
              <a:chExt cx="799249" cy="67729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33909" y="0"/>
                <a:ext cx="731520" cy="67691"/>
              </a:xfrm>
              <a:custGeom>
                <a:avLst/>
                <a:gdLst/>
                <a:ahLst/>
                <a:cxnLst/>
                <a:rect r="r" b="b" t="t" l="l"/>
                <a:pathLst>
                  <a:path h="67691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9997440" y="1524000"/>
              <a:ext cx="799249" cy="67729"/>
              <a:chOff x="0" y="0"/>
              <a:chExt cx="799249" cy="67729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33909" y="0"/>
                <a:ext cx="731520" cy="67691"/>
              </a:xfrm>
              <a:custGeom>
                <a:avLst/>
                <a:gdLst/>
                <a:ahLst/>
                <a:cxnLst/>
                <a:rect r="r" b="b" t="t" l="l"/>
                <a:pathLst>
                  <a:path h="67691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5605760" y="1524000"/>
              <a:ext cx="1286929" cy="677329"/>
              <a:chOff x="0" y="0"/>
              <a:chExt cx="1286929" cy="677329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18669" y="3556"/>
                <a:ext cx="1249553" cy="670179"/>
              </a:xfrm>
              <a:custGeom>
                <a:avLst/>
                <a:gdLst/>
                <a:ahLst/>
                <a:cxnLst/>
                <a:rect r="r" b="b" t="t" l="l"/>
                <a:pathLst>
                  <a:path h="670179" w="1249553">
                    <a:moveTo>
                      <a:pt x="30353" y="0"/>
                    </a:moveTo>
                    <a:lnTo>
                      <a:pt x="1249553" y="609600"/>
                    </a:lnTo>
                    <a:lnTo>
                      <a:pt x="1219200" y="670179"/>
                    </a:lnTo>
                    <a:lnTo>
                      <a:pt x="0" y="60579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4389120" y="5181600"/>
              <a:ext cx="799249" cy="67729"/>
              <a:chOff x="0" y="0"/>
              <a:chExt cx="799249" cy="67729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33909" y="0"/>
                <a:ext cx="731520" cy="67691"/>
              </a:xfrm>
              <a:custGeom>
                <a:avLst/>
                <a:gdLst/>
                <a:ahLst/>
                <a:cxnLst/>
                <a:rect r="r" b="b" t="t" l="l"/>
                <a:pathLst>
                  <a:path h="67691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9997440" y="5181600"/>
              <a:ext cx="799249" cy="67729"/>
              <a:chOff x="0" y="0"/>
              <a:chExt cx="799249" cy="6772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33909" y="0"/>
                <a:ext cx="731520" cy="67691"/>
              </a:xfrm>
              <a:custGeom>
                <a:avLst/>
                <a:gdLst/>
                <a:ahLst/>
                <a:cxnLst/>
                <a:rect r="r" b="b" t="t" l="l"/>
                <a:pathLst>
                  <a:path h="67691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7691"/>
                    </a:lnTo>
                    <a:lnTo>
                      <a:pt x="0" y="67691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-2626385">
              <a:off x="15605760" y="4767586"/>
              <a:ext cx="1286929" cy="677329"/>
              <a:chOff x="0" y="0"/>
              <a:chExt cx="1286929" cy="677329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8669" y="3556"/>
                <a:ext cx="1249553" cy="670179"/>
              </a:xfrm>
              <a:custGeom>
                <a:avLst/>
                <a:gdLst/>
                <a:ahLst/>
                <a:cxnLst/>
                <a:rect r="r" b="b" t="t" l="l"/>
                <a:pathLst>
                  <a:path h="670179" w="1249553">
                    <a:moveTo>
                      <a:pt x="30353" y="0"/>
                    </a:moveTo>
                    <a:lnTo>
                      <a:pt x="1249553" y="609600"/>
                    </a:lnTo>
                    <a:lnTo>
                      <a:pt x="1219200" y="670179"/>
                    </a:lnTo>
                    <a:lnTo>
                      <a:pt x="0" y="60579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</p:grpSp>
      <p:sp>
        <p:nvSpPr>
          <p:cNvPr name="Freeform 65" id="65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70" id="70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1" id="71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2" id="72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3" id="73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4" id="74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5" id="75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7" id="77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8" id="78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6" id="96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9" id="99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1" id="10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4" id="10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08" id="108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9" id="109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12" id="112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13" id="113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14" id="114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15" id="115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16" id="116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17" id="117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18" id="118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20" id="120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2" id="12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23" id="123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  <p:sp>
          <p:nvSpPr>
            <p:cNvPr name="TextBox 124" id="124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7040880"/>
            <a:ext cx="16459200" cy="720403"/>
            <a:chOff x="0" y="0"/>
            <a:chExt cx="21945600" cy="9605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960537"/>
            </a:xfrm>
            <a:custGeom>
              <a:avLst/>
              <a:gdLst/>
              <a:ahLst/>
              <a:cxnLst/>
              <a:rect r="r" b="b" t="t" l="l"/>
              <a:pathLst>
                <a:path h="96053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753" r="0" b="-38960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945600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Route Families (5 layers)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5943" y="7759703"/>
            <a:ext cx="3134363" cy="1488443"/>
            <a:chOff x="0" y="0"/>
            <a:chExt cx="4179151" cy="1984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790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7772400"/>
            <a:ext cx="3108960" cy="1463040"/>
            <a:chOff x="0" y="0"/>
            <a:chExt cx="4145280" cy="195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Identity &amp;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57600" y="7772400"/>
            <a:ext cx="365760" cy="1463040"/>
            <a:chOff x="0" y="0"/>
            <a:chExt cx="487680" cy="1950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7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t="0" r="-46321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010663" y="7759703"/>
            <a:ext cx="3134363" cy="1488443"/>
            <a:chOff x="0" y="0"/>
            <a:chExt cx="4179151" cy="19845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90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036066" y="7772400"/>
            <a:ext cx="3108960" cy="1463040"/>
            <a:chOff x="0" y="0"/>
            <a:chExt cx="4145280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Discovery &amp;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32320" y="7772400"/>
            <a:ext cx="365760" cy="1463040"/>
            <a:chOff x="0" y="0"/>
            <a:chExt cx="48768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7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t="0" r="-46321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85383" y="7759703"/>
            <a:ext cx="3134363" cy="1488443"/>
            <a:chOff x="0" y="0"/>
            <a:chExt cx="4179151" cy="19845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790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508243" y="7795260"/>
            <a:ext cx="3108960" cy="1463040"/>
            <a:chOff x="0" y="0"/>
            <a:chExt cx="414528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07040" y="7772400"/>
            <a:ext cx="365760" cy="1463040"/>
            <a:chOff x="0" y="0"/>
            <a:chExt cx="48768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t="0" r="-46321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60103" y="7759703"/>
            <a:ext cx="3134363" cy="1488443"/>
            <a:chOff x="0" y="0"/>
            <a:chExt cx="4179151" cy="19845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790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60103" y="7795260"/>
            <a:ext cx="3108960" cy="1463040"/>
            <a:chOff x="0" y="0"/>
            <a:chExt cx="414528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Longitudinal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081760" y="7772400"/>
            <a:ext cx="365760" cy="1463040"/>
            <a:chOff x="0" y="0"/>
            <a:chExt cx="48768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7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3214" t="0" r="-46321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4876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9999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434823" y="7759703"/>
            <a:ext cx="3134363" cy="1488443"/>
            <a:chOff x="0" y="0"/>
            <a:chExt cx="4179151" cy="19845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79062" cy="1984502"/>
            </a:xfrm>
            <a:custGeom>
              <a:avLst/>
              <a:gdLst/>
              <a:ahLst/>
              <a:cxnLst/>
              <a:rect r="r" b="b" t="t" l="l"/>
              <a:pathLst>
                <a:path h="1984502" w="4179062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1967611"/>
                  </a:lnTo>
                  <a:cubicBezTo>
                    <a:pt x="4179062" y="1977009"/>
                    <a:pt x="4171442" y="1984502"/>
                    <a:pt x="4162171" y="1984502"/>
                  </a:cubicBezTo>
                  <a:lnTo>
                    <a:pt x="16891" y="1984502"/>
                  </a:lnTo>
                  <a:cubicBezTo>
                    <a:pt x="7493" y="1984502"/>
                    <a:pt x="0" y="1976882"/>
                    <a:pt x="0" y="1967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67611"/>
                  </a:lnTo>
                  <a:lnTo>
                    <a:pt x="16891" y="1967611"/>
                  </a:lnTo>
                  <a:lnTo>
                    <a:pt x="16891" y="1950720"/>
                  </a:lnTo>
                  <a:lnTo>
                    <a:pt x="4162171" y="1950720"/>
                  </a:lnTo>
                  <a:lnTo>
                    <a:pt x="4162171" y="1967611"/>
                  </a:lnTo>
                  <a:lnTo>
                    <a:pt x="4145280" y="1967611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437366" y="7759703"/>
            <a:ext cx="3108960" cy="1463040"/>
            <a:chOff x="0" y="0"/>
            <a:chExt cx="4145280" cy="1950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Governance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57" id="57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65" id="65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9" id="89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95" id="95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6" id="96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99" id="99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00" id="100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27819" y="1695202"/>
            <a:ext cx="16432372" cy="4440496"/>
            <a:chOff x="0" y="0"/>
            <a:chExt cx="21909829" cy="5920661"/>
          </a:xfrm>
        </p:grpSpPr>
        <p:grpSp>
          <p:nvGrpSpPr>
            <p:cNvPr name="Group 107" id="107"/>
            <p:cNvGrpSpPr/>
            <p:nvPr/>
          </p:nvGrpSpPr>
          <p:grpSpPr>
            <a:xfrm rot="0">
              <a:off x="0" y="211039"/>
              <a:ext cx="4196080" cy="2006084"/>
              <a:chOff x="0" y="0"/>
              <a:chExt cx="4196080" cy="2006084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25400" y="22693"/>
                <a:ext cx="4145280" cy="1960697"/>
              </a:xfrm>
              <a:custGeom>
                <a:avLst/>
                <a:gdLst/>
                <a:ahLst/>
                <a:cxnLst/>
                <a:rect r="r" b="b" t="t" l="l"/>
                <a:pathLst>
                  <a:path h="1960697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4196080" cy="2006084"/>
              </a:xfrm>
              <a:custGeom>
                <a:avLst/>
                <a:gdLst/>
                <a:ahLst/>
                <a:cxnLst/>
                <a:rect r="r" b="b" t="t" l="l"/>
                <a:pathLst>
                  <a:path h="2006084" w="4196080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0212"/>
                      <a:pt x="4196080" y="22693"/>
                    </a:cubicBezTo>
                    <a:lnTo>
                      <a:pt x="4196080" y="1983390"/>
                    </a:lnTo>
                    <a:cubicBezTo>
                      <a:pt x="4196080" y="1995872"/>
                      <a:pt x="4184650" y="2006084"/>
                      <a:pt x="41706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4170680" y="1960697"/>
                    </a:lnTo>
                    <a:lnTo>
                      <a:pt x="4170680" y="1983390"/>
                    </a:lnTo>
                    <a:lnTo>
                      <a:pt x="4145280" y="1983390"/>
                    </a:lnTo>
                    <a:lnTo>
                      <a:pt x="4145280" y="22693"/>
                    </a:lnTo>
                    <a:lnTo>
                      <a:pt x="4170680" y="22693"/>
                    </a:lnTo>
                    <a:lnTo>
                      <a:pt x="41706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50800" y="256425"/>
              <a:ext cx="4145280" cy="1960697"/>
              <a:chOff x="0" y="0"/>
              <a:chExt cx="4145280" cy="1960697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4145280" cy="1960697"/>
              </a:xfrm>
              <a:custGeom>
                <a:avLst/>
                <a:gdLst/>
                <a:ahLst/>
                <a:cxnLst/>
                <a:rect r="r" b="b" t="t" l="l"/>
                <a:pathLst>
                  <a:path h="1960697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t="0" r="-17925" b="-11927"/>
                </a:stretch>
              </a:blipFill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0" y="-66675"/>
                <a:ext cx="4145280" cy="2027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FastAPI App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main.py assembly</a:t>
                </a:r>
              </a:p>
            </p:txBody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4876800" y="211039"/>
              <a:ext cx="4196080" cy="2006084"/>
              <a:chOff x="0" y="0"/>
              <a:chExt cx="4196080" cy="2006084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25400" y="22693"/>
                <a:ext cx="4145280" cy="1960697"/>
              </a:xfrm>
              <a:custGeom>
                <a:avLst/>
                <a:gdLst/>
                <a:ahLst/>
                <a:cxnLst/>
                <a:rect r="r" b="b" t="t" l="l"/>
                <a:pathLst>
                  <a:path h="1960697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4196080" cy="2006084"/>
              </a:xfrm>
              <a:custGeom>
                <a:avLst/>
                <a:gdLst/>
                <a:ahLst/>
                <a:cxnLst/>
                <a:rect r="r" b="b" t="t" l="l"/>
                <a:pathLst>
                  <a:path h="2006084" w="4196080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0212"/>
                      <a:pt x="4196080" y="22693"/>
                    </a:cubicBezTo>
                    <a:lnTo>
                      <a:pt x="4196080" y="1983390"/>
                    </a:lnTo>
                    <a:cubicBezTo>
                      <a:pt x="4196080" y="1995872"/>
                      <a:pt x="4184650" y="2006084"/>
                      <a:pt x="41706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4170680" y="1960697"/>
                    </a:lnTo>
                    <a:lnTo>
                      <a:pt x="4170680" y="1983390"/>
                    </a:lnTo>
                    <a:lnTo>
                      <a:pt x="4145280" y="1983390"/>
                    </a:lnTo>
                    <a:lnTo>
                      <a:pt x="4145280" y="22693"/>
                    </a:lnTo>
                    <a:lnTo>
                      <a:pt x="4170680" y="22693"/>
                    </a:lnTo>
                    <a:lnTo>
                      <a:pt x="41706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4902200" y="256425"/>
              <a:ext cx="4145280" cy="2025997"/>
              <a:chOff x="0" y="0"/>
              <a:chExt cx="4145280" cy="2025997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4145280" cy="2025997"/>
              </a:xfrm>
              <a:custGeom>
                <a:avLst/>
                <a:gdLst/>
                <a:ahLst/>
                <a:cxnLst/>
                <a:rect r="r" b="b" t="t" l="l"/>
                <a:pathLst>
                  <a:path h="2025997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t="0" r="-17925" b="-8319"/>
                </a:stretch>
              </a:blipFill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66675"/>
                <a:ext cx="4145280" cy="20926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Route Layer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26 modules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194 handlers</a:t>
                </a: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9753600" y="211039"/>
              <a:ext cx="4439920" cy="2006084"/>
              <a:chOff x="0" y="0"/>
              <a:chExt cx="4439920" cy="2006084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25400" y="22693"/>
                <a:ext cx="4389120" cy="1960697"/>
              </a:xfrm>
              <a:custGeom>
                <a:avLst/>
                <a:gdLst/>
                <a:ahLst/>
                <a:cxnLst/>
                <a:rect r="r" b="b" t="t" l="l"/>
                <a:pathLst>
                  <a:path h="1960697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4439920" cy="2006084"/>
              </a:xfrm>
              <a:custGeom>
                <a:avLst/>
                <a:gdLst/>
                <a:ahLst/>
                <a:cxnLst/>
                <a:rect r="r" b="b" t="t" l="l"/>
                <a:pathLst>
                  <a:path h="2006084" w="4439920">
                    <a:moveTo>
                      <a:pt x="25400" y="0"/>
                    </a:moveTo>
                    <a:lnTo>
                      <a:pt x="4414520" y="0"/>
                    </a:lnTo>
                    <a:cubicBezTo>
                      <a:pt x="4428490" y="0"/>
                      <a:pt x="4439920" y="10212"/>
                      <a:pt x="4439920" y="22693"/>
                    </a:cubicBezTo>
                    <a:lnTo>
                      <a:pt x="4439920" y="1983390"/>
                    </a:lnTo>
                    <a:cubicBezTo>
                      <a:pt x="4439920" y="1995872"/>
                      <a:pt x="4428490" y="2006084"/>
                      <a:pt x="441452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4414520" y="1960697"/>
                    </a:lnTo>
                    <a:lnTo>
                      <a:pt x="4414520" y="1983390"/>
                    </a:lnTo>
                    <a:lnTo>
                      <a:pt x="4389120" y="1983390"/>
                    </a:lnTo>
                    <a:lnTo>
                      <a:pt x="4389120" y="22693"/>
                    </a:lnTo>
                    <a:lnTo>
                      <a:pt x="4414520" y="22693"/>
                    </a:lnTo>
                    <a:lnTo>
                      <a:pt x="441452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9804400" y="263982"/>
              <a:ext cx="4389120" cy="2025997"/>
              <a:chOff x="0" y="0"/>
              <a:chExt cx="4389120" cy="2025997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4389120" cy="2025997"/>
              </a:xfrm>
              <a:custGeom>
                <a:avLst/>
                <a:gdLst/>
                <a:ahLst/>
                <a:cxnLst/>
                <a:rect r="r" b="b" t="t" l="l"/>
                <a:pathLst>
                  <a:path h="2025997" w="4389120">
                    <a:moveTo>
                      <a:pt x="0" y="0"/>
                    </a:moveTo>
                    <a:lnTo>
                      <a:pt x="4389120" y="0"/>
                    </a:lnTo>
                    <a:lnTo>
                      <a:pt x="438912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-8319"/>
                </a:stretch>
              </a:blip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66675"/>
                <a:ext cx="4389120" cy="20926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Core Dependencies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JWT verify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RBAC + context</a:t>
                </a:r>
              </a:p>
            </p:txBody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15170792" y="0"/>
              <a:ext cx="6739037" cy="3310935"/>
              <a:chOff x="0" y="0"/>
              <a:chExt cx="6739037" cy="3310935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38553" y="26111"/>
                <a:ext cx="6661931" cy="3258712"/>
              </a:xfrm>
              <a:custGeom>
                <a:avLst/>
                <a:gdLst/>
                <a:ahLst/>
                <a:cxnLst/>
                <a:rect r="r" b="b" t="t" l="l"/>
                <a:pathLst>
                  <a:path h="3258712" w="6661931">
                    <a:moveTo>
                      <a:pt x="0" y="0"/>
                    </a:moveTo>
                    <a:lnTo>
                      <a:pt x="6661931" y="0"/>
                    </a:lnTo>
                    <a:lnTo>
                      <a:pt x="6661931" y="3258712"/>
                    </a:lnTo>
                    <a:lnTo>
                      <a:pt x="0" y="3258712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6739037" cy="3310935"/>
              </a:xfrm>
              <a:custGeom>
                <a:avLst/>
                <a:gdLst/>
                <a:ahLst/>
                <a:cxnLst/>
                <a:rect r="r" b="b" t="t" l="l"/>
                <a:pathLst>
                  <a:path h="3310935" w="6739037">
                    <a:moveTo>
                      <a:pt x="38553" y="0"/>
                    </a:moveTo>
                    <a:lnTo>
                      <a:pt x="6700484" y="0"/>
                    </a:lnTo>
                    <a:cubicBezTo>
                      <a:pt x="6721688" y="0"/>
                      <a:pt x="6739037" y="11750"/>
                      <a:pt x="6739037" y="26111"/>
                    </a:cubicBezTo>
                    <a:lnTo>
                      <a:pt x="6739037" y="3284823"/>
                    </a:lnTo>
                    <a:cubicBezTo>
                      <a:pt x="6739037" y="3299185"/>
                      <a:pt x="6721688" y="3310935"/>
                      <a:pt x="6700484" y="3310935"/>
                    </a:cubicBezTo>
                    <a:lnTo>
                      <a:pt x="38553" y="3310935"/>
                    </a:lnTo>
                    <a:cubicBezTo>
                      <a:pt x="17349" y="3310935"/>
                      <a:pt x="0" y="3299185"/>
                      <a:pt x="0" y="3284823"/>
                    </a:cubicBezTo>
                    <a:lnTo>
                      <a:pt x="0" y="26111"/>
                    </a:lnTo>
                    <a:cubicBezTo>
                      <a:pt x="0" y="11750"/>
                      <a:pt x="17349" y="0"/>
                      <a:pt x="38553" y="0"/>
                    </a:cubicBezTo>
                    <a:moveTo>
                      <a:pt x="38553" y="52223"/>
                    </a:moveTo>
                    <a:lnTo>
                      <a:pt x="38553" y="26111"/>
                    </a:lnTo>
                    <a:lnTo>
                      <a:pt x="77106" y="26111"/>
                    </a:lnTo>
                    <a:lnTo>
                      <a:pt x="77106" y="3284823"/>
                    </a:lnTo>
                    <a:lnTo>
                      <a:pt x="38553" y="3284823"/>
                    </a:lnTo>
                    <a:lnTo>
                      <a:pt x="38553" y="3258712"/>
                    </a:lnTo>
                    <a:lnTo>
                      <a:pt x="6700484" y="3258712"/>
                    </a:lnTo>
                    <a:lnTo>
                      <a:pt x="6700484" y="3284823"/>
                    </a:lnTo>
                    <a:lnTo>
                      <a:pt x="6661931" y="3284823"/>
                    </a:lnTo>
                    <a:lnTo>
                      <a:pt x="6661931" y="26111"/>
                    </a:lnTo>
                    <a:lnTo>
                      <a:pt x="6700484" y="26111"/>
                    </a:lnTo>
                    <a:lnTo>
                      <a:pt x="6700484" y="52223"/>
                    </a:lnTo>
                    <a:lnTo>
                      <a:pt x="38553" y="5222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15309758" y="67348"/>
              <a:ext cx="6461106" cy="3245197"/>
              <a:chOff x="0" y="0"/>
              <a:chExt cx="6461106" cy="3245197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6461106" cy="3245197"/>
              </a:xfrm>
              <a:custGeom>
                <a:avLst/>
                <a:gdLst/>
                <a:ahLst/>
                <a:cxnLst/>
                <a:rect r="r" b="b" t="t" l="l"/>
                <a:pathLst>
                  <a:path h="3245197" w="6461106">
                    <a:moveTo>
                      <a:pt x="0" y="0"/>
                    </a:moveTo>
                    <a:lnTo>
                      <a:pt x="6461106" y="0"/>
                    </a:lnTo>
                    <a:lnTo>
                      <a:pt x="6461106" y="3245197"/>
                    </a:lnTo>
                    <a:lnTo>
                      <a:pt x="0" y="32451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8982" t="0" r="3086" b="2319"/>
                </a:stretch>
              </a:blipFill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0" y="-66675"/>
                <a:ext cx="6461106" cy="33118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Service Layer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Appointments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Reminders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orchestration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Slot management</a:t>
                </a:r>
              </a:p>
            </p:txBody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0" y="3261012"/>
              <a:ext cx="5415280" cy="2006084"/>
              <a:chOff x="0" y="0"/>
              <a:chExt cx="5415280" cy="2006084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25400" y="22693"/>
                <a:ext cx="5364480" cy="1960697"/>
              </a:xfrm>
              <a:custGeom>
                <a:avLst/>
                <a:gdLst/>
                <a:ahLst/>
                <a:cxnLst/>
                <a:rect r="r" b="b" t="t" l="l"/>
                <a:pathLst>
                  <a:path h="196069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5415280" cy="2006084"/>
              </a:xfrm>
              <a:custGeom>
                <a:avLst/>
                <a:gdLst/>
                <a:ahLst/>
                <a:cxnLst/>
                <a:rect r="r" b="b" t="t" l="l"/>
                <a:pathLst>
                  <a:path h="2006084" w="5415280">
                    <a:moveTo>
                      <a:pt x="25400" y="0"/>
                    </a:moveTo>
                    <a:lnTo>
                      <a:pt x="5389880" y="0"/>
                    </a:lnTo>
                    <a:cubicBezTo>
                      <a:pt x="5403850" y="0"/>
                      <a:pt x="5415280" y="10212"/>
                      <a:pt x="5415280" y="22693"/>
                    </a:cubicBezTo>
                    <a:lnTo>
                      <a:pt x="5415280" y="1983390"/>
                    </a:lnTo>
                    <a:cubicBezTo>
                      <a:pt x="5415280" y="1995872"/>
                      <a:pt x="5403850" y="2006084"/>
                      <a:pt x="53898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5389880" y="1960697"/>
                    </a:lnTo>
                    <a:lnTo>
                      <a:pt x="5389880" y="1983390"/>
                    </a:lnTo>
                    <a:lnTo>
                      <a:pt x="5364480" y="1983390"/>
                    </a:lnTo>
                    <a:lnTo>
                      <a:pt x="5364480" y="22693"/>
                    </a:lnTo>
                    <a:lnTo>
                      <a:pt x="5389880" y="22693"/>
                    </a:lnTo>
                    <a:lnTo>
                      <a:pt x="53898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0" y="3310935"/>
              <a:ext cx="5364480" cy="2025997"/>
              <a:chOff x="0" y="0"/>
              <a:chExt cx="5364480" cy="2025997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5364480" cy="2025997"/>
              </a:xfrm>
              <a:custGeom>
                <a:avLst/>
                <a:gdLst/>
                <a:ahLst/>
                <a:cxnLst/>
                <a:rect r="r" b="b" t="t" l="l"/>
                <a:pathLst>
                  <a:path h="202599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487" t="0" r="-2487" b="-8319"/>
                </a:stretch>
              </a:blipFill>
            </p:spPr>
          </p:sp>
          <p:sp>
            <p:nvSpPr>
              <p:cNvPr name="TextBox 136" id="136"/>
              <p:cNvSpPr txBox="true"/>
              <p:nvPr/>
            </p:nvSpPr>
            <p:spPr>
              <a:xfrm>
                <a:off x="0" y="-66675"/>
                <a:ext cx="5364480" cy="20926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Persistence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SQLAlchemy 2 async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47 Alembic migrations</a:t>
                </a:r>
              </a:p>
            </p:txBody>
          </p:sp>
        </p:grpSp>
        <p:grpSp>
          <p:nvGrpSpPr>
            <p:cNvPr name="Group 137" id="137"/>
            <p:cNvGrpSpPr/>
            <p:nvPr/>
          </p:nvGrpSpPr>
          <p:grpSpPr>
            <a:xfrm rot="0">
              <a:off x="6096000" y="3261012"/>
              <a:ext cx="5415280" cy="2006084"/>
              <a:chOff x="0" y="0"/>
              <a:chExt cx="5415280" cy="2006084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25400" y="22693"/>
                <a:ext cx="5364480" cy="1960697"/>
              </a:xfrm>
              <a:custGeom>
                <a:avLst/>
                <a:gdLst/>
                <a:ahLst/>
                <a:cxnLst/>
                <a:rect r="r" b="b" t="t" l="l"/>
                <a:pathLst>
                  <a:path h="196069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5415280" cy="2006084"/>
              </a:xfrm>
              <a:custGeom>
                <a:avLst/>
                <a:gdLst/>
                <a:ahLst/>
                <a:cxnLst/>
                <a:rect r="r" b="b" t="t" l="l"/>
                <a:pathLst>
                  <a:path h="2006084" w="5415280">
                    <a:moveTo>
                      <a:pt x="25400" y="0"/>
                    </a:moveTo>
                    <a:lnTo>
                      <a:pt x="5389880" y="0"/>
                    </a:lnTo>
                    <a:cubicBezTo>
                      <a:pt x="5403850" y="0"/>
                      <a:pt x="5415280" y="10212"/>
                      <a:pt x="5415280" y="22693"/>
                    </a:cubicBezTo>
                    <a:lnTo>
                      <a:pt x="5415280" y="1983390"/>
                    </a:lnTo>
                    <a:cubicBezTo>
                      <a:pt x="5415280" y="1995872"/>
                      <a:pt x="5403850" y="2006084"/>
                      <a:pt x="538988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5389880" y="1960697"/>
                    </a:lnTo>
                    <a:lnTo>
                      <a:pt x="5389880" y="1983390"/>
                    </a:lnTo>
                    <a:lnTo>
                      <a:pt x="5364480" y="1983390"/>
                    </a:lnTo>
                    <a:lnTo>
                      <a:pt x="5364480" y="22693"/>
                    </a:lnTo>
                    <a:lnTo>
                      <a:pt x="5389880" y="22693"/>
                    </a:lnTo>
                    <a:lnTo>
                      <a:pt x="538988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6096000" y="3310935"/>
              <a:ext cx="5364480" cy="2025997"/>
              <a:chOff x="0" y="0"/>
              <a:chExt cx="5364480" cy="2025997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5364480" cy="2025997"/>
              </a:xfrm>
              <a:custGeom>
                <a:avLst/>
                <a:gdLst/>
                <a:ahLst/>
                <a:cxnLst/>
                <a:rect r="r" b="b" t="t" l="l"/>
                <a:pathLst>
                  <a:path h="202599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2487" t="0" r="-2487" b="-8319"/>
                </a:stretch>
              </a:blipFill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0" y="-66675"/>
                <a:ext cx="5364480" cy="20926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Background Workers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Hold-expiry loop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Reminder dispatcher</a:t>
                </a:r>
              </a:p>
            </p:txBody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12192000" y="3914578"/>
              <a:ext cx="6878320" cy="2006084"/>
              <a:chOff x="0" y="0"/>
              <a:chExt cx="6878320" cy="2006084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25400" y="22693"/>
                <a:ext cx="6827520" cy="1960697"/>
              </a:xfrm>
              <a:custGeom>
                <a:avLst/>
                <a:gdLst/>
                <a:ahLst/>
                <a:cxnLst/>
                <a:rect r="r" b="b" t="t" l="l"/>
                <a:pathLst>
                  <a:path h="1960697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1960697"/>
                    </a:lnTo>
                    <a:lnTo>
                      <a:pt x="0" y="1960697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6878320" cy="2006084"/>
              </a:xfrm>
              <a:custGeom>
                <a:avLst/>
                <a:gdLst/>
                <a:ahLst/>
                <a:cxnLst/>
                <a:rect r="r" b="b" t="t" l="l"/>
                <a:pathLst>
                  <a:path h="2006084" w="6878320">
                    <a:moveTo>
                      <a:pt x="25400" y="0"/>
                    </a:moveTo>
                    <a:lnTo>
                      <a:pt x="6852920" y="0"/>
                    </a:lnTo>
                    <a:cubicBezTo>
                      <a:pt x="6866889" y="0"/>
                      <a:pt x="6878320" y="10212"/>
                      <a:pt x="6878320" y="22693"/>
                    </a:cubicBezTo>
                    <a:lnTo>
                      <a:pt x="6878320" y="1983390"/>
                    </a:lnTo>
                    <a:cubicBezTo>
                      <a:pt x="6878320" y="1995872"/>
                      <a:pt x="6866889" y="2006084"/>
                      <a:pt x="6852920" y="2006084"/>
                    </a:cubicBezTo>
                    <a:lnTo>
                      <a:pt x="25400" y="2006084"/>
                    </a:lnTo>
                    <a:cubicBezTo>
                      <a:pt x="11430" y="2006084"/>
                      <a:pt x="0" y="1995872"/>
                      <a:pt x="0" y="1983390"/>
                    </a:cubicBezTo>
                    <a:lnTo>
                      <a:pt x="0" y="22693"/>
                    </a:lnTo>
                    <a:cubicBezTo>
                      <a:pt x="0" y="10212"/>
                      <a:pt x="11430" y="0"/>
                      <a:pt x="25400" y="0"/>
                    </a:cubicBezTo>
                    <a:moveTo>
                      <a:pt x="25400" y="45387"/>
                    </a:moveTo>
                    <a:lnTo>
                      <a:pt x="25400" y="22693"/>
                    </a:lnTo>
                    <a:lnTo>
                      <a:pt x="50800" y="22693"/>
                    </a:lnTo>
                    <a:lnTo>
                      <a:pt x="50800" y="1983390"/>
                    </a:lnTo>
                    <a:lnTo>
                      <a:pt x="25400" y="1983390"/>
                    </a:lnTo>
                    <a:lnTo>
                      <a:pt x="25400" y="1960697"/>
                    </a:lnTo>
                    <a:lnTo>
                      <a:pt x="6852920" y="1960697"/>
                    </a:lnTo>
                    <a:lnTo>
                      <a:pt x="6852920" y="1983390"/>
                    </a:lnTo>
                    <a:lnTo>
                      <a:pt x="6827520" y="1983390"/>
                    </a:lnTo>
                    <a:lnTo>
                      <a:pt x="6827520" y="22693"/>
                    </a:lnTo>
                    <a:lnTo>
                      <a:pt x="6852920" y="22693"/>
                    </a:lnTo>
                    <a:lnTo>
                      <a:pt x="6852920" y="45387"/>
                    </a:lnTo>
                    <a:lnTo>
                      <a:pt x="25400" y="45387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12217400" y="3894664"/>
              <a:ext cx="6827520" cy="2025997"/>
              <a:chOff x="0" y="0"/>
              <a:chExt cx="6827520" cy="2025997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6827520" cy="2025997"/>
              </a:xfrm>
              <a:custGeom>
                <a:avLst/>
                <a:gdLst/>
                <a:ahLst/>
                <a:cxnLst/>
                <a:rect r="r" b="b" t="t" l="l"/>
                <a:pathLst>
                  <a:path h="2025997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2025997"/>
                    </a:lnTo>
                    <a:lnTo>
                      <a:pt x="0" y="20259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1503" r="0" b="-19823"/>
                </a:stretch>
              </a:blipFill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66675"/>
                <a:ext cx="6827520" cy="20926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External Integrations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Supabase | Google Calendar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LLM APIs | VAPID push</a:t>
                </a:r>
              </a:p>
            </p:txBody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4136809" y="1183750"/>
              <a:ext cx="799249" cy="63500"/>
              <a:chOff x="0" y="0"/>
              <a:chExt cx="799249" cy="63500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33909" y="0"/>
                <a:ext cx="731520" cy="63464"/>
              </a:xfrm>
              <a:custGeom>
                <a:avLst/>
                <a:gdLst/>
                <a:ahLst/>
                <a:cxnLst/>
                <a:rect r="r" b="b" t="t" l="l"/>
                <a:pathLst>
                  <a:path h="63464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3464"/>
                    </a:lnTo>
                    <a:lnTo>
                      <a:pt x="0" y="63464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9013609" y="1183750"/>
              <a:ext cx="799249" cy="63500"/>
              <a:chOff x="0" y="0"/>
              <a:chExt cx="799249" cy="6350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33909" y="0"/>
                <a:ext cx="731520" cy="63464"/>
              </a:xfrm>
              <a:custGeom>
                <a:avLst/>
                <a:gdLst/>
                <a:ahLst/>
                <a:cxnLst/>
                <a:rect r="r" b="b" t="t" l="l"/>
                <a:pathLst>
                  <a:path h="63464" w="731520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63464"/>
                    </a:lnTo>
                    <a:lnTo>
                      <a:pt x="0" y="63464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grpSp>
          <p:nvGrpSpPr>
            <p:cNvPr name="Group 153" id="153"/>
            <p:cNvGrpSpPr/>
            <p:nvPr/>
          </p:nvGrpSpPr>
          <p:grpSpPr>
            <a:xfrm rot="0">
              <a:off x="14134249" y="1183750"/>
              <a:ext cx="1043089" cy="63500"/>
              <a:chOff x="0" y="0"/>
              <a:chExt cx="1043089" cy="63500"/>
            </a:xfrm>
          </p:grpSpPr>
          <p:sp>
            <p:nvSpPr>
              <p:cNvPr name="Freeform 154" id="154"/>
              <p:cNvSpPr/>
              <p:nvPr/>
            </p:nvSpPr>
            <p:spPr>
              <a:xfrm flipH="false" flipV="false" rot="0">
                <a:off x="33909" y="0"/>
                <a:ext cx="975360" cy="63464"/>
              </a:xfrm>
              <a:custGeom>
                <a:avLst/>
                <a:gdLst/>
                <a:ahLst/>
                <a:cxnLst/>
                <a:rect r="r" b="b" t="t" l="l"/>
                <a:pathLst>
                  <a:path h="63464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63464"/>
                    </a:lnTo>
                    <a:lnTo>
                      <a:pt x="0" y="63464"/>
                    </a:lnTo>
                    <a:close/>
                  </a:path>
                </a:pathLst>
              </a:custGeom>
              <a:solidFill>
                <a:srgbClr val="2563EB"/>
              </a:solidFill>
            </p:spPr>
          </p:sp>
        </p:grpSp>
        <p:sp>
          <p:nvSpPr>
            <p:cNvPr name="AutoShape 155" id="155"/>
            <p:cNvSpPr/>
            <p:nvPr/>
          </p:nvSpPr>
          <p:spPr>
            <a:xfrm flipV="true">
              <a:off x="11490012" y="2413374"/>
              <a:ext cx="3680781" cy="871207"/>
            </a:xfrm>
            <a:prstGeom prst="line">
              <a:avLst/>
            </a:prstGeom>
            <a:ln cap="flat" w="50800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6" id="156"/>
            <p:cNvSpPr/>
            <p:nvPr/>
          </p:nvSpPr>
          <p:spPr>
            <a:xfrm flipV="true">
              <a:off x="5378217" y="2209724"/>
              <a:ext cx="4382060" cy="1101211"/>
            </a:xfrm>
            <a:prstGeom prst="line">
              <a:avLst/>
            </a:prstGeom>
            <a:ln cap="flat" w="50800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7" id="157"/>
            <p:cNvSpPr/>
            <p:nvPr/>
          </p:nvSpPr>
          <p:spPr>
            <a:xfrm flipH="true">
              <a:off x="16229219" y="3310935"/>
              <a:ext cx="1566089" cy="583729"/>
            </a:xfrm>
            <a:prstGeom prst="line">
              <a:avLst/>
            </a:prstGeom>
            <a:ln cap="flat" w="50800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8" id="158"/>
          <p:cNvGrpSpPr/>
          <p:nvPr/>
        </p:nvGrpSpPr>
        <p:grpSpPr>
          <a:xfrm rot="0">
            <a:off x="194149" y="9525875"/>
            <a:ext cx="17716831" cy="761125"/>
            <a:chOff x="0" y="0"/>
            <a:chExt cx="23622441" cy="1014833"/>
          </a:xfrm>
        </p:grpSpPr>
        <p:grpSp>
          <p:nvGrpSpPr>
            <p:cNvPr name="Group 159" id="159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60" id="16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61" id="16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62" id="162"/>
            <p:cNvSpPr txBox="true"/>
            <p:nvPr/>
          </p:nvSpPr>
          <p:spPr>
            <a:xfrm rot="0">
              <a:off x="264028" y="189916"/>
              <a:ext cx="48677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  <p:sp>
          <p:nvSpPr>
            <p:cNvPr name="TextBox 163" id="163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09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39"/>
                </a:lnSpc>
              </a:pPr>
              <a:r>
                <a:rPr lang="en-US" sz="7199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Service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011680"/>
            <a:ext cx="8229600" cy="797272"/>
            <a:chOff x="0" y="0"/>
            <a:chExt cx="10972800" cy="10630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86" r="0" b="-14127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09728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Safety Boundary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2470" y="2907030"/>
            <a:ext cx="3695700" cy="1775460"/>
            <a:chOff x="0" y="0"/>
            <a:chExt cx="4927600" cy="236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48768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2760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341880"/>
                  </a:lnTo>
                  <a:cubicBezTo>
                    <a:pt x="4927600" y="2355850"/>
                    <a:pt x="4916170" y="2367280"/>
                    <a:pt x="490220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4902200" y="2316480"/>
                  </a:lnTo>
                  <a:lnTo>
                    <a:pt x="4902200" y="2341880"/>
                  </a:lnTo>
                  <a:lnTo>
                    <a:pt x="4876800" y="2341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0685" y="3575739"/>
            <a:ext cx="3474720" cy="1062298"/>
            <a:chOff x="0" y="0"/>
            <a:chExt cx="4632960" cy="14163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2960" cy="1416397"/>
            </a:xfrm>
            <a:custGeom>
              <a:avLst/>
              <a:gdLst/>
              <a:ahLst/>
              <a:cxnLst/>
              <a:rect r="r" b="b" t="t" l="l"/>
              <a:pathLst>
                <a:path h="1416397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16397"/>
                  </a:lnTo>
                  <a:lnTo>
                    <a:pt x="0" y="14163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99" r="0" b="-246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4632960" cy="1483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Tokenization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Policy checks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34917" y="4638037"/>
            <a:ext cx="50797" cy="416557"/>
            <a:chOff x="0" y="0"/>
            <a:chExt cx="67729" cy="5554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33909"/>
              <a:ext cx="67691" cy="487680"/>
            </a:xfrm>
            <a:custGeom>
              <a:avLst/>
              <a:gdLst/>
              <a:ahLst/>
              <a:cxnLst/>
              <a:rect r="r" b="b" t="t" l="l"/>
              <a:pathLst>
                <a:path h="487680" w="67691">
                  <a:moveTo>
                    <a:pt x="67691" y="0"/>
                  </a:moveTo>
                  <a:lnTo>
                    <a:pt x="67691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2470" y="5010150"/>
            <a:ext cx="3695700" cy="1775460"/>
            <a:chOff x="0" y="0"/>
            <a:chExt cx="4927600" cy="236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48768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2760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341880"/>
                  </a:lnTo>
                  <a:cubicBezTo>
                    <a:pt x="4927600" y="2355850"/>
                    <a:pt x="4916170" y="2367280"/>
                    <a:pt x="490220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4902200" y="2316480"/>
                  </a:lnTo>
                  <a:lnTo>
                    <a:pt x="4902200" y="2341880"/>
                  </a:lnTo>
                  <a:lnTo>
                    <a:pt x="4876800" y="2341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5066216"/>
            <a:ext cx="3474720" cy="1674941"/>
            <a:chOff x="0" y="0"/>
            <a:chExt cx="4632960" cy="223325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632960" cy="1219200"/>
              <a:chOff x="0" y="0"/>
              <a:chExt cx="4632960" cy="12192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63296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043" r="0" b="-24043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4632960" cy="12858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AI Orchestrator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816858"/>
              <a:ext cx="4632960" cy="1416397"/>
              <a:chOff x="0" y="0"/>
              <a:chExt cx="4632960" cy="141639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632960" cy="1416397"/>
              </a:xfrm>
              <a:custGeom>
                <a:avLst/>
                <a:gdLst/>
                <a:ahLst/>
                <a:cxnLst/>
                <a:rect r="r" b="b" t="t" l="l"/>
                <a:pathLst>
                  <a:path h="1416397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416397"/>
                    </a:lnTo>
                    <a:lnTo>
                      <a:pt x="0" y="14163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999" r="0" b="-2469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4632960" cy="14830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Adapter registry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Schema validation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2534917" y="6741157"/>
            <a:ext cx="50797" cy="416557"/>
            <a:chOff x="0" y="0"/>
            <a:chExt cx="67729" cy="5554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33909"/>
              <a:ext cx="67691" cy="487680"/>
            </a:xfrm>
            <a:custGeom>
              <a:avLst/>
              <a:gdLst/>
              <a:ahLst/>
              <a:cxnLst/>
              <a:rect r="r" b="b" t="t" l="l"/>
              <a:pathLst>
                <a:path h="487680" w="67691">
                  <a:moveTo>
                    <a:pt x="67691" y="0"/>
                  </a:moveTo>
                  <a:lnTo>
                    <a:pt x="67691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2470" y="7113270"/>
            <a:ext cx="3695700" cy="1775460"/>
            <a:chOff x="0" y="0"/>
            <a:chExt cx="4927600" cy="236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48768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27600" cy="2367280"/>
            </a:xfrm>
            <a:custGeom>
              <a:avLst/>
              <a:gdLst/>
              <a:ahLst/>
              <a:cxnLst/>
              <a:rect r="r" b="b" t="t" l="l"/>
              <a:pathLst>
                <a:path h="2367280" w="4927600">
                  <a:moveTo>
                    <a:pt x="25400" y="0"/>
                  </a:moveTo>
                  <a:lnTo>
                    <a:pt x="4902200" y="0"/>
                  </a:lnTo>
                  <a:cubicBezTo>
                    <a:pt x="4916170" y="0"/>
                    <a:pt x="4927600" y="11430"/>
                    <a:pt x="4927600" y="25400"/>
                  </a:cubicBezTo>
                  <a:lnTo>
                    <a:pt x="4927600" y="2341880"/>
                  </a:lnTo>
                  <a:cubicBezTo>
                    <a:pt x="4927600" y="2355850"/>
                    <a:pt x="4916170" y="2367280"/>
                    <a:pt x="4902200" y="2367280"/>
                  </a:cubicBezTo>
                  <a:lnTo>
                    <a:pt x="25400" y="2367280"/>
                  </a:lnTo>
                  <a:cubicBezTo>
                    <a:pt x="11430" y="2367280"/>
                    <a:pt x="0" y="2355850"/>
                    <a:pt x="0" y="23418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341880"/>
                  </a:lnTo>
                  <a:lnTo>
                    <a:pt x="25400" y="2341880"/>
                  </a:lnTo>
                  <a:lnTo>
                    <a:pt x="25400" y="2316480"/>
                  </a:lnTo>
                  <a:lnTo>
                    <a:pt x="4902200" y="2316480"/>
                  </a:lnTo>
                  <a:lnTo>
                    <a:pt x="4902200" y="2341880"/>
                  </a:lnTo>
                  <a:lnTo>
                    <a:pt x="4876800" y="2341880"/>
                  </a:lnTo>
                  <a:lnTo>
                    <a:pt x="4876800" y="25400"/>
                  </a:lnTo>
                  <a:lnTo>
                    <a:pt x="4902200" y="25400"/>
                  </a:lnTo>
                  <a:lnTo>
                    <a:pt x="4902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48354" y="7148976"/>
            <a:ext cx="3474720" cy="1704047"/>
            <a:chOff x="0" y="0"/>
            <a:chExt cx="4632960" cy="2272063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632960" cy="1219200"/>
              <a:chOff x="0" y="0"/>
              <a:chExt cx="4632960" cy="1219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63296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043" r="0" b="-24043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66675"/>
                <a:ext cx="4632960" cy="12858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Provider Adapters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855666"/>
              <a:ext cx="4632960" cy="1416397"/>
              <a:chOff x="0" y="0"/>
              <a:chExt cx="4632960" cy="141639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632960" cy="1416397"/>
              </a:xfrm>
              <a:custGeom>
                <a:avLst/>
                <a:gdLst/>
                <a:ahLst/>
                <a:cxnLst/>
                <a:rect r="r" b="b" t="t" l="l"/>
                <a:pathLst>
                  <a:path h="1416397" w="4632960">
                    <a:moveTo>
                      <a:pt x="0" y="0"/>
                    </a:moveTo>
                    <a:lnTo>
                      <a:pt x="4632960" y="0"/>
                    </a:lnTo>
                    <a:lnTo>
                      <a:pt x="4632960" y="1416397"/>
                    </a:lnTo>
                    <a:lnTo>
                      <a:pt x="0" y="14163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999" r="0" b="-2469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66675"/>
                <a:ext cx="4632960" cy="14830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Groq | Vapi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Cerebras | Azure DI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5190487" y="4975860"/>
            <a:ext cx="3147060" cy="1700022"/>
            <a:chOff x="0" y="0"/>
            <a:chExt cx="4196080" cy="2266696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21336"/>
              <a:ext cx="4196080" cy="2245360"/>
              <a:chOff x="0" y="0"/>
              <a:chExt cx="4196080" cy="224536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25400" y="25400"/>
                <a:ext cx="4145280" cy="2194560"/>
              </a:xfrm>
              <a:custGeom>
                <a:avLst/>
                <a:gdLst/>
                <a:ahLst/>
                <a:cxnLst/>
                <a:rect r="r" b="b" t="t" l="l"/>
                <a:pathLst>
                  <a:path h="2194560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196080" cy="2245360"/>
              </a:xfrm>
              <a:custGeom>
                <a:avLst/>
                <a:gdLst/>
                <a:ahLst/>
                <a:cxnLst/>
                <a:rect r="r" b="b" t="t" l="l"/>
                <a:pathLst>
                  <a:path h="2245360" w="4196080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1430"/>
                      <a:pt x="4196080" y="25400"/>
                    </a:cubicBezTo>
                    <a:lnTo>
                      <a:pt x="4196080" y="2219960"/>
                    </a:lnTo>
                    <a:cubicBezTo>
                      <a:pt x="4196080" y="2233930"/>
                      <a:pt x="4184650" y="2245360"/>
                      <a:pt x="4170680" y="2245360"/>
                    </a:cubicBezTo>
                    <a:lnTo>
                      <a:pt x="25400" y="2245360"/>
                    </a:lnTo>
                    <a:cubicBezTo>
                      <a:pt x="11430" y="2245360"/>
                      <a:pt x="0" y="2233930"/>
                      <a:pt x="0" y="221996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219960"/>
                    </a:lnTo>
                    <a:lnTo>
                      <a:pt x="25400" y="2219960"/>
                    </a:lnTo>
                    <a:lnTo>
                      <a:pt x="25400" y="2194560"/>
                    </a:lnTo>
                    <a:lnTo>
                      <a:pt x="4170680" y="2194560"/>
                    </a:lnTo>
                    <a:lnTo>
                      <a:pt x="4170680" y="2219960"/>
                    </a:lnTo>
                    <a:lnTo>
                      <a:pt x="4145280" y="2219960"/>
                    </a:lnTo>
                    <a:lnTo>
                      <a:pt x="4145280" y="25400"/>
                    </a:lnTo>
                    <a:lnTo>
                      <a:pt x="4170680" y="25400"/>
                    </a:lnTo>
                    <a:lnTo>
                      <a:pt x="417068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4145280" cy="2194560"/>
              <a:chOff x="0" y="0"/>
              <a:chExt cx="4145280" cy="219456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145280" cy="2194560"/>
              </a:xfrm>
              <a:custGeom>
                <a:avLst/>
                <a:gdLst/>
                <a:ahLst/>
                <a:cxnLst/>
                <a:rect r="r" b="b" t="t" l="l"/>
                <a:pathLst>
                  <a:path h="2194560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t="0" r="-17925" b="0"/>
                </a:stretch>
              </a:blip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66675"/>
                <a:ext cx="4145280" cy="226123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Tables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ai_interactions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chorui_messages</a:t>
                </a: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4408170" y="5833867"/>
            <a:ext cx="782317" cy="50797"/>
            <a:chOff x="0" y="0"/>
            <a:chExt cx="1043089" cy="6772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33909" y="0"/>
              <a:ext cx="975360" cy="67691"/>
            </a:xfrm>
            <a:custGeom>
              <a:avLst/>
              <a:gdLst/>
              <a:ahLst/>
              <a:cxnLst/>
              <a:rect r="r" b="b" t="t" l="l"/>
              <a:pathLst>
                <a:path h="67691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509760" y="2011680"/>
            <a:ext cx="8229600" cy="797272"/>
            <a:chOff x="0" y="0"/>
            <a:chExt cx="10972800" cy="10630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86" r="0" b="-14127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109728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Chorui Assistant Flow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39350" y="2815590"/>
            <a:ext cx="5158740" cy="1226820"/>
            <a:chOff x="0" y="0"/>
            <a:chExt cx="6878320" cy="163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5400" y="2540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78320" cy="1635760"/>
            </a:xfrm>
            <a:custGeom>
              <a:avLst/>
              <a:gdLst/>
              <a:ahLst/>
              <a:cxnLst/>
              <a:rect r="r" b="b" t="t" l="l"/>
              <a:pathLst>
                <a:path h="163576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032997" y="2834640"/>
            <a:ext cx="5120640" cy="1188720"/>
            <a:chOff x="0" y="0"/>
            <a:chExt cx="6827520" cy="1584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682752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Query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593317" y="3997957"/>
            <a:ext cx="50797" cy="361693"/>
            <a:chOff x="0" y="0"/>
            <a:chExt cx="67729" cy="48225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33909"/>
              <a:ext cx="67691" cy="414528"/>
            </a:xfrm>
            <a:custGeom>
              <a:avLst/>
              <a:gdLst/>
              <a:ahLst/>
              <a:cxnLst/>
              <a:rect r="r" b="b" t="t" l="l"/>
              <a:pathLst>
                <a:path h="414528" w="67691">
                  <a:moveTo>
                    <a:pt x="67691" y="0"/>
                  </a:moveTo>
                  <a:lnTo>
                    <a:pt x="67691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39350" y="4315206"/>
            <a:ext cx="5158740" cy="1226820"/>
            <a:chOff x="0" y="0"/>
            <a:chExt cx="6878320" cy="1635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25400" y="2540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78320" cy="1635760"/>
            </a:xfrm>
            <a:custGeom>
              <a:avLst/>
              <a:gdLst/>
              <a:ahLst/>
              <a:cxnLst/>
              <a:rect r="r" b="b" t="t" l="l"/>
              <a:pathLst>
                <a:path h="163576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137772" y="4278698"/>
            <a:ext cx="5120640" cy="1263328"/>
            <a:chOff x="0" y="0"/>
            <a:chExt cx="6827520" cy="168443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27520" cy="1684437"/>
            </a:xfrm>
            <a:custGeom>
              <a:avLst/>
              <a:gdLst/>
              <a:ahLst/>
              <a:cxnLst/>
              <a:rect r="r" b="b" t="t" l="l"/>
              <a:pathLst>
                <a:path h="1684437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1" r="0" b="-260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6827520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Intent Normalizer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(role-aware context)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593317" y="5497573"/>
            <a:ext cx="50797" cy="361693"/>
            <a:chOff x="0" y="0"/>
            <a:chExt cx="67729" cy="48225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33909"/>
              <a:ext cx="67691" cy="414528"/>
            </a:xfrm>
            <a:custGeom>
              <a:avLst/>
              <a:gdLst/>
              <a:ahLst/>
              <a:cxnLst/>
              <a:rect r="r" b="b" t="t" l="l"/>
              <a:pathLst>
                <a:path h="414528" w="67691">
                  <a:moveTo>
                    <a:pt x="67691" y="0"/>
                  </a:moveTo>
                  <a:lnTo>
                    <a:pt x="67691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039350" y="5814822"/>
            <a:ext cx="5158740" cy="1226820"/>
            <a:chOff x="0" y="0"/>
            <a:chExt cx="6878320" cy="16357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5400" y="2540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78320" cy="1635760"/>
            </a:xfrm>
            <a:custGeom>
              <a:avLst/>
              <a:gdLst/>
              <a:ahLst/>
              <a:cxnLst/>
              <a:rect r="r" b="b" t="t" l="l"/>
              <a:pathLst>
                <a:path h="163576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58400" y="5833872"/>
            <a:ext cx="5120640" cy="1263328"/>
            <a:chOff x="0" y="0"/>
            <a:chExt cx="6827520" cy="168443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0" cy="1684437"/>
            </a:xfrm>
            <a:custGeom>
              <a:avLst/>
              <a:gdLst/>
              <a:ahLst/>
              <a:cxnLst/>
              <a:rect r="r" b="b" t="t" l="l"/>
              <a:pathLst>
                <a:path h="1684437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1" r="0" b="-260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6827520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Orchestrator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LLM call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93317" y="6997189"/>
            <a:ext cx="50797" cy="361693"/>
            <a:chOff x="0" y="0"/>
            <a:chExt cx="67729" cy="48225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33909"/>
              <a:ext cx="67691" cy="414528"/>
            </a:xfrm>
            <a:custGeom>
              <a:avLst/>
              <a:gdLst/>
              <a:ahLst/>
              <a:cxnLst/>
              <a:rect r="r" b="b" t="t" l="l"/>
              <a:pathLst>
                <a:path h="414528" w="67691">
                  <a:moveTo>
                    <a:pt x="67691" y="0"/>
                  </a:moveTo>
                  <a:lnTo>
                    <a:pt x="67691" y="414528"/>
                  </a:lnTo>
                  <a:lnTo>
                    <a:pt x="0" y="4145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039350" y="7314438"/>
            <a:ext cx="5158740" cy="1226820"/>
            <a:chOff x="0" y="0"/>
            <a:chExt cx="6878320" cy="16357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25400" y="25400"/>
              <a:ext cx="68275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78320" cy="1635760"/>
            </a:xfrm>
            <a:custGeom>
              <a:avLst/>
              <a:gdLst/>
              <a:ahLst/>
              <a:cxnLst/>
              <a:rect r="r" b="b" t="t" l="l"/>
              <a:pathLst>
                <a:path h="1635760" w="6878320">
                  <a:moveTo>
                    <a:pt x="25400" y="0"/>
                  </a:moveTo>
                  <a:lnTo>
                    <a:pt x="6852920" y="0"/>
                  </a:lnTo>
                  <a:cubicBezTo>
                    <a:pt x="6866889" y="0"/>
                    <a:pt x="6878320" y="11430"/>
                    <a:pt x="6878320" y="25400"/>
                  </a:cubicBezTo>
                  <a:lnTo>
                    <a:pt x="6878320" y="1610360"/>
                  </a:lnTo>
                  <a:cubicBezTo>
                    <a:pt x="6878320" y="1624330"/>
                    <a:pt x="6866889" y="1635760"/>
                    <a:pt x="6852920" y="1635760"/>
                  </a:cubicBezTo>
                  <a:lnTo>
                    <a:pt x="25400" y="1635760"/>
                  </a:lnTo>
                  <a:cubicBezTo>
                    <a:pt x="11430" y="1635760"/>
                    <a:pt x="0" y="1624330"/>
                    <a:pt x="0" y="1610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610360"/>
                  </a:lnTo>
                  <a:lnTo>
                    <a:pt x="25400" y="1610360"/>
                  </a:lnTo>
                  <a:lnTo>
                    <a:pt x="25400" y="1584960"/>
                  </a:lnTo>
                  <a:lnTo>
                    <a:pt x="6852920" y="1584960"/>
                  </a:lnTo>
                  <a:lnTo>
                    <a:pt x="6852920" y="1610360"/>
                  </a:lnTo>
                  <a:lnTo>
                    <a:pt x="6827520" y="1610360"/>
                  </a:lnTo>
                  <a:lnTo>
                    <a:pt x="6827520" y="25400"/>
                  </a:lnTo>
                  <a:lnTo>
                    <a:pt x="6852920" y="25400"/>
                  </a:lnTo>
                  <a:lnTo>
                    <a:pt x="68529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058400" y="7333488"/>
            <a:ext cx="5120640" cy="1263328"/>
            <a:chOff x="0" y="0"/>
            <a:chExt cx="6827520" cy="1684437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827520" cy="1684437"/>
            </a:xfrm>
            <a:custGeom>
              <a:avLst/>
              <a:gdLst/>
              <a:ahLst/>
              <a:cxnLst/>
              <a:rect r="r" b="b" t="t" l="l"/>
              <a:pathLst>
                <a:path h="1684437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31" r="0" b="-2602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6827520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Navigation Engine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(confidence gating)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614647" y="7626096"/>
            <a:ext cx="2402843" cy="1762763"/>
            <a:chOff x="0" y="0"/>
            <a:chExt cx="3203791" cy="2350351"/>
          </a:xfrm>
        </p:grpSpPr>
        <p:grpSp>
          <p:nvGrpSpPr>
            <p:cNvPr name="Group 83" id="83"/>
            <p:cNvGrpSpPr/>
            <p:nvPr/>
          </p:nvGrpSpPr>
          <p:grpSpPr>
            <a:xfrm rot="0">
              <a:off x="0" y="0"/>
              <a:ext cx="3203791" cy="2350351"/>
              <a:chOff x="0" y="0"/>
              <a:chExt cx="3203791" cy="2350351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16891" y="16891"/>
                <a:ext cx="3169920" cy="2316480"/>
              </a:xfrm>
              <a:custGeom>
                <a:avLst/>
                <a:gdLst/>
                <a:ahLst/>
                <a:cxnLst/>
                <a:rect r="r" b="b" t="t" l="l"/>
                <a:pathLst>
                  <a:path h="2316480" w="316992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3203702" cy="2350262"/>
              </a:xfrm>
              <a:custGeom>
                <a:avLst/>
                <a:gdLst/>
                <a:ahLst/>
                <a:cxnLst/>
                <a:rect r="r" b="b" t="t" l="l"/>
                <a:pathLst>
                  <a:path h="2350262" w="3203702">
                    <a:moveTo>
                      <a:pt x="16891" y="0"/>
                    </a:moveTo>
                    <a:lnTo>
                      <a:pt x="3186811" y="0"/>
                    </a:lnTo>
                    <a:cubicBezTo>
                      <a:pt x="3196209" y="0"/>
                      <a:pt x="3203702" y="7620"/>
                      <a:pt x="3203702" y="16891"/>
                    </a:cubicBezTo>
                    <a:lnTo>
                      <a:pt x="3203702" y="2333371"/>
                    </a:lnTo>
                    <a:cubicBezTo>
                      <a:pt x="3203702" y="2342769"/>
                      <a:pt x="3196082" y="2350262"/>
                      <a:pt x="3186811" y="2350262"/>
                    </a:cubicBezTo>
                    <a:lnTo>
                      <a:pt x="16891" y="2350262"/>
                    </a:lnTo>
                    <a:cubicBezTo>
                      <a:pt x="7493" y="2350262"/>
                      <a:pt x="0" y="2342642"/>
                      <a:pt x="0" y="2333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333371"/>
                    </a:lnTo>
                    <a:lnTo>
                      <a:pt x="16891" y="2333371"/>
                    </a:lnTo>
                    <a:lnTo>
                      <a:pt x="16891" y="2316480"/>
                    </a:lnTo>
                    <a:lnTo>
                      <a:pt x="3186811" y="2316480"/>
                    </a:lnTo>
                    <a:lnTo>
                      <a:pt x="3186811" y="2333371"/>
                    </a:lnTo>
                    <a:lnTo>
                      <a:pt x="3169920" y="2333371"/>
                    </a:lnTo>
                    <a:lnTo>
                      <a:pt x="3169920" y="16891"/>
                    </a:lnTo>
                    <a:lnTo>
                      <a:pt x="3186811" y="16891"/>
                    </a:lnTo>
                    <a:lnTo>
                      <a:pt x="31868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86" id="86"/>
            <p:cNvGrpSpPr/>
            <p:nvPr/>
          </p:nvGrpSpPr>
          <p:grpSpPr>
            <a:xfrm rot="0">
              <a:off x="16935" y="33871"/>
              <a:ext cx="3169920" cy="2316480"/>
              <a:chOff x="0" y="0"/>
              <a:chExt cx="3169920" cy="231648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3169920" cy="2316480"/>
              </a:xfrm>
              <a:custGeom>
                <a:avLst/>
                <a:gdLst/>
                <a:ahLst/>
                <a:cxnLst/>
                <a:rect r="r" b="b" t="t" l="l"/>
                <a:pathLst>
                  <a:path h="2316480" w="316992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3760" t="0" r="-43760" b="0"/>
                </a:stretch>
              </a:blip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57150"/>
                <a:ext cx="3169920" cy="23736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High → Navigate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Med → Confirm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Low → Clarify</a:t>
                </a:r>
              </a:p>
            </p:txBody>
          </p:sp>
        </p:grpSp>
      </p:grpSp>
      <p:grpSp>
        <p:nvGrpSpPr>
          <p:cNvPr name="Group 89" id="89"/>
          <p:cNvGrpSpPr/>
          <p:nvPr/>
        </p:nvGrpSpPr>
        <p:grpSpPr>
          <a:xfrm rot="0">
            <a:off x="15198090" y="7877051"/>
            <a:ext cx="416557" cy="50797"/>
            <a:chOff x="0" y="0"/>
            <a:chExt cx="555409" cy="677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95" id="95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7" id="97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8" id="98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9" id="99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0" id="100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1" id="101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2" id="102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3" id="103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33" id="133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4" id="134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38" id="138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39" id="139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40" id="140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41" id="141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42" id="142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43" id="143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45" id="145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48" id="148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  <p:sp>
          <p:nvSpPr>
            <p:cNvPr name="TextBox 149" id="149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TextBox 150" id="150"/>
          <p:cNvSpPr txBox="true"/>
          <p:nvPr/>
        </p:nvSpPr>
        <p:spPr>
          <a:xfrm rot="0">
            <a:off x="816514" y="3106080"/>
            <a:ext cx="350889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041F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Consent + Pll Guard</a:t>
            </a:r>
          </a:p>
        </p:txBody>
      </p:sp>
      <p:sp>
        <p:nvSpPr>
          <p:cNvPr name="Freeform 151" id="151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52" id="152"/>
          <p:cNvSpPr/>
          <p:nvPr/>
        </p:nvSpPr>
        <p:spPr>
          <a:xfrm flipV="true">
            <a:off x="4484092" y="3997957"/>
            <a:ext cx="706395" cy="1929708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3" id="153"/>
          <p:cNvSpPr/>
          <p:nvPr/>
        </p:nvSpPr>
        <p:spPr>
          <a:xfrm>
            <a:off x="4408170" y="5897880"/>
            <a:ext cx="782317" cy="1728216"/>
          </a:xfrm>
          <a:prstGeom prst="line">
            <a:avLst/>
          </a:prstGeom>
          <a:ln cap="flat" w="38100">
            <a:solidFill>
              <a:srgbClr val="004B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4" id="154"/>
          <p:cNvGrpSpPr/>
          <p:nvPr/>
        </p:nvGrpSpPr>
        <p:grpSpPr>
          <a:xfrm rot="0">
            <a:off x="5190487" y="6805546"/>
            <a:ext cx="3147060" cy="1976698"/>
            <a:chOff x="0" y="0"/>
            <a:chExt cx="4196080" cy="2635597"/>
          </a:xfrm>
        </p:grpSpPr>
        <p:grpSp>
          <p:nvGrpSpPr>
            <p:cNvPr name="Group 155" id="155"/>
            <p:cNvGrpSpPr/>
            <p:nvPr/>
          </p:nvGrpSpPr>
          <p:grpSpPr>
            <a:xfrm rot="0">
              <a:off x="0" y="21336"/>
              <a:ext cx="4196080" cy="2245360"/>
              <a:chOff x="0" y="0"/>
              <a:chExt cx="4196080" cy="2245360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25400" y="25400"/>
                <a:ext cx="4145280" cy="2194560"/>
              </a:xfrm>
              <a:custGeom>
                <a:avLst/>
                <a:gdLst/>
                <a:ahLst/>
                <a:cxnLst/>
                <a:rect r="r" b="b" t="t" l="l"/>
                <a:pathLst>
                  <a:path h="2194560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194560"/>
                    </a:lnTo>
                    <a:lnTo>
                      <a:pt x="0" y="219456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4196080" cy="2245360"/>
              </a:xfrm>
              <a:custGeom>
                <a:avLst/>
                <a:gdLst/>
                <a:ahLst/>
                <a:cxnLst/>
                <a:rect r="r" b="b" t="t" l="l"/>
                <a:pathLst>
                  <a:path h="2245360" w="4196080">
                    <a:moveTo>
                      <a:pt x="25400" y="0"/>
                    </a:moveTo>
                    <a:lnTo>
                      <a:pt x="4170680" y="0"/>
                    </a:lnTo>
                    <a:cubicBezTo>
                      <a:pt x="4184650" y="0"/>
                      <a:pt x="4196080" y="11430"/>
                      <a:pt x="4196080" y="25400"/>
                    </a:cubicBezTo>
                    <a:lnTo>
                      <a:pt x="4196080" y="2219960"/>
                    </a:lnTo>
                    <a:cubicBezTo>
                      <a:pt x="4196080" y="2233930"/>
                      <a:pt x="4184650" y="2245360"/>
                      <a:pt x="4170680" y="2245360"/>
                    </a:cubicBezTo>
                    <a:lnTo>
                      <a:pt x="25400" y="2245360"/>
                    </a:lnTo>
                    <a:cubicBezTo>
                      <a:pt x="11430" y="2245360"/>
                      <a:pt x="0" y="2233930"/>
                      <a:pt x="0" y="221996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2219960"/>
                    </a:lnTo>
                    <a:lnTo>
                      <a:pt x="25400" y="2219960"/>
                    </a:lnTo>
                    <a:lnTo>
                      <a:pt x="25400" y="2194560"/>
                    </a:lnTo>
                    <a:lnTo>
                      <a:pt x="4170680" y="2194560"/>
                    </a:lnTo>
                    <a:lnTo>
                      <a:pt x="4170680" y="2219960"/>
                    </a:lnTo>
                    <a:lnTo>
                      <a:pt x="4145280" y="2219960"/>
                    </a:lnTo>
                    <a:lnTo>
                      <a:pt x="4145280" y="25400"/>
                    </a:lnTo>
                    <a:lnTo>
                      <a:pt x="4170680" y="25400"/>
                    </a:lnTo>
                    <a:lnTo>
                      <a:pt x="417068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0" y="0"/>
              <a:ext cx="4145280" cy="2635597"/>
              <a:chOff x="0" y="0"/>
              <a:chExt cx="4145280" cy="2635597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4145280" cy="2635597"/>
              </a:xfrm>
              <a:custGeom>
                <a:avLst/>
                <a:gdLst/>
                <a:ahLst/>
                <a:cxnLst/>
                <a:rect r="r" b="b" t="t" l="l"/>
                <a:pathLst>
                  <a:path h="2635597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2635597"/>
                    </a:lnTo>
                    <a:lnTo>
                      <a:pt x="0" y="26355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7925" t="0" r="-17925" b="16733"/>
                </a:stretch>
              </a:blipFill>
            </p:spPr>
          </p:sp>
          <p:sp>
            <p:nvSpPr>
              <p:cNvPr name="TextBox 160" id="160"/>
              <p:cNvSpPr txBox="true"/>
              <p:nvPr/>
            </p:nvSpPr>
            <p:spPr>
              <a:xfrm>
                <a:off x="0" y="-66675"/>
                <a:ext cx="4145280" cy="27022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OCR Service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Navigation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Voice Agent</a:t>
                </a:r>
              </a:p>
              <a:p>
                <a:pPr algn="ctr">
                  <a:lnSpc>
                    <a:spcPts val="3600"/>
                  </a:lnSpc>
                </a:pPr>
              </a:p>
            </p:txBody>
          </p:sp>
        </p:grpSp>
      </p:grpSp>
      <p:grpSp>
        <p:nvGrpSpPr>
          <p:cNvPr name="Group 161" id="161"/>
          <p:cNvGrpSpPr/>
          <p:nvPr/>
        </p:nvGrpSpPr>
        <p:grpSpPr>
          <a:xfrm rot="0">
            <a:off x="5190487" y="3158490"/>
            <a:ext cx="3147060" cy="1684020"/>
            <a:chOff x="0" y="0"/>
            <a:chExt cx="4196080" cy="22453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25400" y="25400"/>
              <a:ext cx="4145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196080" cy="2245360"/>
            </a:xfrm>
            <a:custGeom>
              <a:avLst/>
              <a:gdLst/>
              <a:ahLst/>
              <a:cxnLst/>
              <a:rect r="r" b="b" t="t" l="l"/>
              <a:pathLst>
                <a:path h="224536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219960"/>
                  </a:lnTo>
                  <a:cubicBezTo>
                    <a:pt x="4196080" y="2233930"/>
                    <a:pt x="4184650" y="2245360"/>
                    <a:pt x="4170680" y="2245360"/>
                  </a:cubicBezTo>
                  <a:lnTo>
                    <a:pt x="25400" y="2245360"/>
                  </a:lnTo>
                  <a:cubicBezTo>
                    <a:pt x="11430" y="2245360"/>
                    <a:pt x="0" y="2233930"/>
                    <a:pt x="0" y="22199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219960"/>
                  </a:lnTo>
                  <a:lnTo>
                    <a:pt x="25400" y="2219960"/>
                  </a:lnTo>
                  <a:lnTo>
                    <a:pt x="25400" y="2194560"/>
                  </a:lnTo>
                  <a:lnTo>
                    <a:pt x="4170680" y="2194560"/>
                  </a:lnTo>
                  <a:lnTo>
                    <a:pt x="4170680" y="2219960"/>
                  </a:lnTo>
                  <a:lnTo>
                    <a:pt x="4145280" y="221996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5190487" y="3142488"/>
            <a:ext cx="3108960" cy="1645920"/>
            <a:chOff x="0" y="0"/>
            <a:chExt cx="4145280" cy="219456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145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25" t="0" r="-17925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66675"/>
              <a:ext cx="414528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Services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Doctor Search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Chorui AI Assistant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5614647" y="5278879"/>
            <a:ext cx="2402843" cy="1762763"/>
            <a:chOff x="0" y="0"/>
            <a:chExt cx="3203791" cy="2350351"/>
          </a:xfrm>
        </p:grpSpPr>
        <p:grpSp>
          <p:nvGrpSpPr>
            <p:cNvPr name="Group 168" id="168"/>
            <p:cNvGrpSpPr/>
            <p:nvPr/>
          </p:nvGrpSpPr>
          <p:grpSpPr>
            <a:xfrm rot="0">
              <a:off x="0" y="0"/>
              <a:ext cx="3203791" cy="2350351"/>
              <a:chOff x="0" y="0"/>
              <a:chExt cx="3203791" cy="2350351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16891" y="16891"/>
                <a:ext cx="3169920" cy="2316480"/>
              </a:xfrm>
              <a:custGeom>
                <a:avLst/>
                <a:gdLst/>
                <a:ahLst/>
                <a:cxnLst/>
                <a:rect r="r" b="b" t="t" l="l"/>
                <a:pathLst>
                  <a:path h="2316480" w="316992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solidFill>
                <a:srgbClr val="EDE9FE"/>
              </a:solidFill>
            </p:spPr>
          </p:sp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3203702" cy="2350262"/>
              </a:xfrm>
              <a:custGeom>
                <a:avLst/>
                <a:gdLst/>
                <a:ahLst/>
                <a:cxnLst/>
                <a:rect r="r" b="b" t="t" l="l"/>
                <a:pathLst>
                  <a:path h="2350262" w="3203702">
                    <a:moveTo>
                      <a:pt x="16891" y="0"/>
                    </a:moveTo>
                    <a:lnTo>
                      <a:pt x="3186811" y="0"/>
                    </a:lnTo>
                    <a:cubicBezTo>
                      <a:pt x="3196209" y="0"/>
                      <a:pt x="3203702" y="7620"/>
                      <a:pt x="3203702" y="16891"/>
                    </a:cubicBezTo>
                    <a:lnTo>
                      <a:pt x="3203702" y="2333371"/>
                    </a:lnTo>
                    <a:cubicBezTo>
                      <a:pt x="3203702" y="2342769"/>
                      <a:pt x="3196082" y="2350262"/>
                      <a:pt x="3186811" y="2350262"/>
                    </a:cubicBezTo>
                    <a:lnTo>
                      <a:pt x="16891" y="2350262"/>
                    </a:lnTo>
                    <a:cubicBezTo>
                      <a:pt x="7493" y="2350262"/>
                      <a:pt x="0" y="2342642"/>
                      <a:pt x="0" y="233337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2333371"/>
                    </a:lnTo>
                    <a:lnTo>
                      <a:pt x="16891" y="2333371"/>
                    </a:lnTo>
                    <a:lnTo>
                      <a:pt x="16891" y="2316480"/>
                    </a:lnTo>
                    <a:lnTo>
                      <a:pt x="3186811" y="2316480"/>
                    </a:lnTo>
                    <a:lnTo>
                      <a:pt x="3186811" y="2333371"/>
                    </a:lnTo>
                    <a:lnTo>
                      <a:pt x="3169920" y="2333371"/>
                    </a:lnTo>
                    <a:lnTo>
                      <a:pt x="3169920" y="16891"/>
                    </a:lnTo>
                    <a:lnTo>
                      <a:pt x="3186811" y="16891"/>
                    </a:lnTo>
                    <a:lnTo>
                      <a:pt x="31868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71" id="171"/>
            <p:cNvGrpSpPr/>
            <p:nvPr/>
          </p:nvGrpSpPr>
          <p:grpSpPr>
            <a:xfrm rot="0">
              <a:off x="16935" y="33871"/>
              <a:ext cx="3169920" cy="2316480"/>
              <a:chOff x="0" y="0"/>
              <a:chExt cx="3169920" cy="2316480"/>
            </a:xfrm>
          </p:grpSpPr>
          <p:sp>
            <p:nvSpPr>
              <p:cNvPr name="Freeform 172" id="172"/>
              <p:cNvSpPr/>
              <p:nvPr/>
            </p:nvSpPr>
            <p:spPr>
              <a:xfrm flipH="false" flipV="false" rot="0">
                <a:off x="0" y="0"/>
                <a:ext cx="3169920" cy="2316480"/>
              </a:xfrm>
              <a:custGeom>
                <a:avLst/>
                <a:gdLst/>
                <a:ahLst/>
                <a:cxnLst/>
                <a:rect r="r" b="b" t="t" l="l"/>
                <a:pathLst>
                  <a:path h="2316480" w="3169920">
                    <a:moveTo>
                      <a:pt x="0" y="0"/>
                    </a:moveTo>
                    <a:lnTo>
                      <a:pt x="3169920" y="0"/>
                    </a:lnTo>
                    <a:lnTo>
                      <a:pt x="316992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3760" t="0" r="-43760" b="0"/>
                </a:stretch>
              </a:blipFill>
            </p:spPr>
          </p:sp>
          <p:sp>
            <p:nvSpPr>
              <p:cNvPr name="TextBox 173" id="173"/>
              <p:cNvSpPr txBox="true"/>
              <p:nvPr/>
            </p:nvSpPr>
            <p:spPr>
              <a:xfrm>
                <a:off x="0" y="-57150"/>
                <a:ext cx="3169920" cy="23736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High → Navigate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Med → Confirm</a:t>
                </a:r>
              </a:p>
              <a:p>
                <a:pPr algn="ctr">
                  <a:lnSpc>
                    <a:spcPts val="3120"/>
                  </a:lnSpc>
                </a:pPr>
                <a:r>
                  <a:rPr lang="en-US" sz="2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Low → Clarify</a:t>
                </a:r>
              </a:p>
            </p:txBody>
          </p:sp>
        </p:grpSp>
      </p:grpSp>
      <p:grpSp>
        <p:nvGrpSpPr>
          <p:cNvPr name="Group 174" id="174"/>
          <p:cNvGrpSpPr/>
          <p:nvPr/>
        </p:nvGrpSpPr>
        <p:grpSpPr>
          <a:xfrm rot="0">
            <a:off x="15198090" y="6558663"/>
            <a:ext cx="416557" cy="50797"/>
            <a:chOff x="0" y="0"/>
            <a:chExt cx="555409" cy="67729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33909" y="0"/>
              <a:ext cx="487680" cy="67691"/>
            </a:xfrm>
            <a:custGeom>
              <a:avLst/>
              <a:gdLst/>
              <a:ahLst/>
              <a:cxnLst/>
              <a:rect r="r" b="b" t="t" l="l"/>
              <a:pathLst>
                <a:path h="67691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09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39"/>
                </a:lnSpc>
              </a:pPr>
              <a:r>
                <a:rPr lang="en-US" sz="71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Pipeline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2470" y="2175510"/>
            <a:ext cx="4244340" cy="2232660"/>
            <a:chOff x="0" y="0"/>
            <a:chExt cx="5659120" cy="2976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591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565912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2194560"/>
            <a:ext cx="4206240" cy="2194560"/>
            <a:chOff x="0" y="0"/>
            <a:chExt cx="5608320" cy="2926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560832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37760" y="2194560"/>
            <a:ext cx="914400" cy="2194560"/>
            <a:chOff x="0" y="0"/>
            <a:chExt cx="1219200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33110" y="2175510"/>
            <a:ext cx="4244340" cy="2232660"/>
            <a:chOff x="0" y="0"/>
            <a:chExt cx="5659120" cy="297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591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565912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852160" y="2194560"/>
            <a:ext cx="4206240" cy="2194560"/>
            <a:chOff x="0" y="0"/>
            <a:chExt cx="5608320" cy="292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60832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Normalize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Orientation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Size, Format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58400" y="2194560"/>
            <a:ext cx="914400" cy="2194560"/>
            <a:chOff x="0" y="0"/>
            <a:chExt cx="1219200" cy="2926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19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53750" y="2175510"/>
            <a:ext cx="4244340" cy="2232660"/>
            <a:chOff x="0" y="0"/>
            <a:chExt cx="5659120" cy="297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591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565912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72800" y="2194560"/>
            <a:ext cx="4206240" cy="2194560"/>
            <a:chOff x="0" y="0"/>
            <a:chExt cx="5608320" cy="2926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5608320" cy="2992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YOLO ONNX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Region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18720" y="4552950"/>
            <a:ext cx="914400" cy="914400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14300"/>
              <a:ext cx="12192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⬇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386060" y="5467350"/>
            <a:ext cx="4244340" cy="2232660"/>
            <a:chOff x="0" y="0"/>
            <a:chExt cx="5659120" cy="2976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400" y="2540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591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565912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386060" y="5629275"/>
            <a:ext cx="4206240" cy="2194560"/>
            <a:chOff x="0" y="0"/>
            <a:chExt cx="5608320" cy="2926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60832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 Document Intelligence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Engine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20250" y="5505450"/>
            <a:ext cx="914400" cy="2194560"/>
            <a:chOff x="0" y="0"/>
            <a:chExt cx="1219200" cy="292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556885" y="5486400"/>
            <a:ext cx="4244340" cy="2232660"/>
            <a:chOff x="0" y="0"/>
            <a:chExt cx="5659120" cy="2976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2540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591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565912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594985" y="5524500"/>
            <a:ext cx="4206240" cy="2194560"/>
            <a:chOff x="0" y="0"/>
            <a:chExt cx="5608320" cy="2926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560832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Dosage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Parser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Pattern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Grammar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760778" y="5486400"/>
            <a:ext cx="914400" cy="2194560"/>
            <a:chOff x="0" y="0"/>
            <a:chExt cx="1219200" cy="2926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2470" y="5467350"/>
            <a:ext cx="4244340" cy="2232660"/>
            <a:chOff x="0" y="0"/>
            <a:chExt cx="5659120" cy="29768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25400" y="2540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591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5659120">
                  <a:moveTo>
                    <a:pt x="25400" y="0"/>
                  </a:moveTo>
                  <a:lnTo>
                    <a:pt x="5633720" y="0"/>
                  </a:lnTo>
                  <a:cubicBezTo>
                    <a:pt x="5647690" y="0"/>
                    <a:pt x="5659120" y="11430"/>
                    <a:pt x="5659120" y="25400"/>
                  </a:cubicBezTo>
                  <a:lnTo>
                    <a:pt x="5659120" y="2951480"/>
                  </a:lnTo>
                  <a:cubicBezTo>
                    <a:pt x="5659120" y="2965450"/>
                    <a:pt x="5647690" y="2976880"/>
                    <a:pt x="56337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5633720" y="2926080"/>
                  </a:lnTo>
                  <a:lnTo>
                    <a:pt x="5633720" y="2951480"/>
                  </a:lnTo>
                  <a:lnTo>
                    <a:pt x="5608320" y="2951480"/>
                  </a:lnTo>
                  <a:lnTo>
                    <a:pt x="5608320" y="25400"/>
                  </a:lnTo>
                  <a:lnTo>
                    <a:pt x="5633720" y="25400"/>
                  </a:lnTo>
                  <a:lnTo>
                    <a:pt x="56337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31520" y="5486400"/>
            <a:ext cx="4206240" cy="2194560"/>
            <a:chOff x="0" y="0"/>
            <a:chExt cx="5608320" cy="2926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08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40" t="0" r="-1694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560832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RapidFuzz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Medicine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Matcher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(≥ 0.7)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198090" y="5467350"/>
            <a:ext cx="2415540" cy="2232660"/>
            <a:chOff x="0" y="0"/>
            <a:chExt cx="3220720" cy="29768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25400" y="25400"/>
              <a:ext cx="31699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207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3220720">
                  <a:moveTo>
                    <a:pt x="25400" y="0"/>
                  </a:moveTo>
                  <a:lnTo>
                    <a:pt x="3195320" y="0"/>
                  </a:lnTo>
                  <a:cubicBezTo>
                    <a:pt x="3209290" y="0"/>
                    <a:pt x="3220720" y="11430"/>
                    <a:pt x="3220720" y="25400"/>
                  </a:cubicBezTo>
                  <a:lnTo>
                    <a:pt x="3220720" y="2951480"/>
                  </a:lnTo>
                  <a:cubicBezTo>
                    <a:pt x="3220720" y="2965450"/>
                    <a:pt x="3209290" y="2976880"/>
                    <a:pt x="3195320" y="2976880"/>
                  </a:cubicBezTo>
                  <a:lnTo>
                    <a:pt x="25400" y="2976880"/>
                  </a:lnTo>
                  <a:cubicBezTo>
                    <a:pt x="11430" y="2976880"/>
                    <a:pt x="0" y="2965450"/>
                    <a:pt x="0" y="29514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951480"/>
                  </a:lnTo>
                  <a:lnTo>
                    <a:pt x="25400" y="2951480"/>
                  </a:lnTo>
                  <a:lnTo>
                    <a:pt x="25400" y="2926080"/>
                  </a:lnTo>
                  <a:lnTo>
                    <a:pt x="3195320" y="2926080"/>
                  </a:lnTo>
                  <a:lnTo>
                    <a:pt x="3195320" y="2951480"/>
                  </a:lnTo>
                  <a:lnTo>
                    <a:pt x="3169920" y="2951480"/>
                  </a:lnTo>
                  <a:lnTo>
                    <a:pt x="3169920" y="25400"/>
                  </a:lnTo>
                  <a:lnTo>
                    <a:pt x="3195320" y="25400"/>
                  </a:lnTo>
                  <a:lnTo>
                    <a:pt x="31953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249525" y="5467350"/>
            <a:ext cx="2377440" cy="2194560"/>
            <a:chOff x="0" y="0"/>
            <a:chExt cx="3169920" cy="2926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1699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434" t="0" r="-68434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3169920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Structured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478000" y="5467350"/>
            <a:ext cx="914400" cy="2194560"/>
            <a:chOff x="0" y="0"/>
            <a:chExt cx="1219200" cy="2926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19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928" t="0" r="-257928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14300"/>
              <a:ext cx="121920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18823" y="8125463"/>
            <a:ext cx="16850363" cy="1031243"/>
            <a:chOff x="0" y="0"/>
            <a:chExt cx="22467151" cy="13749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467063" cy="1374902"/>
            </a:xfrm>
            <a:custGeom>
              <a:avLst/>
              <a:gdLst/>
              <a:ahLst/>
              <a:cxnLst/>
              <a:rect r="r" b="b" t="t" l="l"/>
              <a:pathLst>
                <a:path h="137490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358011"/>
                  </a:lnTo>
                  <a:cubicBezTo>
                    <a:pt x="22467063" y="1367409"/>
                    <a:pt x="22459443" y="1374902"/>
                    <a:pt x="22450171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22450171" y="1341120"/>
                  </a:lnTo>
                  <a:lnTo>
                    <a:pt x="22450171" y="1358011"/>
                  </a:lnTo>
                  <a:lnTo>
                    <a:pt x="22433280" y="135801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14400" y="8138160"/>
            <a:ext cx="16459200" cy="1043248"/>
            <a:chOff x="0" y="0"/>
            <a:chExt cx="21945600" cy="139099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0" cy="1390997"/>
            </a:xfrm>
            <a:custGeom>
              <a:avLst/>
              <a:gdLst/>
              <a:ahLst/>
              <a:cxnLst/>
              <a:rect r="r" b="b" t="t" l="l"/>
              <a:pathLst>
                <a:path h="139099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90997"/>
                  </a:lnTo>
                  <a:lnTo>
                    <a:pt x="0" y="1390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206" r="0" b="-25562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21945600" cy="14481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thresholds (YOLO confidence, IoU suppression, match floor) are environment-configurable  |  20,000-entry medicine catalog  |  Bangla + English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77" id="77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9" id="79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0" id="80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1" id="81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2" id="82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3" id="83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4" id="84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85" id="85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15" id="115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6" id="116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17" id="117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18" id="118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19" id="119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20" id="120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21" id="121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22" id="122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23" id="123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24" id="124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25" id="125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27" id="127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30" id="130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  <p:sp>
          <p:nvSpPr>
            <p:cNvPr name="TextBox 131" id="131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3291"/>
            <a:ext cx="16459200" cy="1450329"/>
            <a:chOff x="0" y="0"/>
            <a:chExt cx="21945600" cy="19337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2"/>
            </a:xfrm>
            <a:custGeom>
              <a:avLst/>
              <a:gdLst/>
              <a:ahLst/>
              <a:cxnLst/>
              <a:rect r="r" b="b" t="t" l="l"/>
              <a:pathLst>
                <a:path h="19337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2"/>
                  </a:lnTo>
                  <a:lnTo>
                    <a:pt x="0" y="19337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095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39"/>
                </a:lnSpc>
              </a:pPr>
              <a:r>
                <a:rPr lang="en-US" sz="7199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Appointment Booking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9389" y="1738570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6710" y="2175510"/>
            <a:ext cx="3147060" cy="2964180"/>
            <a:chOff x="0" y="0"/>
            <a:chExt cx="4196080" cy="395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4145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6080" cy="3952240"/>
            </a:xfrm>
            <a:custGeom>
              <a:avLst/>
              <a:gdLst/>
              <a:ahLst/>
              <a:cxnLst/>
              <a:rect r="r" b="b" t="t" l="l"/>
              <a:pathLst>
                <a:path h="39522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4810" y="2312229"/>
            <a:ext cx="3108960" cy="2651760"/>
            <a:chOff x="0" y="0"/>
            <a:chExt cx="4145280" cy="353568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145280" cy="1950720"/>
              <a:chOff x="0" y="0"/>
              <a:chExt cx="4145280" cy="195072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145280" cy="1950720"/>
              </a:xfrm>
              <a:custGeom>
                <a:avLst/>
                <a:gdLst/>
                <a:ahLst/>
                <a:cxnLst/>
                <a:rect r="r" b="b" t="t" l="l"/>
                <a:pathLst>
                  <a:path h="1950720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0378" t="0" r="-10378" b="0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66675"/>
                <a:ext cx="4145280" cy="20173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Search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Doctors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1950720"/>
              <a:ext cx="4145280" cy="1584960"/>
              <a:chOff x="0" y="0"/>
              <a:chExt cx="4145280" cy="15849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145280" cy="1584960"/>
              </a:xfrm>
              <a:custGeom>
                <a:avLst/>
                <a:gdLst/>
                <a:ahLst/>
                <a:cxnLst/>
                <a:rect r="r" b="b" t="t" l="l"/>
                <a:pathLst>
                  <a:path h="1584960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60" r="0" b="-960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66675"/>
                <a:ext cx="4145280" cy="165163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 specialty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matching</a:t>
                </a: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3474720" y="2194560"/>
            <a:ext cx="457200" cy="2926080"/>
            <a:chOff x="0" y="0"/>
            <a:chExt cx="609600" cy="3901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t="0" r="-77114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12870" y="2175510"/>
            <a:ext cx="3147060" cy="2964180"/>
            <a:chOff x="0" y="0"/>
            <a:chExt cx="4196080" cy="3952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4145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6080" cy="3952240"/>
            </a:xfrm>
            <a:custGeom>
              <a:avLst/>
              <a:gdLst/>
              <a:ahLst/>
              <a:cxnLst/>
              <a:rect r="r" b="b" t="t" l="l"/>
              <a:pathLst>
                <a:path h="39522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950970" y="2274130"/>
            <a:ext cx="3108960" cy="2651760"/>
            <a:chOff x="0" y="0"/>
            <a:chExt cx="4145280" cy="353568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145280" cy="1950720"/>
              <a:chOff x="0" y="0"/>
              <a:chExt cx="4145280" cy="195072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145280" cy="1950720"/>
              </a:xfrm>
              <a:custGeom>
                <a:avLst/>
                <a:gdLst/>
                <a:ahLst/>
                <a:cxnLst/>
                <a:rect r="r" b="b" t="t" l="l"/>
                <a:pathLst>
                  <a:path h="1950720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950720"/>
                    </a:lnTo>
                    <a:lnTo>
                      <a:pt x="0" y="195072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0378" t="0" r="-10378" b="0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66675"/>
                <a:ext cx="4145280" cy="201739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Fetch Live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Slots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1950720"/>
              <a:ext cx="4145280" cy="1584960"/>
              <a:chOff x="0" y="0"/>
              <a:chExt cx="4145280" cy="158496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145280" cy="1584960"/>
              </a:xfrm>
              <a:custGeom>
                <a:avLst/>
                <a:gdLst/>
                <a:ahLst/>
                <a:cxnLst/>
                <a:rect r="r" b="b" t="t" l="l"/>
                <a:pathLst>
                  <a:path h="1584960" w="4145280">
                    <a:moveTo>
                      <a:pt x="0" y="0"/>
                    </a:moveTo>
                    <a:lnTo>
                      <a:pt x="4145280" y="0"/>
                    </a:lnTo>
                    <a:lnTo>
                      <a:pt x="414528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60" r="0" b="-960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66675"/>
                <a:ext cx="4145280" cy="165163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Supabase</a:t>
                </a:r>
              </a:p>
              <a:p>
                <a:pPr algn="ctr">
                  <a:lnSpc>
                    <a:spcPts val="3600"/>
                  </a:lnSpc>
                </a:pPr>
                <a:r>
                  <a:rPr lang="en-US" sz="3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Realtime</a:t>
                </a: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7021324" y="2136970"/>
            <a:ext cx="457200" cy="2926080"/>
            <a:chOff x="0" y="0"/>
            <a:chExt cx="609600" cy="3901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9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t="0" r="-77114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79030" y="2175510"/>
            <a:ext cx="3147060" cy="2964180"/>
            <a:chOff x="0" y="0"/>
            <a:chExt cx="4196080" cy="3952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4145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96080" cy="3952240"/>
            </a:xfrm>
            <a:custGeom>
              <a:avLst/>
              <a:gdLst/>
              <a:ahLst/>
              <a:cxnLst/>
              <a:rect r="r" b="b" t="t" l="l"/>
              <a:pathLst>
                <a:path h="39522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498080" y="2286000"/>
            <a:ext cx="3108960" cy="1463040"/>
            <a:chOff x="0" y="0"/>
            <a:chExt cx="4145280" cy="1950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414528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</a:t>
              </a:r>
            </a:p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 Hold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498080" y="3749040"/>
            <a:ext cx="3108960" cy="1188720"/>
            <a:chOff x="0" y="0"/>
            <a:chExt cx="414528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45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0" r="0" b="-96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41452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Temporary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reservation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607040" y="2194560"/>
            <a:ext cx="457200" cy="2926080"/>
            <a:chOff x="0" y="0"/>
            <a:chExt cx="609600" cy="390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t="0" r="-771142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045190" y="2175510"/>
            <a:ext cx="3147060" cy="2964180"/>
            <a:chOff x="0" y="0"/>
            <a:chExt cx="4196080" cy="3952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400" y="25400"/>
              <a:ext cx="4145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96080" cy="3952240"/>
            </a:xfrm>
            <a:custGeom>
              <a:avLst/>
              <a:gdLst/>
              <a:ahLst/>
              <a:cxnLst/>
              <a:rect r="r" b="b" t="t" l="l"/>
              <a:pathLst>
                <a:path h="39522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064240" y="2286000"/>
            <a:ext cx="3108960" cy="1463040"/>
            <a:chOff x="0" y="0"/>
            <a:chExt cx="4145280" cy="1950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045190" y="3600010"/>
            <a:ext cx="3108960" cy="1519498"/>
            <a:chOff x="0" y="0"/>
            <a:chExt cx="4145280" cy="202599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45280" cy="2025997"/>
            </a:xfrm>
            <a:custGeom>
              <a:avLst/>
              <a:gdLst/>
              <a:ahLst/>
              <a:cxnLst/>
              <a:rect r="r" b="b" t="t" l="l"/>
              <a:pathLst>
                <a:path h="2025997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025997"/>
                  </a:lnTo>
                  <a:lnTo>
                    <a:pt x="0" y="2025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1" r="0" b="2101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4145280" cy="2092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Transactional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 after admin confirmation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173200" y="2194560"/>
            <a:ext cx="457200" cy="2926080"/>
            <a:chOff x="0" y="0"/>
            <a:chExt cx="609600" cy="3901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6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1142" t="0" r="-77114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609600" cy="3977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611350" y="2175510"/>
            <a:ext cx="3147060" cy="2964180"/>
            <a:chOff x="0" y="0"/>
            <a:chExt cx="4196080" cy="3952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5400" y="25400"/>
              <a:ext cx="4145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96080" cy="3952240"/>
            </a:xfrm>
            <a:custGeom>
              <a:avLst/>
              <a:gdLst/>
              <a:ahLst/>
              <a:cxnLst/>
              <a:rect r="r" b="b" t="t" l="l"/>
              <a:pathLst>
                <a:path h="39522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926840"/>
                  </a:lnTo>
                  <a:cubicBezTo>
                    <a:pt x="4196080" y="3940810"/>
                    <a:pt x="4184650" y="3952240"/>
                    <a:pt x="4170680" y="3952240"/>
                  </a:cubicBezTo>
                  <a:lnTo>
                    <a:pt x="25400" y="3952240"/>
                  </a:lnTo>
                  <a:cubicBezTo>
                    <a:pt x="11430" y="3952240"/>
                    <a:pt x="0" y="3940810"/>
                    <a:pt x="0" y="39268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26840"/>
                  </a:lnTo>
                  <a:lnTo>
                    <a:pt x="25400" y="3926840"/>
                  </a:lnTo>
                  <a:lnTo>
                    <a:pt x="25400" y="3901440"/>
                  </a:lnTo>
                  <a:lnTo>
                    <a:pt x="4170680" y="3901440"/>
                  </a:lnTo>
                  <a:lnTo>
                    <a:pt x="4170680" y="3926840"/>
                  </a:lnTo>
                  <a:lnTo>
                    <a:pt x="4145280" y="39268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630400" y="2286000"/>
            <a:ext cx="3108960" cy="1463040"/>
            <a:chOff x="0" y="0"/>
            <a:chExt cx="4145280" cy="1950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414528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Notify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Parties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630400" y="3749040"/>
            <a:ext cx="3108960" cy="1188720"/>
            <a:chOff x="0" y="0"/>
            <a:chExt cx="4145280" cy="1584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45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0" r="0" b="-96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4145280" cy="1651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Push + in-app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46710" y="5402910"/>
            <a:ext cx="16459200" cy="797272"/>
            <a:chOff x="0" y="0"/>
            <a:chExt cx="21945600" cy="10630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9456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380" r="0" b="-34813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Decisions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960612" y="6330329"/>
            <a:ext cx="2759707" cy="3243505"/>
            <a:chOff x="0" y="0"/>
            <a:chExt cx="3679609" cy="4324674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3674529" cy="4324674"/>
              <a:chOff x="0" y="0"/>
              <a:chExt cx="3674529" cy="4324674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8445" y="22801"/>
                <a:ext cx="3657594" cy="4278953"/>
              </a:xfrm>
              <a:custGeom>
                <a:avLst/>
                <a:gdLst/>
                <a:ahLst/>
                <a:cxnLst/>
                <a:rect r="r" b="b" t="t" l="l"/>
                <a:pathLst>
                  <a:path h="4278953" w="3657594">
                    <a:moveTo>
                      <a:pt x="0" y="0"/>
                    </a:moveTo>
                    <a:lnTo>
                      <a:pt x="3657594" y="0"/>
                    </a:lnTo>
                    <a:lnTo>
                      <a:pt x="3657594" y="4278953"/>
                    </a:lnTo>
                    <a:lnTo>
                      <a:pt x="0" y="4278953"/>
                    </a:lnTo>
                    <a:close/>
                  </a:path>
                </a:pathLst>
              </a:custGeom>
              <a:solidFill>
                <a:srgbClr val="FEF3C7"/>
              </a:solidFill>
            </p:spPr>
          </p:sp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674485" cy="4324554"/>
              </a:xfrm>
              <a:custGeom>
                <a:avLst/>
                <a:gdLst/>
                <a:ahLst/>
                <a:cxnLst/>
                <a:rect r="r" b="b" t="t" l="l"/>
                <a:pathLst>
                  <a:path h="4324554" w="3674485">
                    <a:moveTo>
                      <a:pt x="8445" y="0"/>
                    </a:moveTo>
                    <a:lnTo>
                      <a:pt x="3666039" y="0"/>
                    </a:lnTo>
                    <a:cubicBezTo>
                      <a:pt x="3670738" y="0"/>
                      <a:pt x="3674485" y="10286"/>
                      <a:pt x="3674485" y="22801"/>
                    </a:cubicBezTo>
                    <a:lnTo>
                      <a:pt x="3674485" y="4301754"/>
                    </a:lnTo>
                    <a:cubicBezTo>
                      <a:pt x="3674485" y="4314440"/>
                      <a:pt x="3670675" y="4324554"/>
                      <a:pt x="3666039" y="4324554"/>
                    </a:cubicBezTo>
                    <a:lnTo>
                      <a:pt x="8445" y="4324554"/>
                    </a:lnTo>
                    <a:cubicBezTo>
                      <a:pt x="3746" y="4324554"/>
                      <a:pt x="0" y="4314268"/>
                      <a:pt x="0" y="4301754"/>
                    </a:cubicBezTo>
                    <a:lnTo>
                      <a:pt x="0" y="22801"/>
                    </a:lnTo>
                    <a:cubicBezTo>
                      <a:pt x="0" y="10286"/>
                      <a:pt x="3810" y="0"/>
                      <a:pt x="8445" y="0"/>
                    </a:cubicBezTo>
                    <a:moveTo>
                      <a:pt x="8445" y="45772"/>
                    </a:moveTo>
                    <a:lnTo>
                      <a:pt x="8445" y="22801"/>
                    </a:lnTo>
                    <a:lnTo>
                      <a:pt x="16954" y="22801"/>
                    </a:lnTo>
                    <a:lnTo>
                      <a:pt x="16954" y="4301754"/>
                    </a:lnTo>
                    <a:lnTo>
                      <a:pt x="8445" y="4301754"/>
                    </a:lnTo>
                    <a:lnTo>
                      <a:pt x="8445" y="4278953"/>
                    </a:lnTo>
                    <a:lnTo>
                      <a:pt x="3666039" y="4278953"/>
                    </a:lnTo>
                    <a:lnTo>
                      <a:pt x="3666039" y="4301754"/>
                    </a:lnTo>
                    <a:lnTo>
                      <a:pt x="3657594" y="4301754"/>
                    </a:lnTo>
                    <a:lnTo>
                      <a:pt x="3657594" y="22801"/>
                    </a:lnTo>
                    <a:lnTo>
                      <a:pt x="3666039" y="22801"/>
                    </a:lnTo>
                    <a:lnTo>
                      <a:pt x="3666039" y="45772"/>
                    </a:lnTo>
                    <a:lnTo>
                      <a:pt x="8445" y="457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263309" y="0"/>
              <a:ext cx="3416300" cy="1505744"/>
              <a:chOff x="0" y="0"/>
              <a:chExt cx="3416300" cy="1505744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3416300" cy="1505744"/>
              </a:xfrm>
              <a:custGeom>
                <a:avLst/>
                <a:gdLst/>
                <a:ahLst/>
                <a:cxnLst/>
                <a:rect r="r" b="b" t="t" l="l"/>
                <a:pathLst>
                  <a:path h="1505744" w="3416300">
                    <a:moveTo>
                      <a:pt x="0" y="0"/>
                    </a:moveTo>
                    <a:lnTo>
                      <a:pt x="3416300" y="0"/>
                    </a:lnTo>
                    <a:lnTo>
                      <a:pt x="3416300" y="1505744"/>
                    </a:lnTo>
                    <a:lnTo>
                      <a:pt x="0" y="1505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963" r="-99851" b="-20739"/>
                </a:stretch>
              </a:blip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57150"/>
                <a:ext cx="3416300" cy="15628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2563E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AI Doctor Search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263309" y="1360401"/>
              <a:ext cx="3413760" cy="2584797"/>
              <a:chOff x="0" y="0"/>
              <a:chExt cx="3413760" cy="2584797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3413760" cy="2584797"/>
              </a:xfrm>
              <a:custGeom>
                <a:avLst/>
                <a:gdLst/>
                <a:ahLst/>
                <a:cxnLst/>
                <a:rect r="r" b="b" t="t" l="l"/>
                <a:pathLst>
                  <a:path h="2584797" w="3413760">
                    <a:moveTo>
                      <a:pt x="0" y="0"/>
                    </a:moveTo>
                    <a:lnTo>
                      <a:pt x="3413760" y="0"/>
                    </a:lnTo>
                    <a:lnTo>
                      <a:pt x="3413760" y="2584797"/>
                    </a:lnTo>
                    <a:lnTo>
                      <a:pt x="0" y="25847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091" r="-100000" b="13155"/>
                </a:stretch>
              </a:blip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57150"/>
                <a:ext cx="3413760" cy="2641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Search Doctor using voice/text queries</a:t>
                </a:r>
              </a:p>
            </p:txBody>
          </p:sp>
        </p:grpSp>
      </p:grpSp>
      <p:grpSp>
        <p:nvGrpSpPr>
          <p:cNvPr name="Group 79" id="79"/>
          <p:cNvGrpSpPr/>
          <p:nvPr/>
        </p:nvGrpSpPr>
        <p:grpSpPr>
          <a:xfrm rot="0">
            <a:off x="3142597" y="6333558"/>
            <a:ext cx="2718149" cy="3246682"/>
            <a:chOff x="0" y="0"/>
            <a:chExt cx="2682240" cy="320379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6165" y="16891"/>
              <a:ext cx="2669878" cy="3169920"/>
            </a:xfrm>
            <a:custGeom>
              <a:avLst/>
              <a:gdLst/>
              <a:ahLst/>
              <a:cxnLst/>
              <a:rect r="r" b="b" t="t" l="l"/>
              <a:pathLst>
                <a:path h="3169920" w="2669878">
                  <a:moveTo>
                    <a:pt x="0" y="0"/>
                  </a:moveTo>
                  <a:lnTo>
                    <a:pt x="2669878" y="0"/>
                  </a:lnTo>
                  <a:lnTo>
                    <a:pt x="2669878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82207" cy="3203702"/>
            </a:xfrm>
            <a:custGeom>
              <a:avLst/>
              <a:gdLst/>
              <a:ahLst/>
              <a:cxnLst/>
              <a:rect r="r" b="b" t="t" l="l"/>
              <a:pathLst>
                <a:path h="3203702" w="2682207">
                  <a:moveTo>
                    <a:pt x="6165" y="0"/>
                  </a:moveTo>
                  <a:lnTo>
                    <a:pt x="2676043" y="0"/>
                  </a:lnTo>
                  <a:cubicBezTo>
                    <a:pt x="2679473" y="0"/>
                    <a:pt x="2682207" y="7620"/>
                    <a:pt x="2682207" y="16891"/>
                  </a:cubicBezTo>
                  <a:lnTo>
                    <a:pt x="2682207" y="3186811"/>
                  </a:lnTo>
                  <a:cubicBezTo>
                    <a:pt x="2682207" y="3196209"/>
                    <a:pt x="2679426" y="3203702"/>
                    <a:pt x="2676043" y="3203702"/>
                  </a:cubicBezTo>
                  <a:lnTo>
                    <a:pt x="6165" y="3203702"/>
                  </a:lnTo>
                  <a:cubicBezTo>
                    <a:pt x="2735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2781" y="0"/>
                    <a:pt x="6165" y="0"/>
                  </a:cubicBezTo>
                  <a:moveTo>
                    <a:pt x="6165" y="33909"/>
                  </a:moveTo>
                  <a:lnTo>
                    <a:pt x="6165" y="16891"/>
                  </a:lnTo>
                  <a:lnTo>
                    <a:pt x="12376" y="16891"/>
                  </a:lnTo>
                  <a:lnTo>
                    <a:pt x="12376" y="3186811"/>
                  </a:lnTo>
                  <a:lnTo>
                    <a:pt x="6165" y="3186811"/>
                  </a:lnTo>
                  <a:lnTo>
                    <a:pt x="6165" y="3169920"/>
                  </a:lnTo>
                  <a:lnTo>
                    <a:pt x="2676043" y="3169920"/>
                  </a:lnTo>
                  <a:lnTo>
                    <a:pt x="2676043" y="3186811"/>
                  </a:lnTo>
                  <a:lnTo>
                    <a:pt x="2669878" y="3186811"/>
                  </a:lnTo>
                  <a:lnTo>
                    <a:pt x="2669878" y="16891"/>
                  </a:lnTo>
                  <a:lnTo>
                    <a:pt x="2676043" y="16891"/>
                  </a:lnTo>
                  <a:lnTo>
                    <a:pt x="2676043" y="33909"/>
                  </a:lnTo>
                  <a:lnTo>
                    <a:pt x="6165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3279757" y="6408849"/>
            <a:ext cx="2560320" cy="1129308"/>
            <a:chOff x="0" y="0"/>
            <a:chExt cx="3413760" cy="15057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13760" cy="1505744"/>
            </a:xfrm>
            <a:custGeom>
              <a:avLst/>
              <a:gdLst/>
              <a:ahLst/>
              <a:cxnLst/>
              <a:rect r="r" b="b" t="t" l="l"/>
              <a:pathLst>
                <a:path h="150574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05744"/>
                  </a:lnTo>
                  <a:lnTo>
                    <a:pt x="0" y="1505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63" r="-100000" b="-2073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3413760" cy="1562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 Broadcast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3279757" y="7480993"/>
            <a:ext cx="2355304" cy="1490923"/>
            <a:chOff x="0" y="0"/>
            <a:chExt cx="3140405" cy="198789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40405" cy="1987897"/>
            </a:xfrm>
            <a:custGeom>
              <a:avLst/>
              <a:gdLst/>
              <a:ahLst/>
              <a:cxnLst/>
              <a:rect r="r" b="b" t="t" l="l"/>
              <a:pathLst>
                <a:path h="1987897" w="3140405">
                  <a:moveTo>
                    <a:pt x="0" y="0"/>
                  </a:moveTo>
                  <a:lnTo>
                    <a:pt x="3140405" y="0"/>
                  </a:lnTo>
                  <a:lnTo>
                    <a:pt x="3140405" y="1987897"/>
                  </a:lnTo>
                  <a:lnTo>
                    <a:pt x="0" y="19878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23" r="-117408" b="-1292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3140405" cy="2045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Supabase channels push slot changes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897880" y="6330329"/>
            <a:ext cx="2678430" cy="3246708"/>
            <a:chOff x="0" y="0"/>
            <a:chExt cx="2643025" cy="320379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6075" y="16891"/>
              <a:ext cx="2630843" cy="3169920"/>
            </a:xfrm>
            <a:custGeom>
              <a:avLst/>
              <a:gdLst/>
              <a:ahLst/>
              <a:cxnLst/>
              <a:rect r="r" b="b" t="t" l="l"/>
              <a:pathLst>
                <a:path h="3169920" w="2630843">
                  <a:moveTo>
                    <a:pt x="0" y="0"/>
                  </a:moveTo>
                  <a:lnTo>
                    <a:pt x="2630843" y="0"/>
                  </a:lnTo>
                  <a:lnTo>
                    <a:pt x="2630843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42993" cy="3203702"/>
            </a:xfrm>
            <a:custGeom>
              <a:avLst/>
              <a:gdLst/>
              <a:ahLst/>
              <a:cxnLst/>
              <a:rect r="r" b="b" t="t" l="l"/>
              <a:pathLst>
                <a:path h="3203702" w="2642993">
                  <a:moveTo>
                    <a:pt x="6075" y="0"/>
                  </a:moveTo>
                  <a:lnTo>
                    <a:pt x="2636918" y="0"/>
                  </a:lnTo>
                  <a:cubicBezTo>
                    <a:pt x="2640298" y="0"/>
                    <a:pt x="2642993" y="7620"/>
                    <a:pt x="2642993" y="16891"/>
                  </a:cubicBezTo>
                  <a:lnTo>
                    <a:pt x="2642993" y="3186811"/>
                  </a:lnTo>
                  <a:cubicBezTo>
                    <a:pt x="2642993" y="3196209"/>
                    <a:pt x="2640252" y="3203702"/>
                    <a:pt x="2636918" y="3203702"/>
                  </a:cubicBezTo>
                  <a:lnTo>
                    <a:pt x="6075" y="3203702"/>
                  </a:lnTo>
                  <a:cubicBezTo>
                    <a:pt x="2695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2740" y="0"/>
                    <a:pt x="6075" y="0"/>
                  </a:cubicBezTo>
                  <a:moveTo>
                    <a:pt x="6075" y="33909"/>
                  </a:moveTo>
                  <a:lnTo>
                    <a:pt x="6075" y="16891"/>
                  </a:lnTo>
                  <a:lnTo>
                    <a:pt x="12195" y="16891"/>
                  </a:lnTo>
                  <a:lnTo>
                    <a:pt x="12195" y="3186811"/>
                  </a:lnTo>
                  <a:lnTo>
                    <a:pt x="6075" y="3186811"/>
                  </a:lnTo>
                  <a:lnTo>
                    <a:pt x="6075" y="3169920"/>
                  </a:lnTo>
                  <a:lnTo>
                    <a:pt x="2636918" y="3169920"/>
                  </a:lnTo>
                  <a:lnTo>
                    <a:pt x="2636918" y="3186811"/>
                  </a:lnTo>
                  <a:lnTo>
                    <a:pt x="2630843" y="3186811"/>
                  </a:lnTo>
                  <a:lnTo>
                    <a:pt x="2630843" y="16891"/>
                  </a:lnTo>
                  <a:lnTo>
                    <a:pt x="2636918" y="16891"/>
                  </a:lnTo>
                  <a:lnTo>
                    <a:pt x="2636918" y="33909"/>
                  </a:lnTo>
                  <a:lnTo>
                    <a:pt x="6075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015990" y="6408849"/>
            <a:ext cx="2560320" cy="1129308"/>
            <a:chOff x="0" y="0"/>
            <a:chExt cx="3413760" cy="150574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413760" cy="1505744"/>
            </a:xfrm>
            <a:custGeom>
              <a:avLst/>
              <a:gdLst/>
              <a:ahLst/>
              <a:cxnLst/>
              <a:rect r="r" b="b" t="t" l="l"/>
              <a:pathLst>
                <a:path h="1505744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505744"/>
                  </a:lnTo>
                  <a:lnTo>
                    <a:pt x="0" y="1505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63" r="-100000" b="-2073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3413760" cy="1562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Reschedule 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969229" y="7538156"/>
            <a:ext cx="2607081" cy="1938598"/>
            <a:chOff x="0" y="0"/>
            <a:chExt cx="3476107" cy="258479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476107" cy="2584797"/>
            </a:xfrm>
            <a:custGeom>
              <a:avLst/>
              <a:gdLst/>
              <a:ahLst/>
              <a:cxnLst/>
              <a:rect r="r" b="b" t="t" l="l"/>
              <a:pathLst>
                <a:path h="2584797" w="3476107">
                  <a:moveTo>
                    <a:pt x="0" y="0"/>
                  </a:moveTo>
                  <a:lnTo>
                    <a:pt x="3476107" y="0"/>
                  </a:lnTo>
                  <a:lnTo>
                    <a:pt x="3476107" y="2584797"/>
                  </a:lnTo>
                  <a:lnTo>
                    <a:pt x="0" y="2584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1" r="-96412" b="1315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3476107" cy="2641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Bidirectional requests between patient and doctor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98" id="98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01" id="101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2" id="102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3" id="103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4" id="104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5" id="105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6" id="106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7" id="107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8" id="108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9" id="109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39" id="139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0" id="140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41" id="141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42" id="142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43" id="143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44" id="144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45" id="145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46" id="146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47" id="147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48" id="148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49" id="149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51" id="151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54" id="154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  <p:sp>
          <p:nvSpPr>
            <p:cNvPr name="TextBox 155" id="155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156" id="156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57" id="157"/>
          <p:cNvSpPr/>
          <p:nvPr/>
        </p:nvSpPr>
        <p:spPr>
          <a:xfrm flipV="true">
            <a:off x="385612" y="3554390"/>
            <a:ext cx="3165311" cy="84177"/>
          </a:xfrm>
          <a:prstGeom prst="line">
            <a:avLst/>
          </a:prstGeom>
          <a:ln cap="flat" w="38100">
            <a:solidFill>
              <a:srgbClr val="041F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8" id="158"/>
          <p:cNvSpPr/>
          <p:nvPr/>
        </p:nvSpPr>
        <p:spPr>
          <a:xfrm>
            <a:off x="3912870" y="3580967"/>
            <a:ext cx="3108454" cy="19043"/>
          </a:xfrm>
          <a:prstGeom prst="line">
            <a:avLst/>
          </a:prstGeom>
          <a:ln cap="flat" w="38100">
            <a:solidFill>
              <a:srgbClr val="041F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9" id="159"/>
          <p:cNvSpPr/>
          <p:nvPr/>
        </p:nvSpPr>
        <p:spPr>
          <a:xfrm>
            <a:off x="7498080" y="3600010"/>
            <a:ext cx="3108454" cy="0"/>
          </a:xfrm>
          <a:prstGeom prst="line">
            <a:avLst/>
          </a:prstGeom>
          <a:ln cap="flat" w="38100">
            <a:solidFill>
              <a:srgbClr val="041F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0" id="160"/>
          <p:cNvSpPr/>
          <p:nvPr/>
        </p:nvSpPr>
        <p:spPr>
          <a:xfrm>
            <a:off x="11083796" y="3619517"/>
            <a:ext cx="3108454" cy="0"/>
          </a:xfrm>
          <a:prstGeom prst="line">
            <a:avLst/>
          </a:prstGeom>
          <a:ln cap="flat" w="38100">
            <a:solidFill>
              <a:srgbClr val="041F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1" id="161"/>
          <p:cNvSpPr/>
          <p:nvPr/>
        </p:nvSpPr>
        <p:spPr>
          <a:xfrm>
            <a:off x="14649450" y="3600467"/>
            <a:ext cx="3108454" cy="0"/>
          </a:xfrm>
          <a:prstGeom prst="line">
            <a:avLst/>
          </a:prstGeom>
          <a:ln cap="flat" w="38100">
            <a:solidFill>
              <a:srgbClr val="041F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2" id="162"/>
          <p:cNvGrpSpPr/>
          <p:nvPr/>
        </p:nvGrpSpPr>
        <p:grpSpPr>
          <a:xfrm rot="0">
            <a:off x="10058400" y="5402910"/>
            <a:ext cx="16459200" cy="797272"/>
            <a:chOff x="0" y="0"/>
            <a:chExt cx="21945600" cy="106303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19456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380" r="0" b="-348133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Used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385612" y="6333532"/>
            <a:ext cx="5316217" cy="3243505"/>
            <a:chOff x="0" y="0"/>
            <a:chExt cx="7088289" cy="4324674"/>
          </a:xfrm>
        </p:grpSpPr>
        <p:grpSp>
          <p:nvGrpSpPr>
            <p:cNvPr name="Group 166" id="166"/>
            <p:cNvGrpSpPr/>
            <p:nvPr/>
          </p:nvGrpSpPr>
          <p:grpSpPr>
            <a:xfrm rot="0">
              <a:off x="0" y="0"/>
              <a:ext cx="3674529" cy="4324674"/>
              <a:chOff x="0" y="0"/>
              <a:chExt cx="3674529" cy="4324674"/>
            </a:xfrm>
          </p:grpSpPr>
          <p:sp>
            <p:nvSpPr>
              <p:cNvPr name="Freeform 167" id="167"/>
              <p:cNvSpPr/>
              <p:nvPr/>
            </p:nvSpPr>
            <p:spPr>
              <a:xfrm flipH="false" flipV="false" rot="0">
                <a:off x="8445" y="22801"/>
                <a:ext cx="3657594" cy="4278953"/>
              </a:xfrm>
              <a:custGeom>
                <a:avLst/>
                <a:gdLst/>
                <a:ahLst/>
                <a:cxnLst/>
                <a:rect r="r" b="b" t="t" l="l"/>
                <a:pathLst>
                  <a:path h="4278953" w="3657594">
                    <a:moveTo>
                      <a:pt x="0" y="0"/>
                    </a:moveTo>
                    <a:lnTo>
                      <a:pt x="3657594" y="0"/>
                    </a:lnTo>
                    <a:lnTo>
                      <a:pt x="3657594" y="4278953"/>
                    </a:lnTo>
                    <a:lnTo>
                      <a:pt x="0" y="4278953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168" id="168"/>
              <p:cNvSpPr/>
              <p:nvPr/>
            </p:nvSpPr>
            <p:spPr>
              <a:xfrm flipH="false" flipV="false" rot="0">
                <a:off x="0" y="0"/>
                <a:ext cx="3674485" cy="4324554"/>
              </a:xfrm>
              <a:custGeom>
                <a:avLst/>
                <a:gdLst/>
                <a:ahLst/>
                <a:cxnLst/>
                <a:rect r="r" b="b" t="t" l="l"/>
                <a:pathLst>
                  <a:path h="4324554" w="3674485">
                    <a:moveTo>
                      <a:pt x="8445" y="0"/>
                    </a:moveTo>
                    <a:lnTo>
                      <a:pt x="3666039" y="0"/>
                    </a:lnTo>
                    <a:cubicBezTo>
                      <a:pt x="3670738" y="0"/>
                      <a:pt x="3674485" y="10286"/>
                      <a:pt x="3674485" y="22801"/>
                    </a:cubicBezTo>
                    <a:lnTo>
                      <a:pt x="3674485" y="4301754"/>
                    </a:lnTo>
                    <a:cubicBezTo>
                      <a:pt x="3674485" y="4314440"/>
                      <a:pt x="3670675" y="4324554"/>
                      <a:pt x="3666039" y="4324554"/>
                    </a:cubicBezTo>
                    <a:lnTo>
                      <a:pt x="8445" y="4324554"/>
                    </a:lnTo>
                    <a:cubicBezTo>
                      <a:pt x="3746" y="4324554"/>
                      <a:pt x="0" y="4314268"/>
                      <a:pt x="0" y="4301754"/>
                    </a:cubicBezTo>
                    <a:lnTo>
                      <a:pt x="0" y="22801"/>
                    </a:lnTo>
                    <a:cubicBezTo>
                      <a:pt x="0" y="10286"/>
                      <a:pt x="3810" y="0"/>
                      <a:pt x="8445" y="0"/>
                    </a:cubicBezTo>
                    <a:moveTo>
                      <a:pt x="8445" y="45772"/>
                    </a:moveTo>
                    <a:lnTo>
                      <a:pt x="8445" y="22801"/>
                    </a:lnTo>
                    <a:lnTo>
                      <a:pt x="16954" y="22801"/>
                    </a:lnTo>
                    <a:lnTo>
                      <a:pt x="16954" y="4301754"/>
                    </a:lnTo>
                    <a:lnTo>
                      <a:pt x="8445" y="4301754"/>
                    </a:lnTo>
                    <a:lnTo>
                      <a:pt x="8445" y="4278953"/>
                    </a:lnTo>
                    <a:lnTo>
                      <a:pt x="3666039" y="4278953"/>
                    </a:lnTo>
                    <a:lnTo>
                      <a:pt x="3666039" y="4301754"/>
                    </a:lnTo>
                    <a:lnTo>
                      <a:pt x="3657594" y="4301754"/>
                    </a:lnTo>
                    <a:lnTo>
                      <a:pt x="3657594" y="22801"/>
                    </a:lnTo>
                    <a:lnTo>
                      <a:pt x="3666039" y="22801"/>
                    </a:lnTo>
                    <a:lnTo>
                      <a:pt x="3666039" y="45772"/>
                    </a:lnTo>
                    <a:lnTo>
                      <a:pt x="8445" y="457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69" id="169"/>
            <p:cNvGrpSpPr/>
            <p:nvPr/>
          </p:nvGrpSpPr>
          <p:grpSpPr>
            <a:xfrm rot="0">
              <a:off x="260769" y="65697"/>
              <a:ext cx="6827520" cy="975360"/>
              <a:chOff x="0" y="0"/>
              <a:chExt cx="6827520" cy="975360"/>
            </a:xfrm>
          </p:grpSpPr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682752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6395" r="0" b="-86395"/>
                </a:stretch>
              </a:blipFill>
            </p:spPr>
          </p:sp>
          <p:sp>
            <p:nvSpPr>
              <p:cNvPr name="TextBox 171" id="171"/>
              <p:cNvSpPr txBox="true"/>
              <p:nvPr/>
            </p:nvSpPr>
            <p:spPr>
              <a:xfrm>
                <a:off x="0" y="-57150"/>
                <a:ext cx="6827520" cy="103251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2563E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Soft Holds</a:t>
                </a:r>
              </a:p>
            </p:txBody>
          </p:sp>
        </p:grpSp>
        <p:grpSp>
          <p:nvGrpSpPr>
            <p:cNvPr name="Group 172" id="172"/>
            <p:cNvGrpSpPr/>
            <p:nvPr/>
          </p:nvGrpSpPr>
          <p:grpSpPr>
            <a:xfrm rot="0">
              <a:off x="263309" y="1360401"/>
              <a:ext cx="3413760" cy="2584797"/>
              <a:chOff x="0" y="0"/>
              <a:chExt cx="3413760" cy="2584797"/>
            </a:xfrm>
          </p:grpSpPr>
          <p:sp>
            <p:nvSpPr>
              <p:cNvPr name="Freeform 173" id="173"/>
              <p:cNvSpPr/>
              <p:nvPr/>
            </p:nvSpPr>
            <p:spPr>
              <a:xfrm flipH="false" flipV="false" rot="0">
                <a:off x="0" y="0"/>
                <a:ext cx="3413760" cy="2584797"/>
              </a:xfrm>
              <a:custGeom>
                <a:avLst/>
                <a:gdLst/>
                <a:ahLst/>
                <a:cxnLst/>
                <a:rect r="r" b="b" t="t" l="l"/>
                <a:pathLst>
                  <a:path h="2584797" w="3413760">
                    <a:moveTo>
                      <a:pt x="0" y="0"/>
                    </a:moveTo>
                    <a:lnTo>
                      <a:pt x="3413760" y="0"/>
                    </a:lnTo>
                    <a:lnTo>
                      <a:pt x="3413760" y="2584797"/>
                    </a:lnTo>
                    <a:lnTo>
                      <a:pt x="0" y="25847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091" r="-100000" b="13155"/>
                </a:stretch>
              </a:blipFill>
            </p:spPr>
          </p:sp>
          <p:sp>
            <p:nvSpPr>
              <p:cNvPr name="TextBox 174" id="174"/>
              <p:cNvSpPr txBox="true"/>
              <p:nvPr/>
            </p:nvSpPr>
            <p:spPr>
              <a:xfrm>
                <a:off x="0" y="-57150"/>
                <a:ext cx="3413760" cy="2641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Temporary reservation prevents race conditions</a:t>
                </a:r>
              </a:p>
            </p:txBody>
          </p:sp>
        </p:grpSp>
      </p:grpSp>
      <p:grpSp>
        <p:nvGrpSpPr>
          <p:cNvPr name="Group 175" id="175"/>
          <p:cNvGrpSpPr/>
          <p:nvPr/>
        </p:nvGrpSpPr>
        <p:grpSpPr>
          <a:xfrm rot="0">
            <a:off x="12758418" y="6330329"/>
            <a:ext cx="2755897" cy="3243505"/>
            <a:chOff x="0" y="0"/>
            <a:chExt cx="3674529" cy="4324674"/>
          </a:xfrm>
        </p:grpSpPr>
        <p:grpSp>
          <p:nvGrpSpPr>
            <p:cNvPr name="Group 176" id="176"/>
            <p:cNvGrpSpPr/>
            <p:nvPr/>
          </p:nvGrpSpPr>
          <p:grpSpPr>
            <a:xfrm rot="0">
              <a:off x="0" y="0"/>
              <a:ext cx="3674529" cy="4324674"/>
              <a:chOff x="0" y="0"/>
              <a:chExt cx="3674529" cy="4324674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8445" y="22801"/>
                <a:ext cx="3657594" cy="4278953"/>
              </a:xfrm>
              <a:custGeom>
                <a:avLst/>
                <a:gdLst/>
                <a:ahLst/>
                <a:cxnLst/>
                <a:rect r="r" b="b" t="t" l="l"/>
                <a:pathLst>
                  <a:path h="4278953" w="3657594">
                    <a:moveTo>
                      <a:pt x="0" y="0"/>
                    </a:moveTo>
                    <a:lnTo>
                      <a:pt x="3657594" y="0"/>
                    </a:lnTo>
                    <a:lnTo>
                      <a:pt x="3657594" y="4278953"/>
                    </a:lnTo>
                    <a:lnTo>
                      <a:pt x="0" y="4278953"/>
                    </a:lnTo>
                    <a:close/>
                  </a:path>
                </a:pathLst>
              </a:custGeom>
              <a:solidFill>
                <a:srgbClr val="FEF3C7"/>
              </a:solidFill>
            </p:spPr>
          </p:sp>
          <p:sp>
            <p:nvSpPr>
              <p:cNvPr name="Freeform 178" id="178"/>
              <p:cNvSpPr/>
              <p:nvPr/>
            </p:nvSpPr>
            <p:spPr>
              <a:xfrm flipH="false" flipV="false" rot="0">
                <a:off x="0" y="0"/>
                <a:ext cx="3674485" cy="4324554"/>
              </a:xfrm>
              <a:custGeom>
                <a:avLst/>
                <a:gdLst/>
                <a:ahLst/>
                <a:cxnLst/>
                <a:rect r="r" b="b" t="t" l="l"/>
                <a:pathLst>
                  <a:path h="4324554" w="3674485">
                    <a:moveTo>
                      <a:pt x="8445" y="0"/>
                    </a:moveTo>
                    <a:lnTo>
                      <a:pt x="3666039" y="0"/>
                    </a:lnTo>
                    <a:cubicBezTo>
                      <a:pt x="3670738" y="0"/>
                      <a:pt x="3674485" y="10286"/>
                      <a:pt x="3674485" y="22801"/>
                    </a:cubicBezTo>
                    <a:lnTo>
                      <a:pt x="3674485" y="4301754"/>
                    </a:lnTo>
                    <a:cubicBezTo>
                      <a:pt x="3674485" y="4314440"/>
                      <a:pt x="3670675" y="4324554"/>
                      <a:pt x="3666039" y="4324554"/>
                    </a:cubicBezTo>
                    <a:lnTo>
                      <a:pt x="8445" y="4324554"/>
                    </a:lnTo>
                    <a:cubicBezTo>
                      <a:pt x="3746" y="4324554"/>
                      <a:pt x="0" y="4314268"/>
                      <a:pt x="0" y="4301754"/>
                    </a:cubicBezTo>
                    <a:lnTo>
                      <a:pt x="0" y="22801"/>
                    </a:lnTo>
                    <a:cubicBezTo>
                      <a:pt x="0" y="10286"/>
                      <a:pt x="3810" y="0"/>
                      <a:pt x="8445" y="0"/>
                    </a:cubicBezTo>
                    <a:moveTo>
                      <a:pt x="8445" y="45772"/>
                    </a:moveTo>
                    <a:lnTo>
                      <a:pt x="8445" y="22801"/>
                    </a:lnTo>
                    <a:lnTo>
                      <a:pt x="16954" y="22801"/>
                    </a:lnTo>
                    <a:lnTo>
                      <a:pt x="16954" y="4301754"/>
                    </a:lnTo>
                    <a:lnTo>
                      <a:pt x="8445" y="4301754"/>
                    </a:lnTo>
                    <a:lnTo>
                      <a:pt x="8445" y="4278953"/>
                    </a:lnTo>
                    <a:lnTo>
                      <a:pt x="3666039" y="4278953"/>
                    </a:lnTo>
                    <a:lnTo>
                      <a:pt x="3666039" y="4301754"/>
                    </a:lnTo>
                    <a:lnTo>
                      <a:pt x="3657594" y="4301754"/>
                    </a:lnTo>
                    <a:lnTo>
                      <a:pt x="3657594" y="22801"/>
                    </a:lnTo>
                    <a:lnTo>
                      <a:pt x="3666039" y="22801"/>
                    </a:lnTo>
                    <a:lnTo>
                      <a:pt x="3666039" y="45772"/>
                    </a:lnTo>
                    <a:lnTo>
                      <a:pt x="8445" y="45772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79" id="179"/>
            <p:cNvGrpSpPr/>
            <p:nvPr/>
          </p:nvGrpSpPr>
          <p:grpSpPr>
            <a:xfrm rot="0">
              <a:off x="129115" y="0"/>
              <a:ext cx="3416300" cy="1505744"/>
              <a:chOff x="0" y="0"/>
              <a:chExt cx="3416300" cy="1505744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3416300" cy="1505744"/>
              </a:xfrm>
              <a:custGeom>
                <a:avLst/>
                <a:gdLst/>
                <a:ahLst/>
                <a:cxnLst/>
                <a:rect r="r" b="b" t="t" l="l"/>
                <a:pathLst>
                  <a:path h="1505744" w="3416300">
                    <a:moveTo>
                      <a:pt x="0" y="0"/>
                    </a:moveTo>
                    <a:lnTo>
                      <a:pt x="3416300" y="0"/>
                    </a:lnTo>
                    <a:lnTo>
                      <a:pt x="3416300" y="1505744"/>
                    </a:lnTo>
                    <a:lnTo>
                      <a:pt x="0" y="1505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5963" r="-99851" b="-20739"/>
                </a:stretch>
              </a:blipFill>
            </p:spPr>
          </p:sp>
          <p:sp>
            <p:nvSpPr>
              <p:cNvPr name="TextBox 181" id="181"/>
              <p:cNvSpPr txBox="true"/>
              <p:nvPr/>
            </p:nvSpPr>
            <p:spPr>
              <a:xfrm>
                <a:off x="0" y="-57150"/>
                <a:ext cx="3416300" cy="15628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840"/>
                  </a:lnSpc>
                </a:pPr>
                <a:r>
                  <a:rPr lang="en-US" sz="3200" b="true">
                    <a:solidFill>
                      <a:srgbClr val="2563EB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Conversational voice agent</a:t>
                </a:r>
              </a:p>
            </p:txBody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129115" y="1505744"/>
              <a:ext cx="3413760" cy="2584797"/>
              <a:chOff x="0" y="0"/>
              <a:chExt cx="3413760" cy="2584797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3413760" cy="2584797"/>
              </a:xfrm>
              <a:custGeom>
                <a:avLst/>
                <a:gdLst/>
                <a:ahLst/>
                <a:cxnLst/>
                <a:rect r="r" b="b" t="t" l="l"/>
                <a:pathLst>
                  <a:path h="2584797" w="3413760">
                    <a:moveTo>
                      <a:pt x="0" y="0"/>
                    </a:moveTo>
                    <a:lnTo>
                      <a:pt x="3413760" y="0"/>
                    </a:lnTo>
                    <a:lnTo>
                      <a:pt x="3413760" y="2584797"/>
                    </a:lnTo>
                    <a:lnTo>
                      <a:pt x="0" y="258479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091" r="-100000" b="13155"/>
                </a:stretch>
              </a:blipFill>
            </p:spPr>
          </p:sp>
          <p:sp>
            <p:nvSpPr>
              <p:cNvPr name="TextBox 184" id="184"/>
              <p:cNvSpPr txBox="true"/>
              <p:nvPr/>
            </p:nvSpPr>
            <p:spPr>
              <a:xfrm>
                <a:off x="0" y="-57150"/>
                <a:ext cx="3413760" cy="2641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599"/>
                  </a:lnSpc>
                </a:pPr>
                <a:r>
                  <a:rPr lang="en-US" sz="29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Vapi Voice agent which can hold talks with the patient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5662" y="640407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Consultation &amp; Prescription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0258" y="1864357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6710" y="2175510"/>
            <a:ext cx="3147060" cy="2049780"/>
            <a:chOff x="0" y="0"/>
            <a:chExt cx="4196080" cy="273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6080" cy="2733040"/>
            </a:xfrm>
            <a:custGeom>
              <a:avLst/>
              <a:gdLst/>
              <a:ahLst/>
              <a:cxnLst/>
              <a:rect r="r" b="b" t="t" l="l"/>
              <a:pathLst>
                <a:path h="27330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194560"/>
            <a:ext cx="3108960" cy="2011680"/>
            <a:chOff x="0" y="0"/>
            <a:chExt cx="4145280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t="0" r="-3301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Appointment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74720" y="2194560"/>
            <a:ext cx="457200" cy="2011680"/>
            <a:chOff x="0" y="0"/>
            <a:chExt cx="609600" cy="2682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t="0" r="-51453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12870" y="2175510"/>
            <a:ext cx="3147060" cy="2049780"/>
            <a:chOff x="0" y="0"/>
            <a:chExt cx="4196080" cy="273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6080" cy="2733040"/>
            </a:xfrm>
            <a:custGeom>
              <a:avLst/>
              <a:gdLst/>
              <a:ahLst/>
              <a:cxnLst/>
              <a:rect r="r" b="b" t="t" l="l"/>
              <a:pathLst>
                <a:path h="27330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931920" y="2194560"/>
            <a:ext cx="3108960" cy="2011680"/>
            <a:chOff x="0" y="0"/>
            <a:chExt cx="4145280" cy="2682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t="0" r="-3301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Patient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40880" y="2194560"/>
            <a:ext cx="457200" cy="2011680"/>
            <a:chOff x="0" y="0"/>
            <a:chExt cx="609600" cy="2682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t="0" r="-51453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9030" y="2175510"/>
            <a:ext cx="3147060" cy="2049780"/>
            <a:chOff x="0" y="0"/>
            <a:chExt cx="4196080" cy="273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6080" cy="2733040"/>
            </a:xfrm>
            <a:custGeom>
              <a:avLst/>
              <a:gdLst/>
              <a:ahLst/>
              <a:cxnLst/>
              <a:rect r="r" b="b" t="t" l="l"/>
              <a:pathLst>
                <a:path h="27330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498080" y="2194560"/>
            <a:ext cx="3108960" cy="2011680"/>
            <a:chOff x="0" y="0"/>
            <a:chExt cx="4145280" cy="2682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t="0" r="-3301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AI-Assisted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 Drafting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07040" y="2194560"/>
            <a:ext cx="457200" cy="2011680"/>
            <a:chOff x="0" y="0"/>
            <a:chExt cx="609600" cy="2682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t="0" r="-51453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045190" y="2175510"/>
            <a:ext cx="3147060" cy="2049780"/>
            <a:chOff x="0" y="0"/>
            <a:chExt cx="4196080" cy="273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400" y="2540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96080" cy="2733040"/>
            </a:xfrm>
            <a:custGeom>
              <a:avLst/>
              <a:gdLst/>
              <a:ahLst/>
              <a:cxnLst/>
              <a:rect r="r" b="b" t="t" l="l"/>
              <a:pathLst>
                <a:path h="27330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064240" y="2194560"/>
            <a:ext cx="3108960" cy="2011680"/>
            <a:chOff x="0" y="0"/>
            <a:chExt cx="4145280" cy="2682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t="0" r="-3301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Issue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Prescription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173200" y="2194560"/>
            <a:ext cx="457200" cy="2011680"/>
            <a:chOff x="0" y="0"/>
            <a:chExt cx="609600" cy="2682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4535" t="0" r="-51453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6096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611350" y="2175510"/>
            <a:ext cx="3147060" cy="2049780"/>
            <a:chOff x="0" y="0"/>
            <a:chExt cx="4196080" cy="273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2540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96080" cy="2733040"/>
            </a:xfrm>
            <a:custGeom>
              <a:avLst/>
              <a:gdLst/>
              <a:ahLst/>
              <a:cxnLst/>
              <a:rect r="r" b="b" t="t" l="l"/>
              <a:pathLst>
                <a:path h="273304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2707640"/>
                  </a:lnTo>
                  <a:cubicBezTo>
                    <a:pt x="4196080" y="2721610"/>
                    <a:pt x="4184650" y="2733040"/>
                    <a:pt x="4170680" y="2733040"/>
                  </a:cubicBezTo>
                  <a:lnTo>
                    <a:pt x="25400" y="2733040"/>
                  </a:lnTo>
                  <a:cubicBezTo>
                    <a:pt x="11430" y="2733040"/>
                    <a:pt x="0" y="2721610"/>
                    <a:pt x="0" y="27076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707640"/>
                  </a:lnTo>
                  <a:lnTo>
                    <a:pt x="25400" y="2707640"/>
                  </a:lnTo>
                  <a:lnTo>
                    <a:pt x="25400" y="2682240"/>
                  </a:lnTo>
                  <a:lnTo>
                    <a:pt x="4170680" y="2682240"/>
                  </a:lnTo>
                  <a:lnTo>
                    <a:pt x="4170680" y="2707640"/>
                  </a:lnTo>
                  <a:lnTo>
                    <a:pt x="4145280" y="270764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630400" y="2194560"/>
            <a:ext cx="3108960" cy="2011680"/>
            <a:chOff x="0" y="0"/>
            <a:chExt cx="4145280" cy="2682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45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019" t="0" r="-3301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41452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Notify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48640" y="4758690"/>
            <a:ext cx="16459200" cy="797272"/>
            <a:chOff x="0" y="0"/>
            <a:chExt cx="21945600" cy="10630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380" r="0" b="-3481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Tools Available During Consultation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35943" y="5839463"/>
            <a:ext cx="4048763" cy="2768603"/>
            <a:chOff x="0" y="0"/>
            <a:chExt cx="5398351" cy="36914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5364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9826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48640" y="5888736"/>
            <a:ext cx="4023360" cy="914400"/>
            <a:chOff x="0" y="0"/>
            <a:chExt cx="536448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Summary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48640" y="6803136"/>
            <a:ext cx="4023360" cy="1554480"/>
            <a:chOff x="0" y="0"/>
            <a:chExt cx="5364480" cy="2072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AI-generated context from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consent-filtered records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925063" y="5839463"/>
            <a:ext cx="4048763" cy="2768603"/>
            <a:chOff x="0" y="0"/>
            <a:chExt cx="5398351" cy="36914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364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9826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937760" y="5888736"/>
            <a:ext cx="4023360" cy="914400"/>
            <a:chOff x="0" y="0"/>
            <a:chExt cx="536448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Query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4937760" y="6803136"/>
            <a:ext cx="4023360" cy="1554480"/>
            <a:chOff x="0" y="0"/>
            <a:chExt cx="5364480" cy="2072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 information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lookup for conditions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14183" y="5839463"/>
            <a:ext cx="4048763" cy="2768603"/>
            <a:chOff x="0" y="0"/>
            <a:chExt cx="5398351" cy="36914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5364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9826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326880" y="5888736"/>
            <a:ext cx="4023360" cy="914400"/>
            <a:chOff x="0" y="0"/>
            <a:chExt cx="5364480" cy="121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Voice-to-Notes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326880" y="6803136"/>
            <a:ext cx="4023360" cy="1554480"/>
            <a:chOff x="0" y="0"/>
            <a:chExt cx="5364480" cy="2072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Speech recognition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consultation notes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703303" y="5839463"/>
            <a:ext cx="4048763" cy="2768603"/>
            <a:chOff x="0" y="0"/>
            <a:chExt cx="5398351" cy="369147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53644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98262" cy="3691382"/>
            </a:xfrm>
            <a:custGeom>
              <a:avLst/>
              <a:gdLst/>
              <a:ahLst/>
              <a:cxnLst/>
              <a:rect r="r" b="b" t="t" l="l"/>
              <a:pathLst>
                <a:path h="369138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674491"/>
                  </a:lnTo>
                  <a:cubicBezTo>
                    <a:pt x="5398262" y="3683889"/>
                    <a:pt x="5390642" y="3691382"/>
                    <a:pt x="538137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5381371" y="3657600"/>
                  </a:lnTo>
                  <a:lnTo>
                    <a:pt x="5381371" y="3674491"/>
                  </a:lnTo>
                  <a:lnTo>
                    <a:pt x="5364480" y="367449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716000" y="5888736"/>
            <a:ext cx="4023360" cy="914400"/>
            <a:chOff x="0" y="0"/>
            <a:chExt cx="5364480" cy="1219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536448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b="true" sz="3399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SOAP Drafting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716000" y="6803136"/>
            <a:ext cx="4023360" cy="1554480"/>
            <a:chOff x="0" y="0"/>
            <a:chExt cx="5364480" cy="2072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64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5364480" cy="2129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note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generation from context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89" id="89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92" id="92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3" id="93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7" id="97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8" id="98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9" id="99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0" id="100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4" id="124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25" id="1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6" id="12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7" id="127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30" id="130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1" id="131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32" id="132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33" id="133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34" id="134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38" id="138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39" id="139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40" id="140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42" id="142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45" id="145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  <p:sp>
          <p:nvSpPr>
            <p:cNvPr name="TextBox 146" id="146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147" id="147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53849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21945600" cy="2095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39"/>
                </a:lnSpc>
              </a:pPr>
              <a:r>
                <a:rPr lang="en-US" b="true" sz="7199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Schema — 7 Layers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7868" y="1712120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9590" y="2084070"/>
            <a:ext cx="4061460" cy="3147060"/>
            <a:chOff x="0" y="0"/>
            <a:chExt cx="5415280" cy="4196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5280" cy="4196080"/>
            </a:xfrm>
            <a:custGeom>
              <a:avLst/>
              <a:gdLst/>
              <a:ahLst/>
              <a:cxnLst/>
              <a:rect r="r" b="b" t="t" l="l"/>
              <a:pathLst>
                <a:path h="419608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8047" y="3011167"/>
            <a:ext cx="3304537" cy="12697"/>
            <a:chOff x="0" y="0"/>
            <a:chExt cx="4406049" cy="16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509" y="0"/>
              <a:ext cx="4389120" cy="16891"/>
            </a:xfrm>
            <a:custGeom>
              <a:avLst/>
              <a:gdLst/>
              <a:ahLst/>
              <a:cxnLst/>
              <a:rect r="r" b="b" t="t" l="l"/>
              <a:pathLst>
                <a:path h="16891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1500" y="2194560"/>
            <a:ext cx="4023360" cy="2926080"/>
            <a:chOff x="0" y="0"/>
            <a:chExt cx="5364480" cy="390144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364480" cy="1097280"/>
              <a:chOff x="0" y="0"/>
              <a:chExt cx="5364480" cy="10972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3644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5260" r="0" b="-45260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76200"/>
                <a:ext cx="5364480" cy="11734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560"/>
                  </a:lnSpc>
                </a:pPr>
                <a:r>
                  <a:rPr lang="en-US" sz="38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Identity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19200"/>
              <a:ext cx="5364480" cy="2682240"/>
              <a:chOff x="0" y="0"/>
              <a:chExt cx="5364480" cy="268224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364480" cy="2682240"/>
              </a:xfrm>
              <a:custGeom>
                <a:avLst/>
                <a:gdLst/>
                <a:ahLst/>
                <a:cxnLst/>
                <a:rect r="r" b="b" t="t" l="l"/>
                <a:pathLst>
                  <a:path h="2682240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0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5364480" cy="274891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profiles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doctor_profiles</a:t>
                </a:r>
              </a:p>
              <a:p>
                <a:pPr algn="ctr">
                  <a:lnSpc>
                    <a:spcPts val="4079"/>
                  </a:lnSpc>
                </a:pPr>
                <a:r>
                  <a:rPr lang="en-US" sz="3399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patient_profiles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4918710" y="2084070"/>
            <a:ext cx="4061460" cy="3147060"/>
            <a:chOff x="0" y="0"/>
            <a:chExt cx="5415280" cy="419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15280" cy="4196080"/>
            </a:xfrm>
            <a:custGeom>
              <a:avLst/>
              <a:gdLst/>
              <a:ahLst/>
              <a:cxnLst/>
              <a:rect r="r" b="b" t="t" l="l"/>
              <a:pathLst>
                <a:path h="419608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97167" y="3011167"/>
            <a:ext cx="3304537" cy="12697"/>
            <a:chOff x="0" y="0"/>
            <a:chExt cx="4406049" cy="169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8509" y="0"/>
              <a:ext cx="4389120" cy="16891"/>
            </a:xfrm>
            <a:custGeom>
              <a:avLst/>
              <a:gdLst/>
              <a:ahLst/>
              <a:cxnLst/>
              <a:rect r="r" b="b" t="t" l="l"/>
              <a:pathLst>
                <a:path h="16891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988331" y="2217420"/>
            <a:ext cx="4023360" cy="2926080"/>
            <a:chOff x="0" y="0"/>
            <a:chExt cx="5364480" cy="390144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364480" cy="1097280"/>
              <a:chOff x="0" y="0"/>
              <a:chExt cx="5364480" cy="10972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36448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5260" r="0" b="-45260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76200"/>
                <a:ext cx="5364480" cy="11734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560"/>
                  </a:lnSpc>
                </a:pPr>
                <a:r>
                  <a:rPr lang="en-US" sz="3800" b="true">
                    <a:solidFill>
                      <a:srgbClr val="1A1A1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Scheduling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1219200"/>
              <a:ext cx="5364480" cy="2682240"/>
              <a:chOff x="0" y="0"/>
              <a:chExt cx="5364480" cy="268224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364480" cy="2682240"/>
              </a:xfrm>
              <a:custGeom>
                <a:avLst/>
                <a:gdLst/>
                <a:ahLst/>
                <a:cxnLst/>
                <a:rect r="r" b="b" t="t" l="l"/>
                <a:pathLst>
                  <a:path h="2682240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2682240"/>
                    </a:lnTo>
                    <a:lnTo>
                      <a:pt x="0" y="26822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4151" t="0" r="-14151" b="0"/>
                </a:stretch>
              </a:blip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66675"/>
                <a:ext cx="5364480" cy="274891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appointments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availability</a:t>
                </a:r>
              </a:p>
              <a:p>
                <a:pPr algn="ctr">
                  <a:lnSpc>
                    <a:spcPts val="4320"/>
                  </a:lnSpc>
                </a:pPr>
                <a:r>
                  <a:rPr lang="en-US" sz="36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overrides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9307830" y="2084070"/>
            <a:ext cx="4061460" cy="3147060"/>
            <a:chOff x="0" y="0"/>
            <a:chExt cx="5415280" cy="4196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15280" cy="4196080"/>
            </a:xfrm>
            <a:custGeom>
              <a:avLst/>
              <a:gdLst/>
              <a:ahLst/>
              <a:cxnLst/>
              <a:rect r="r" b="b" t="t" l="l"/>
              <a:pathLst>
                <a:path h="419608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2194560"/>
            <a:ext cx="4023360" cy="822960"/>
            <a:chOff x="0" y="0"/>
            <a:chExt cx="53644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60"/>
                </a:lnSpc>
              </a:pPr>
              <a:r>
                <a:rPr lang="en-US" sz="3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86287" y="3011167"/>
            <a:ext cx="3304537" cy="12697"/>
            <a:chOff x="0" y="0"/>
            <a:chExt cx="4406049" cy="169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0"/>
              <a:ext cx="4389120" cy="16891"/>
            </a:xfrm>
            <a:custGeom>
              <a:avLst/>
              <a:gdLst/>
              <a:ahLst/>
              <a:cxnLst/>
              <a:rect r="r" b="b" t="t" l="l"/>
              <a:pathLst>
                <a:path h="16891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26880" y="3108960"/>
            <a:ext cx="4023360" cy="2011680"/>
            <a:chOff x="0" y="0"/>
            <a:chExt cx="5364480" cy="2682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consultations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prescriptions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medication_rx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96950" y="2084070"/>
            <a:ext cx="4061460" cy="3147060"/>
            <a:chOff x="0" y="0"/>
            <a:chExt cx="5415280" cy="4196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25400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15280" cy="4196080"/>
            </a:xfrm>
            <a:custGeom>
              <a:avLst/>
              <a:gdLst/>
              <a:ahLst/>
              <a:cxnLst/>
              <a:rect r="r" b="b" t="t" l="l"/>
              <a:pathLst>
                <a:path h="419608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16000" y="2194560"/>
            <a:ext cx="4023360" cy="822960"/>
            <a:chOff x="0" y="0"/>
            <a:chExt cx="53644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Data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075407" y="3011167"/>
            <a:ext cx="3304537" cy="12697"/>
            <a:chOff x="0" y="0"/>
            <a:chExt cx="4406049" cy="1692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8509" y="0"/>
              <a:ext cx="4389120" cy="16891"/>
            </a:xfrm>
            <a:custGeom>
              <a:avLst/>
              <a:gdLst/>
              <a:ahLst/>
              <a:cxnLst/>
              <a:rect r="r" b="b" t="t" l="l"/>
              <a:pathLst>
                <a:path h="16891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716000" y="3108960"/>
            <a:ext cx="4023360" cy="2011680"/>
            <a:chOff x="0" y="0"/>
            <a:chExt cx="5364480" cy="2682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medical_reports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health_metrics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medicines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29590" y="5741670"/>
            <a:ext cx="4061460" cy="3147060"/>
            <a:chOff x="0" y="0"/>
            <a:chExt cx="5415280" cy="4196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25400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15280" cy="4196080"/>
            </a:xfrm>
            <a:custGeom>
              <a:avLst/>
              <a:gdLst/>
              <a:ahLst/>
              <a:cxnLst/>
              <a:rect r="r" b="b" t="t" l="l"/>
              <a:pathLst>
                <a:path h="419608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48640" y="5852160"/>
            <a:ext cx="4023360" cy="822960"/>
            <a:chOff x="0" y="0"/>
            <a:chExt cx="53644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 Control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8047" y="6668767"/>
            <a:ext cx="3304537" cy="12697"/>
            <a:chOff x="0" y="0"/>
            <a:chExt cx="4406049" cy="1692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0"/>
              <a:ext cx="4389120" cy="16891"/>
            </a:xfrm>
            <a:custGeom>
              <a:avLst/>
              <a:gdLst/>
              <a:ahLst/>
              <a:cxnLst/>
              <a:rect r="r" b="b" t="t" l="l"/>
              <a:pathLst>
                <a:path h="16891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548640" y="6766560"/>
            <a:ext cx="4023360" cy="2011680"/>
            <a:chOff x="0" y="0"/>
            <a:chExt cx="5364480" cy="2682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patient_access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data_sharing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consents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918710" y="5741670"/>
            <a:ext cx="4061460" cy="3147060"/>
            <a:chOff x="0" y="0"/>
            <a:chExt cx="5415280" cy="4196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5400" y="25400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15280" cy="4196080"/>
            </a:xfrm>
            <a:custGeom>
              <a:avLst/>
              <a:gdLst/>
              <a:ahLst/>
              <a:cxnLst/>
              <a:rect r="r" b="b" t="t" l="l"/>
              <a:pathLst>
                <a:path h="419608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937760" y="5852160"/>
            <a:ext cx="4023360" cy="822960"/>
            <a:chOff x="0" y="0"/>
            <a:chExt cx="536448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+ Notif.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297167" y="6668767"/>
            <a:ext cx="3304537" cy="12697"/>
            <a:chOff x="0" y="0"/>
            <a:chExt cx="4406049" cy="1692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0"/>
              <a:ext cx="4389120" cy="16891"/>
            </a:xfrm>
            <a:custGeom>
              <a:avLst/>
              <a:gdLst/>
              <a:ahLst/>
              <a:cxnLst/>
              <a:rect r="r" b="b" t="t" l="l"/>
              <a:pathLst>
                <a:path h="16891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4937760" y="6766560"/>
            <a:ext cx="4023360" cy="2011680"/>
            <a:chOff x="0" y="0"/>
            <a:chExt cx="5364480" cy="26822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ai_interactions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chorui_messages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reminders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07830" y="5741670"/>
            <a:ext cx="4061460" cy="3147060"/>
            <a:chOff x="0" y="0"/>
            <a:chExt cx="5415280" cy="41960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25400" y="25400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15280" cy="4196080"/>
            </a:xfrm>
            <a:custGeom>
              <a:avLst/>
              <a:gdLst/>
              <a:ahLst/>
              <a:cxnLst/>
              <a:rect r="r" b="b" t="t" l="l"/>
              <a:pathLst>
                <a:path h="4196080" w="5415280">
                  <a:moveTo>
                    <a:pt x="25400" y="0"/>
                  </a:moveTo>
                  <a:lnTo>
                    <a:pt x="5389880" y="0"/>
                  </a:lnTo>
                  <a:cubicBezTo>
                    <a:pt x="5403850" y="0"/>
                    <a:pt x="5415280" y="11430"/>
                    <a:pt x="5415280" y="25400"/>
                  </a:cubicBezTo>
                  <a:lnTo>
                    <a:pt x="5415280" y="4170680"/>
                  </a:lnTo>
                  <a:cubicBezTo>
                    <a:pt x="5415280" y="4184650"/>
                    <a:pt x="5403850" y="4196080"/>
                    <a:pt x="5389880" y="4196080"/>
                  </a:cubicBezTo>
                  <a:lnTo>
                    <a:pt x="25400" y="4196080"/>
                  </a:lnTo>
                  <a:cubicBezTo>
                    <a:pt x="11430" y="4196080"/>
                    <a:pt x="0" y="4184650"/>
                    <a:pt x="0" y="41706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170680"/>
                  </a:lnTo>
                  <a:lnTo>
                    <a:pt x="25400" y="4170680"/>
                  </a:lnTo>
                  <a:lnTo>
                    <a:pt x="25400" y="4145280"/>
                  </a:lnTo>
                  <a:lnTo>
                    <a:pt x="5389880" y="4145280"/>
                  </a:lnTo>
                  <a:lnTo>
                    <a:pt x="5389880" y="4170680"/>
                  </a:lnTo>
                  <a:lnTo>
                    <a:pt x="5364480" y="4170680"/>
                  </a:lnTo>
                  <a:lnTo>
                    <a:pt x="5364480" y="25400"/>
                  </a:lnTo>
                  <a:lnTo>
                    <a:pt x="5389880" y="25400"/>
                  </a:lnTo>
                  <a:lnTo>
                    <a:pt x="53898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5852160"/>
            <a:ext cx="4023360" cy="822960"/>
            <a:chOff x="0" y="0"/>
            <a:chExt cx="5364480" cy="10972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Infrastructure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86287" y="6668767"/>
            <a:ext cx="3304537" cy="12697"/>
            <a:chOff x="0" y="0"/>
            <a:chExt cx="4406049" cy="1692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8509" y="0"/>
              <a:ext cx="4389120" cy="16891"/>
            </a:xfrm>
            <a:custGeom>
              <a:avLst/>
              <a:gdLst/>
              <a:ahLst/>
              <a:cxnLst/>
              <a:rect r="r" b="b" t="t" l="l"/>
              <a:pathLst>
                <a:path h="16891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326880" y="6766560"/>
            <a:ext cx="4023360" cy="2011680"/>
            <a:chOff x="0" y="0"/>
            <a:chExt cx="5364480" cy="2682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644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66675"/>
              <a:ext cx="536448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media_files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doctor_action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alembic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48640" y="9144000"/>
            <a:ext cx="17190720" cy="643533"/>
            <a:chOff x="0" y="0"/>
            <a:chExt cx="22920960" cy="85804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920961" cy="858043"/>
            </a:xfrm>
            <a:custGeom>
              <a:avLst/>
              <a:gdLst/>
              <a:ahLst/>
              <a:cxnLst/>
              <a:rect r="r" b="b" t="t" l="l"/>
              <a:pathLst>
                <a:path h="858043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8043"/>
                  </a:lnTo>
                  <a:lnTo>
                    <a:pt x="0" y="8580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0773" r="0" b="-47023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22920960" cy="934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b="true" sz="3199" i="true">
                  <a:solidFill>
                    <a:srgbClr val="2563E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41 SQLAlchemy models  |  47 Alembic migrations  |  Consent-gated access throughout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90" id="90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93" id="93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7" id="97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8" id="98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9" id="99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0" id="100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1" id="101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3" id="10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4" id="104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9" id="10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0" id="110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5" id="1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6" id="116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31" id="131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2" id="132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33" id="133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34" id="134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35" id="135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38" id="138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39" id="139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40" id="140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41" id="141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43" id="143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46" id="146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</a:t>
              </a:r>
            </a:p>
          </p:txBody>
        </p:sp>
        <p:sp>
          <p:nvSpPr>
            <p:cNvPr name="TextBox 147" id="147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148" id="148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&amp; DevOps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6710" y="2175510"/>
            <a:ext cx="3147060" cy="2415540"/>
            <a:chOff x="0" y="0"/>
            <a:chExt cx="4196080" cy="3220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96080" cy="3220720"/>
            </a:xfrm>
            <a:custGeom>
              <a:avLst/>
              <a:gdLst/>
              <a:ahLst/>
              <a:cxnLst/>
              <a:rect r="r" b="b" t="t" l="l"/>
              <a:pathLst>
                <a:path h="322072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213610"/>
            <a:ext cx="3108960" cy="2377440"/>
            <a:chOff x="0" y="0"/>
            <a:chExt cx="4145280" cy="3169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t="0" r="-48114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Push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74720" y="2194560"/>
            <a:ext cx="457200" cy="2377440"/>
            <a:chOff x="0" y="0"/>
            <a:chExt cx="609600" cy="3169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t="0" r="-61717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12870" y="2175510"/>
            <a:ext cx="3147060" cy="2415540"/>
            <a:chOff x="0" y="0"/>
            <a:chExt cx="4196080" cy="3220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6080" cy="3220720"/>
            </a:xfrm>
            <a:custGeom>
              <a:avLst/>
              <a:gdLst/>
              <a:ahLst/>
              <a:cxnLst/>
              <a:rect r="r" b="b" t="t" l="l"/>
              <a:pathLst>
                <a:path h="322072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950970" y="2213610"/>
            <a:ext cx="3108960" cy="2377440"/>
            <a:chOff x="0" y="0"/>
            <a:chExt cx="4145280" cy="3169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Actions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CI/CD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40880" y="2194560"/>
            <a:ext cx="457200" cy="2377440"/>
            <a:chOff x="0" y="0"/>
            <a:chExt cx="609600" cy="3169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t="0" r="-61717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79030" y="2175510"/>
            <a:ext cx="3147060" cy="2415540"/>
            <a:chOff x="0" y="0"/>
            <a:chExt cx="4196080" cy="322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5400" y="2540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6080" cy="3220720"/>
            </a:xfrm>
            <a:custGeom>
              <a:avLst/>
              <a:gdLst/>
              <a:ahLst/>
              <a:cxnLst/>
              <a:rect r="r" b="b" t="t" l="l"/>
              <a:pathLst>
                <a:path h="322072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17130" y="2213610"/>
            <a:ext cx="3108960" cy="2377440"/>
            <a:chOff x="0" y="0"/>
            <a:chExt cx="4145280" cy="3169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07040" y="2194560"/>
            <a:ext cx="457200" cy="2377440"/>
            <a:chOff x="0" y="0"/>
            <a:chExt cx="609600" cy="3169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t="0" r="-617178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045190" y="2175510"/>
            <a:ext cx="3147060" cy="2415540"/>
            <a:chOff x="0" y="0"/>
            <a:chExt cx="4196080" cy="322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400" y="2540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96080" cy="3220720"/>
            </a:xfrm>
            <a:custGeom>
              <a:avLst/>
              <a:gdLst/>
              <a:ahLst/>
              <a:cxnLst/>
              <a:rect r="r" b="b" t="t" l="l"/>
              <a:pathLst>
                <a:path h="322072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045190" y="2194560"/>
            <a:ext cx="3108960" cy="2377440"/>
            <a:chOff x="0" y="0"/>
            <a:chExt cx="4145280" cy="3169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Azure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Container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173200" y="2194560"/>
            <a:ext cx="457200" cy="2377440"/>
            <a:chOff x="0" y="0"/>
            <a:chExt cx="609600" cy="3169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7178" t="0" r="-61717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609600" cy="3246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2563E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611350" y="2175510"/>
            <a:ext cx="3147060" cy="2415540"/>
            <a:chOff x="0" y="0"/>
            <a:chExt cx="4196080" cy="322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25400" y="2540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96080" cy="3220720"/>
            </a:xfrm>
            <a:custGeom>
              <a:avLst/>
              <a:gdLst/>
              <a:ahLst/>
              <a:cxnLst/>
              <a:rect r="r" b="b" t="t" l="l"/>
              <a:pathLst>
                <a:path h="3220720" w="4196080">
                  <a:moveTo>
                    <a:pt x="25400" y="0"/>
                  </a:moveTo>
                  <a:lnTo>
                    <a:pt x="4170680" y="0"/>
                  </a:lnTo>
                  <a:cubicBezTo>
                    <a:pt x="4184650" y="0"/>
                    <a:pt x="4196080" y="11430"/>
                    <a:pt x="4196080" y="25400"/>
                  </a:cubicBezTo>
                  <a:lnTo>
                    <a:pt x="4196080" y="3195320"/>
                  </a:lnTo>
                  <a:cubicBezTo>
                    <a:pt x="4196080" y="3209290"/>
                    <a:pt x="4184650" y="3220720"/>
                    <a:pt x="4170680" y="3220720"/>
                  </a:cubicBezTo>
                  <a:lnTo>
                    <a:pt x="25400" y="3220720"/>
                  </a:lnTo>
                  <a:cubicBezTo>
                    <a:pt x="11430" y="3220720"/>
                    <a:pt x="0" y="3209290"/>
                    <a:pt x="0" y="31953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195320"/>
                  </a:lnTo>
                  <a:lnTo>
                    <a:pt x="25400" y="3195320"/>
                  </a:lnTo>
                  <a:lnTo>
                    <a:pt x="25400" y="3169920"/>
                  </a:lnTo>
                  <a:lnTo>
                    <a:pt x="4170680" y="3169920"/>
                  </a:lnTo>
                  <a:lnTo>
                    <a:pt x="4170680" y="3195320"/>
                  </a:lnTo>
                  <a:lnTo>
                    <a:pt x="4145280" y="3195320"/>
                  </a:lnTo>
                  <a:lnTo>
                    <a:pt x="4145280" y="25400"/>
                  </a:lnTo>
                  <a:lnTo>
                    <a:pt x="4170680" y="25400"/>
                  </a:lnTo>
                  <a:lnTo>
                    <a:pt x="417068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636744" y="2175510"/>
            <a:ext cx="3108960" cy="2377440"/>
            <a:chOff x="0" y="0"/>
            <a:chExt cx="4145280" cy="31699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114" t="0" r="-4811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4145280" cy="3236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Regular</a:t>
              </a:r>
            </a:p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63228" y="4922805"/>
            <a:ext cx="16459200" cy="797272"/>
            <a:chOff x="0" y="0"/>
            <a:chExt cx="21945600" cy="10630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0" cy="1063030"/>
            </a:xfrm>
            <a:custGeom>
              <a:avLst/>
              <a:gdLst/>
              <a:ahLst/>
              <a:cxnLst/>
              <a:rect r="r" b="b" t="t" l="l"/>
              <a:pathLst>
                <a:path h="106303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63030"/>
                  </a:lnTo>
                  <a:lnTo>
                    <a:pt x="0" y="10630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380" r="0" b="-34813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21945600" cy="113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Architecture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937247" y="5720077"/>
            <a:ext cx="6413497" cy="707641"/>
            <a:chOff x="0" y="0"/>
            <a:chExt cx="8551329" cy="9435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8509" y="8509"/>
              <a:ext cx="8534400" cy="926592"/>
            </a:xfrm>
            <a:custGeom>
              <a:avLst/>
              <a:gdLst/>
              <a:ahLst/>
              <a:cxnLst/>
              <a:rect r="r" b="b" t="t" l="l"/>
              <a:pathLst>
                <a:path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EE2E2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51418" cy="943610"/>
            </a:xfrm>
            <a:custGeom>
              <a:avLst/>
              <a:gdLst/>
              <a:ahLst/>
              <a:cxnLst/>
              <a:rect r="r" b="b" t="t" l="l"/>
              <a:pathLst>
                <a:path h="943610" w="8551418">
                  <a:moveTo>
                    <a:pt x="8509" y="0"/>
                  </a:moveTo>
                  <a:lnTo>
                    <a:pt x="8542909" y="0"/>
                  </a:lnTo>
                  <a:cubicBezTo>
                    <a:pt x="8547608" y="0"/>
                    <a:pt x="8551418" y="3810"/>
                    <a:pt x="8551418" y="8509"/>
                  </a:cubicBezTo>
                  <a:lnTo>
                    <a:pt x="8551418" y="935101"/>
                  </a:lnTo>
                  <a:cubicBezTo>
                    <a:pt x="8551418" y="939800"/>
                    <a:pt x="8547608" y="943610"/>
                    <a:pt x="85429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8542909" y="926592"/>
                  </a:lnTo>
                  <a:lnTo>
                    <a:pt x="8542909" y="935101"/>
                  </a:lnTo>
                  <a:lnTo>
                    <a:pt x="8534400" y="935101"/>
                  </a:lnTo>
                  <a:lnTo>
                    <a:pt x="8534400" y="8509"/>
                  </a:lnTo>
                  <a:lnTo>
                    <a:pt x="8542909" y="8509"/>
                  </a:lnTo>
                  <a:lnTo>
                    <a:pt x="8542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126480" y="5726430"/>
            <a:ext cx="6035040" cy="694944"/>
            <a:chOff x="0" y="0"/>
            <a:chExt cx="804672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46720" cy="926592"/>
            </a:xfrm>
            <a:custGeom>
              <a:avLst/>
              <a:gdLst/>
              <a:ahLst/>
              <a:cxnLst/>
              <a:rect r="r" b="b" t="t" l="l"/>
              <a:pathLst>
                <a:path h="92659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212" r="0" b="-11921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80467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— Locust, k6, Lighthouse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565647" y="6488173"/>
            <a:ext cx="9156697" cy="707641"/>
            <a:chOff x="0" y="0"/>
            <a:chExt cx="12208929" cy="94352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509" y="8509"/>
              <a:ext cx="12192000" cy="926592"/>
            </a:xfrm>
            <a:custGeom>
              <a:avLst/>
              <a:gdLst/>
              <a:ahLst/>
              <a:cxnLst/>
              <a:rect r="r" b="b" t="t" l="l"/>
              <a:pathLst>
                <a:path h="92659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209018" cy="943610"/>
            </a:xfrm>
            <a:custGeom>
              <a:avLst/>
              <a:gdLst/>
              <a:ahLst/>
              <a:cxnLst/>
              <a:rect r="r" b="b" t="t" l="l"/>
              <a:pathLst>
                <a:path h="943610" w="12209018">
                  <a:moveTo>
                    <a:pt x="8509" y="0"/>
                  </a:moveTo>
                  <a:lnTo>
                    <a:pt x="12200509" y="0"/>
                  </a:lnTo>
                  <a:cubicBezTo>
                    <a:pt x="12205208" y="0"/>
                    <a:pt x="12209018" y="3810"/>
                    <a:pt x="12209018" y="8509"/>
                  </a:cubicBezTo>
                  <a:lnTo>
                    <a:pt x="12209018" y="935101"/>
                  </a:lnTo>
                  <a:cubicBezTo>
                    <a:pt x="12209018" y="939800"/>
                    <a:pt x="12205208" y="943610"/>
                    <a:pt x="1220050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12200509" y="926592"/>
                  </a:lnTo>
                  <a:lnTo>
                    <a:pt x="12200509" y="935101"/>
                  </a:lnTo>
                  <a:lnTo>
                    <a:pt x="12192000" y="935101"/>
                  </a:lnTo>
                  <a:lnTo>
                    <a:pt x="12192000" y="8509"/>
                  </a:lnTo>
                  <a:lnTo>
                    <a:pt x="12200509" y="8509"/>
                  </a:lnTo>
                  <a:lnTo>
                    <a:pt x="12200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54880" y="6494526"/>
            <a:ext cx="8778240" cy="694944"/>
            <a:chOff x="0" y="0"/>
            <a:chExt cx="1170432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704320" cy="926592"/>
            </a:xfrm>
            <a:custGeom>
              <a:avLst/>
              <a:gdLst/>
              <a:ahLst/>
              <a:cxnLst/>
              <a:rect r="r" b="b" t="t" l="l"/>
              <a:pathLst>
                <a:path h="92659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126" r="0" b="-19612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17043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— JWT, RBAC, cross-user isolation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194047" y="7256269"/>
            <a:ext cx="11899897" cy="707641"/>
            <a:chOff x="0" y="0"/>
            <a:chExt cx="15866529" cy="94352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8509" y="8509"/>
              <a:ext cx="15849601" cy="926592"/>
            </a:xfrm>
            <a:custGeom>
              <a:avLst/>
              <a:gdLst/>
              <a:ahLst/>
              <a:cxnLst/>
              <a:rect r="r" b="b" t="t" l="l"/>
              <a:pathLst>
                <a:path h="926592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866618" cy="943610"/>
            </a:xfrm>
            <a:custGeom>
              <a:avLst/>
              <a:gdLst/>
              <a:ahLst/>
              <a:cxnLst/>
              <a:rect r="r" b="b" t="t" l="l"/>
              <a:pathLst>
                <a:path h="943610" w="15866618">
                  <a:moveTo>
                    <a:pt x="8509" y="0"/>
                  </a:moveTo>
                  <a:lnTo>
                    <a:pt x="15858110" y="0"/>
                  </a:lnTo>
                  <a:cubicBezTo>
                    <a:pt x="15862808" y="0"/>
                    <a:pt x="15866618" y="3810"/>
                    <a:pt x="15866618" y="8509"/>
                  </a:cubicBezTo>
                  <a:lnTo>
                    <a:pt x="15866618" y="935101"/>
                  </a:lnTo>
                  <a:cubicBezTo>
                    <a:pt x="15866618" y="939800"/>
                    <a:pt x="15862808" y="943610"/>
                    <a:pt x="1585811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15858110" y="926592"/>
                  </a:lnTo>
                  <a:lnTo>
                    <a:pt x="15858110" y="935101"/>
                  </a:lnTo>
                  <a:lnTo>
                    <a:pt x="15849600" y="935101"/>
                  </a:lnTo>
                  <a:lnTo>
                    <a:pt x="15849600" y="8509"/>
                  </a:lnTo>
                  <a:lnTo>
                    <a:pt x="15858110" y="8509"/>
                  </a:lnTo>
                  <a:lnTo>
                    <a:pt x="158581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3383280" y="7262622"/>
            <a:ext cx="11521440" cy="694944"/>
            <a:chOff x="0" y="0"/>
            <a:chExt cx="1536192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361920" cy="926592"/>
            </a:xfrm>
            <a:custGeom>
              <a:avLst/>
              <a:gdLst/>
              <a:ahLst/>
              <a:cxnLst/>
              <a:rect r="r" b="b" t="t" l="l"/>
              <a:pathLst>
                <a:path h="926592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41" r="0" b="-27304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53619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— Playwright critical flows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822447" y="8024365"/>
            <a:ext cx="14643097" cy="707641"/>
            <a:chOff x="0" y="0"/>
            <a:chExt cx="19524129" cy="94352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19507201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1">
                  <a:moveTo>
                    <a:pt x="0" y="0"/>
                  </a:moveTo>
                  <a:lnTo>
                    <a:pt x="19507201" y="0"/>
                  </a:lnTo>
                  <a:lnTo>
                    <a:pt x="1950720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524218" cy="943610"/>
            </a:xfrm>
            <a:custGeom>
              <a:avLst/>
              <a:gdLst/>
              <a:ahLst/>
              <a:cxnLst/>
              <a:rect r="r" b="b" t="t" l="l"/>
              <a:pathLst>
                <a:path h="943610" w="19524218">
                  <a:moveTo>
                    <a:pt x="8509" y="0"/>
                  </a:moveTo>
                  <a:lnTo>
                    <a:pt x="19515710" y="0"/>
                  </a:lnTo>
                  <a:cubicBezTo>
                    <a:pt x="19520408" y="0"/>
                    <a:pt x="19524218" y="3810"/>
                    <a:pt x="19524218" y="8509"/>
                  </a:cubicBezTo>
                  <a:lnTo>
                    <a:pt x="19524218" y="935101"/>
                  </a:lnTo>
                  <a:cubicBezTo>
                    <a:pt x="19524218" y="939800"/>
                    <a:pt x="19520408" y="943610"/>
                    <a:pt x="1951571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19515710" y="926592"/>
                  </a:lnTo>
                  <a:lnTo>
                    <a:pt x="19515710" y="935101"/>
                  </a:lnTo>
                  <a:lnTo>
                    <a:pt x="19507200" y="935101"/>
                  </a:lnTo>
                  <a:lnTo>
                    <a:pt x="19507200" y="8509"/>
                  </a:lnTo>
                  <a:lnTo>
                    <a:pt x="19515710" y="8509"/>
                  </a:lnTo>
                  <a:lnTo>
                    <a:pt x="195157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011680" y="8030718"/>
            <a:ext cx="14264640" cy="694944"/>
            <a:chOff x="0" y="0"/>
            <a:chExt cx="19019520" cy="9265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019520" cy="926592"/>
            </a:xfrm>
            <a:custGeom>
              <a:avLst/>
              <a:gdLst/>
              <a:ahLst/>
              <a:cxnLst/>
              <a:rect r="r" b="b" t="t" l="l"/>
              <a:pathLst>
                <a:path h="92659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956" r="0" b="-34995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190195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— API + OCR + AI contracts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42287" y="8792461"/>
            <a:ext cx="17203417" cy="707641"/>
            <a:chOff x="0" y="0"/>
            <a:chExt cx="22937889" cy="94352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8509" y="8509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937978" cy="943610"/>
            </a:xfrm>
            <a:custGeom>
              <a:avLst/>
              <a:gdLst/>
              <a:ahLst/>
              <a:cxnLst/>
              <a:rect r="r" b="b" t="t" l="l"/>
              <a:pathLst>
                <a:path h="943610" w="22937978">
                  <a:moveTo>
                    <a:pt x="8509" y="0"/>
                  </a:moveTo>
                  <a:lnTo>
                    <a:pt x="22929470" y="0"/>
                  </a:lnTo>
                  <a:cubicBezTo>
                    <a:pt x="22934169" y="0"/>
                    <a:pt x="22937978" y="3810"/>
                    <a:pt x="22937978" y="8509"/>
                  </a:cubicBezTo>
                  <a:lnTo>
                    <a:pt x="22937978" y="935101"/>
                  </a:lnTo>
                  <a:cubicBezTo>
                    <a:pt x="22937978" y="939800"/>
                    <a:pt x="22934169" y="943610"/>
                    <a:pt x="22929470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22929470" y="926592"/>
                  </a:lnTo>
                  <a:lnTo>
                    <a:pt x="22929470" y="935101"/>
                  </a:lnTo>
                  <a:lnTo>
                    <a:pt x="22920961" y="935101"/>
                  </a:lnTo>
                  <a:lnTo>
                    <a:pt x="22920961" y="8509"/>
                  </a:lnTo>
                  <a:lnTo>
                    <a:pt x="22929470" y="8509"/>
                  </a:lnTo>
                  <a:lnTo>
                    <a:pt x="2292947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31520" y="8798814"/>
            <a:ext cx="16824960" cy="694944"/>
            <a:chOff x="0" y="0"/>
            <a:chExt cx="2243328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743" r="0" b="-42174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224332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 — Backend services, routes, frontend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83" id="83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86" id="86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0" id="90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1" id="91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2" id="92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3" id="93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94" id="94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3" id="103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24" id="124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5" id="125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26" id="126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27" id="127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28" id="128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29" id="129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30" id="130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31" id="131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32" id="132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33" id="133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34" id="134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36" id="136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39" id="139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</a:t>
              </a:r>
            </a:p>
          </p:txBody>
        </p:sp>
        <p:sp>
          <p:nvSpPr>
            <p:cNvPr name="TextBox 140" id="140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141" id="141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5403" y="640407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— All Targets Met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403" y="1795646"/>
            <a:ext cx="15255534" cy="23509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49" id="49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355882" y="2270390"/>
            <a:ext cx="5630671" cy="2511508"/>
            <a:chOff x="0" y="0"/>
            <a:chExt cx="7249160" cy="32334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3495"/>
              <a:ext cx="7223760" cy="3206430"/>
            </a:xfrm>
            <a:custGeom>
              <a:avLst/>
              <a:gdLst/>
              <a:ahLst/>
              <a:cxnLst/>
              <a:rect r="r" b="b" t="t" l="l"/>
              <a:pathLst>
                <a:path h="320643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249160" cy="3233420"/>
            </a:xfrm>
            <a:custGeom>
              <a:avLst/>
              <a:gdLst/>
              <a:ahLst/>
              <a:cxnLst/>
              <a:rect r="r" b="b" t="t" l="l"/>
              <a:pathLst>
                <a:path h="323342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355882" y="2270390"/>
            <a:ext cx="133368" cy="2363540"/>
            <a:chOff x="0" y="0"/>
            <a:chExt cx="171704" cy="30429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1704" cy="3042920"/>
            </a:xfrm>
            <a:custGeom>
              <a:avLst/>
              <a:gdLst/>
              <a:ahLst/>
              <a:cxnLst/>
              <a:rect r="r" b="b" t="t" l="l"/>
              <a:pathLst>
                <a:path h="30429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20869" y="2493328"/>
            <a:ext cx="5042746" cy="576998"/>
            <a:chOff x="0" y="0"/>
            <a:chExt cx="6492240" cy="7428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92240" cy="742851"/>
            </a:xfrm>
            <a:custGeom>
              <a:avLst/>
              <a:gdLst/>
              <a:ahLst/>
              <a:cxnLst/>
              <a:rect r="r" b="b" t="t" l="l"/>
              <a:pathLst>
                <a:path h="742851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209" r="0" b="-11337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p50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20869" y="2873344"/>
            <a:ext cx="2769959" cy="1163860"/>
            <a:chOff x="0" y="0"/>
            <a:chExt cx="3566160" cy="149840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566160" cy="1498402"/>
            </a:xfrm>
            <a:custGeom>
              <a:avLst/>
              <a:gdLst/>
              <a:ahLst/>
              <a:cxnLst/>
              <a:rect r="r" b="b" t="t" l="l"/>
              <a:pathLst>
                <a:path h="149840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" r="0" b="1090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150 ms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632877" y="2702002"/>
            <a:ext cx="2130738" cy="576998"/>
            <a:chOff x="0" y="0"/>
            <a:chExt cx="2743200" cy="7428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743200" cy="742851"/>
            </a:xfrm>
            <a:custGeom>
              <a:avLst/>
              <a:gdLst/>
              <a:ahLst/>
              <a:cxnLst/>
              <a:rect r="r" b="b" t="t" l="l"/>
              <a:pathLst>
                <a:path h="742851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81" r="0" b="-272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3632877" y="3217449"/>
            <a:ext cx="2130738" cy="49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200 ms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5266443" y="2990501"/>
            <a:ext cx="426148" cy="426148"/>
            <a:chOff x="0" y="0"/>
            <a:chExt cx="548640" cy="548640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720869" y="3856670"/>
            <a:ext cx="5042746" cy="9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Booking and search feel instant — no waiting between taps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6179898" y="2270390"/>
            <a:ext cx="5630671" cy="2511508"/>
            <a:chOff x="0" y="0"/>
            <a:chExt cx="7249160" cy="32334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3495"/>
              <a:ext cx="7223760" cy="3206430"/>
            </a:xfrm>
            <a:custGeom>
              <a:avLst/>
              <a:gdLst/>
              <a:ahLst/>
              <a:cxnLst/>
              <a:rect r="r" b="b" t="t" l="l"/>
              <a:pathLst>
                <a:path h="320643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249160" cy="3233420"/>
            </a:xfrm>
            <a:custGeom>
              <a:avLst/>
              <a:gdLst/>
              <a:ahLst/>
              <a:cxnLst/>
              <a:rect r="r" b="b" t="t" l="l"/>
              <a:pathLst>
                <a:path h="323342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179898" y="2270390"/>
            <a:ext cx="133368" cy="2363540"/>
            <a:chOff x="0" y="0"/>
            <a:chExt cx="171704" cy="30429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2700" y="1270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1704" cy="3042920"/>
            </a:xfrm>
            <a:custGeom>
              <a:avLst/>
              <a:gdLst/>
              <a:ahLst/>
              <a:cxnLst/>
              <a:rect r="r" b="b" t="t" l="l"/>
              <a:pathLst>
                <a:path h="30429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6544885" y="2493328"/>
            <a:ext cx="5042746" cy="576998"/>
            <a:chOff x="0" y="0"/>
            <a:chExt cx="6492240" cy="74285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492240" cy="742851"/>
            </a:xfrm>
            <a:custGeom>
              <a:avLst/>
              <a:gdLst/>
              <a:ahLst/>
              <a:cxnLst/>
              <a:rect r="r" b="b" t="t" l="l"/>
              <a:pathLst>
                <a:path h="742851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209" r="0" b="-11337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p95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544885" y="2873344"/>
            <a:ext cx="2769959" cy="1163860"/>
            <a:chOff x="0" y="0"/>
            <a:chExt cx="3566160" cy="149840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66160" cy="1498402"/>
            </a:xfrm>
            <a:custGeom>
              <a:avLst/>
              <a:gdLst/>
              <a:ahLst/>
              <a:cxnLst/>
              <a:rect r="r" b="b" t="t" l="l"/>
              <a:pathLst>
                <a:path h="149840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" r="0" b="1090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380 ms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56893" y="2697601"/>
            <a:ext cx="2130738" cy="576998"/>
            <a:chOff x="0" y="0"/>
            <a:chExt cx="2743200" cy="74285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743200" cy="742851"/>
            </a:xfrm>
            <a:custGeom>
              <a:avLst/>
              <a:gdLst/>
              <a:ahLst/>
              <a:cxnLst/>
              <a:rect r="r" b="b" t="t" l="l"/>
              <a:pathLst>
                <a:path h="742851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81" r="0" b="-272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9456893" y="3217449"/>
            <a:ext cx="2130738" cy="49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500 ms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11090459" y="2990501"/>
            <a:ext cx="426148" cy="426148"/>
            <a:chOff x="0" y="0"/>
            <a:chExt cx="548640" cy="548640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4" id="104"/>
          <p:cNvSpPr txBox="true"/>
          <p:nvPr/>
        </p:nvSpPr>
        <p:spPr>
          <a:xfrm rot="0">
            <a:off x="6544885" y="3856670"/>
            <a:ext cx="5042746" cy="9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Even tail-latency stays inside an interactive budget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2003914" y="2270390"/>
            <a:ext cx="5630671" cy="2513610"/>
            <a:chOff x="0" y="0"/>
            <a:chExt cx="7249160" cy="323612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2700" y="13506"/>
              <a:ext cx="7223760" cy="3209113"/>
            </a:xfrm>
            <a:custGeom>
              <a:avLst/>
              <a:gdLst/>
              <a:ahLst/>
              <a:cxnLst/>
              <a:rect r="r" b="b" t="t" l="l"/>
              <a:pathLst>
                <a:path h="3209113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209113"/>
                  </a:lnTo>
                  <a:lnTo>
                    <a:pt x="0" y="320911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249160" cy="3236126"/>
            </a:xfrm>
            <a:custGeom>
              <a:avLst/>
              <a:gdLst/>
              <a:ahLst/>
              <a:cxnLst/>
              <a:rect r="r" b="b" t="t" l="l"/>
              <a:pathLst>
                <a:path h="3236126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8"/>
                    <a:pt x="7249160" y="13506"/>
                  </a:cubicBezTo>
                  <a:lnTo>
                    <a:pt x="7249160" y="3222619"/>
                  </a:lnTo>
                  <a:cubicBezTo>
                    <a:pt x="7249160" y="3230048"/>
                    <a:pt x="7243445" y="3236126"/>
                    <a:pt x="7236460" y="3236126"/>
                  </a:cubicBezTo>
                  <a:lnTo>
                    <a:pt x="12700" y="3236126"/>
                  </a:lnTo>
                  <a:cubicBezTo>
                    <a:pt x="5715" y="3236126"/>
                    <a:pt x="0" y="3230048"/>
                    <a:pt x="0" y="3222619"/>
                  </a:cubicBezTo>
                  <a:lnTo>
                    <a:pt x="0" y="13506"/>
                  </a:lnTo>
                  <a:cubicBezTo>
                    <a:pt x="0" y="6078"/>
                    <a:pt x="5715" y="0"/>
                    <a:pt x="12700" y="0"/>
                  </a:cubicBezTo>
                  <a:moveTo>
                    <a:pt x="12700" y="27013"/>
                  </a:moveTo>
                  <a:lnTo>
                    <a:pt x="12700" y="13506"/>
                  </a:lnTo>
                  <a:lnTo>
                    <a:pt x="25400" y="13506"/>
                  </a:lnTo>
                  <a:lnTo>
                    <a:pt x="25400" y="3222619"/>
                  </a:lnTo>
                  <a:lnTo>
                    <a:pt x="12700" y="3222619"/>
                  </a:lnTo>
                  <a:lnTo>
                    <a:pt x="12700" y="3209113"/>
                  </a:lnTo>
                  <a:lnTo>
                    <a:pt x="7236460" y="3209113"/>
                  </a:lnTo>
                  <a:lnTo>
                    <a:pt x="7236460" y="3222619"/>
                  </a:lnTo>
                  <a:lnTo>
                    <a:pt x="7223760" y="3222619"/>
                  </a:lnTo>
                  <a:lnTo>
                    <a:pt x="7223760" y="13506"/>
                  </a:lnTo>
                  <a:lnTo>
                    <a:pt x="7236460" y="13506"/>
                  </a:lnTo>
                  <a:lnTo>
                    <a:pt x="7236460" y="27013"/>
                  </a:lnTo>
                  <a:lnTo>
                    <a:pt x="12700" y="27013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003914" y="2270390"/>
            <a:ext cx="133368" cy="2363540"/>
            <a:chOff x="0" y="0"/>
            <a:chExt cx="171704" cy="30429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2700" y="1270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71704" cy="3042920"/>
            </a:xfrm>
            <a:custGeom>
              <a:avLst/>
              <a:gdLst/>
              <a:ahLst/>
              <a:cxnLst/>
              <a:rect r="r" b="b" t="t" l="l"/>
              <a:pathLst>
                <a:path h="30429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368901" y="2493328"/>
            <a:ext cx="5042746" cy="576998"/>
            <a:chOff x="0" y="0"/>
            <a:chExt cx="6492240" cy="74285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492240" cy="742851"/>
            </a:xfrm>
            <a:custGeom>
              <a:avLst/>
              <a:gdLst/>
              <a:ahLst/>
              <a:cxnLst/>
              <a:rect r="r" b="b" t="t" l="l"/>
              <a:pathLst>
                <a:path h="742851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209" r="0" b="-11337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latency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368901" y="2948314"/>
            <a:ext cx="2769959" cy="1163860"/>
            <a:chOff x="0" y="0"/>
            <a:chExt cx="3566160" cy="149840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566160" cy="1498402"/>
            </a:xfrm>
            <a:custGeom>
              <a:avLst/>
              <a:gdLst/>
              <a:ahLst/>
              <a:cxnLst/>
              <a:rect r="r" b="b" t="t" l="l"/>
              <a:pathLst>
                <a:path h="149840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" r="0" b="1090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3.5 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280909" y="2781827"/>
            <a:ext cx="2130738" cy="576998"/>
            <a:chOff x="0" y="0"/>
            <a:chExt cx="2743200" cy="74285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743200" cy="742851"/>
            </a:xfrm>
            <a:custGeom>
              <a:avLst/>
              <a:gdLst/>
              <a:ahLst/>
              <a:cxnLst/>
              <a:rect r="r" b="b" t="t" l="l"/>
              <a:pathLst>
                <a:path h="742851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81" r="0" b="-2727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15280909" y="3217449"/>
            <a:ext cx="2130738" cy="49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5 s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16914475" y="2990501"/>
            <a:ext cx="426148" cy="426148"/>
            <a:chOff x="0" y="0"/>
            <a:chExt cx="548640" cy="548640"/>
          </a:xfrm>
        </p:grpSpPr>
        <p:sp>
          <p:nvSpPr>
            <p:cNvPr name="Freeform 122" id="122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3" id="123"/>
          <p:cNvSpPr txBox="true"/>
          <p:nvPr/>
        </p:nvSpPr>
        <p:spPr>
          <a:xfrm rot="0">
            <a:off x="12368901" y="3856670"/>
            <a:ext cx="5042746" cy="9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Document upload still feels like a single user action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355882" y="4898300"/>
            <a:ext cx="5630671" cy="2511508"/>
            <a:chOff x="0" y="0"/>
            <a:chExt cx="7249160" cy="32334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2700" y="13495"/>
              <a:ext cx="7223760" cy="3206430"/>
            </a:xfrm>
            <a:custGeom>
              <a:avLst/>
              <a:gdLst/>
              <a:ahLst/>
              <a:cxnLst/>
              <a:rect r="r" b="b" t="t" l="l"/>
              <a:pathLst>
                <a:path h="320643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249160" cy="3233420"/>
            </a:xfrm>
            <a:custGeom>
              <a:avLst/>
              <a:gdLst/>
              <a:ahLst/>
              <a:cxnLst/>
              <a:rect r="r" b="b" t="t" l="l"/>
              <a:pathLst>
                <a:path h="323342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355882" y="4898300"/>
            <a:ext cx="133368" cy="2363540"/>
            <a:chOff x="0" y="0"/>
            <a:chExt cx="171704" cy="304292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2700" y="1270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71704" cy="3042920"/>
            </a:xfrm>
            <a:custGeom>
              <a:avLst/>
              <a:gdLst/>
              <a:ahLst/>
              <a:cxnLst/>
              <a:rect r="r" b="b" t="t" l="l"/>
              <a:pathLst>
                <a:path h="30429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720869" y="5121238"/>
            <a:ext cx="5042746" cy="576998"/>
            <a:chOff x="0" y="0"/>
            <a:chExt cx="6492240" cy="74285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492240" cy="742851"/>
            </a:xfrm>
            <a:custGeom>
              <a:avLst/>
              <a:gdLst/>
              <a:ahLst/>
              <a:cxnLst/>
              <a:rect r="r" b="b" t="t" l="l"/>
              <a:pathLst>
                <a:path h="742851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209" r="0" b="-113374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OCR medicine accuracy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720869" y="5652104"/>
            <a:ext cx="2769959" cy="1163860"/>
            <a:chOff x="0" y="0"/>
            <a:chExt cx="3566160" cy="149840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566160" cy="1498402"/>
            </a:xfrm>
            <a:custGeom>
              <a:avLst/>
              <a:gdLst/>
              <a:ahLst/>
              <a:cxnLst/>
              <a:rect r="r" b="b" t="t" l="l"/>
              <a:pathLst>
                <a:path h="149840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" r="0" b="10908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78%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3632877" y="5467560"/>
            <a:ext cx="2130738" cy="576998"/>
            <a:chOff x="0" y="0"/>
            <a:chExt cx="2743200" cy="742851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743200" cy="742851"/>
            </a:xfrm>
            <a:custGeom>
              <a:avLst/>
              <a:gdLst/>
              <a:ahLst/>
              <a:cxnLst/>
              <a:rect r="r" b="b" t="t" l="l"/>
              <a:pathLst>
                <a:path h="742851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81" r="0" b="-272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name="TextBox 139" id="139"/>
          <p:cNvSpPr txBox="true"/>
          <p:nvPr/>
        </p:nvSpPr>
        <p:spPr>
          <a:xfrm rot="0">
            <a:off x="3632877" y="5921238"/>
            <a:ext cx="2130738" cy="49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≥ 75%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5266443" y="5618410"/>
            <a:ext cx="426148" cy="426148"/>
            <a:chOff x="0" y="0"/>
            <a:chExt cx="548640" cy="548640"/>
          </a:xfrm>
        </p:grpSpPr>
        <p:sp>
          <p:nvSpPr>
            <p:cNvPr name="Freeform 141" id="141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2" id="142"/>
          <p:cNvSpPr txBox="true"/>
          <p:nvPr/>
        </p:nvSpPr>
        <p:spPr>
          <a:xfrm rot="0">
            <a:off x="720869" y="6484580"/>
            <a:ext cx="5042746" cy="9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Usable in real chambers with handwritten Rx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6179898" y="4898300"/>
            <a:ext cx="5630671" cy="2511508"/>
            <a:chOff x="0" y="0"/>
            <a:chExt cx="7249160" cy="323342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2700" y="13495"/>
              <a:ext cx="7223760" cy="3206430"/>
            </a:xfrm>
            <a:custGeom>
              <a:avLst/>
              <a:gdLst/>
              <a:ahLst/>
              <a:cxnLst/>
              <a:rect r="r" b="b" t="t" l="l"/>
              <a:pathLst>
                <a:path h="320643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249160" cy="3233420"/>
            </a:xfrm>
            <a:custGeom>
              <a:avLst/>
              <a:gdLst/>
              <a:ahLst/>
              <a:cxnLst/>
              <a:rect r="r" b="b" t="t" l="l"/>
              <a:pathLst>
                <a:path h="323342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6179898" y="4898300"/>
            <a:ext cx="133368" cy="2363540"/>
            <a:chOff x="0" y="0"/>
            <a:chExt cx="171704" cy="304292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2700" y="1270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71704" cy="3042920"/>
            </a:xfrm>
            <a:custGeom>
              <a:avLst/>
              <a:gdLst/>
              <a:ahLst/>
              <a:cxnLst/>
              <a:rect r="r" b="b" t="t" l="l"/>
              <a:pathLst>
                <a:path h="30429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6544885" y="5121238"/>
            <a:ext cx="5042746" cy="576998"/>
            <a:chOff x="0" y="0"/>
            <a:chExt cx="6492240" cy="74285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492240" cy="742851"/>
            </a:xfrm>
            <a:custGeom>
              <a:avLst/>
              <a:gdLst/>
              <a:ahLst/>
              <a:cxnLst/>
              <a:rect r="r" b="b" t="t" l="l"/>
              <a:pathLst>
                <a:path h="742851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209" r="0" b="-11337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Slot propagation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6544885" y="5652104"/>
            <a:ext cx="2769959" cy="1163860"/>
            <a:chOff x="0" y="0"/>
            <a:chExt cx="3566160" cy="149840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566160" cy="1498402"/>
            </a:xfrm>
            <a:custGeom>
              <a:avLst/>
              <a:gdLst/>
              <a:ahLst/>
              <a:cxnLst/>
              <a:rect r="r" b="b" t="t" l="l"/>
              <a:pathLst>
                <a:path h="149840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" r="0" b="10908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500 ms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456893" y="5542985"/>
            <a:ext cx="2130738" cy="576998"/>
            <a:chOff x="0" y="0"/>
            <a:chExt cx="2743200" cy="74285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743200" cy="742851"/>
            </a:xfrm>
            <a:custGeom>
              <a:avLst/>
              <a:gdLst/>
              <a:ahLst/>
              <a:cxnLst/>
              <a:rect r="r" b="b" t="t" l="l"/>
              <a:pathLst>
                <a:path h="742851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81" r="0" b="-2727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name="TextBox 158" id="158"/>
          <p:cNvSpPr txBox="true"/>
          <p:nvPr/>
        </p:nvSpPr>
        <p:spPr>
          <a:xfrm rot="0">
            <a:off x="9456893" y="5932166"/>
            <a:ext cx="2130738" cy="49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1 s</a:t>
            </a:r>
          </a:p>
        </p:txBody>
      </p:sp>
      <p:grpSp>
        <p:nvGrpSpPr>
          <p:cNvPr name="Group 159" id="159"/>
          <p:cNvGrpSpPr/>
          <p:nvPr/>
        </p:nvGrpSpPr>
        <p:grpSpPr>
          <a:xfrm rot="0">
            <a:off x="11090459" y="5618410"/>
            <a:ext cx="426148" cy="426148"/>
            <a:chOff x="0" y="0"/>
            <a:chExt cx="548640" cy="548640"/>
          </a:xfrm>
        </p:grpSpPr>
        <p:sp>
          <p:nvSpPr>
            <p:cNvPr name="Freeform 160" id="160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1" id="161"/>
          <p:cNvSpPr txBox="true"/>
          <p:nvPr/>
        </p:nvSpPr>
        <p:spPr>
          <a:xfrm rot="0">
            <a:off x="6544885" y="6484580"/>
            <a:ext cx="5042746" cy="9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Every client sees the same availability live</a:t>
            </a:r>
          </a:p>
        </p:txBody>
      </p:sp>
      <p:grpSp>
        <p:nvGrpSpPr>
          <p:cNvPr name="Group 162" id="162"/>
          <p:cNvGrpSpPr/>
          <p:nvPr/>
        </p:nvGrpSpPr>
        <p:grpSpPr>
          <a:xfrm rot="0">
            <a:off x="12003914" y="4898300"/>
            <a:ext cx="5630671" cy="2511508"/>
            <a:chOff x="0" y="0"/>
            <a:chExt cx="7249160" cy="323342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12700" y="13495"/>
              <a:ext cx="7223760" cy="3206430"/>
            </a:xfrm>
            <a:custGeom>
              <a:avLst/>
              <a:gdLst/>
              <a:ahLst/>
              <a:cxnLst/>
              <a:rect r="r" b="b" t="t" l="l"/>
              <a:pathLst>
                <a:path h="320643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3206430"/>
                  </a:lnTo>
                  <a:lnTo>
                    <a:pt x="0" y="3206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7249160" cy="3233420"/>
            </a:xfrm>
            <a:custGeom>
              <a:avLst/>
              <a:gdLst/>
              <a:ahLst/>
              <a:cxnLst/>
              <a:rect r="r" b="b" t="t" l="l"/>
              <a:pathLst>
                <a:path h="323342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6073"/>
                    <a:pt x="7249160" y="13495"/>
                  </a:cubicBezTo>
                  <a:lnTo>
                    <a:pt x="7249160" y="3219925"/>
                  </a:lnTo>
                  <a:cubicBezTo>
                    <a:pt x="7249160" y="3227347"/>
                    <a:pt x="7243445" y="3233420"/>
                    <a:pt x="7236460" y="3233420"/>
                  </a:cubicBezTo>
                  <a:lnTo>
                    <a:pt x="12700" y="3233420"/>
                  </a:lnTo>
                  <a:cubicBezTo>
                    <a:pt x="5715" y="3233420"/>
                    <a:pt x="0" y="3227347"/>
                    <a:pt x="0" y="3219925"/>
                  </a:cubicBezTo>
                  <a:lnTo>
                    <a:pt x="0" y="13495"/>
                  </a:lnTo>
                  <a:cubicBezTo>
                    <a:pt x="0" y="6073"/>
                    <a:pt x="5715" y="0"/>
                    <a:pt x="12700" y="0"/>
                  </a:cubicBezTo>
                  <a:moveTo>
                    <a:pt x="12700" y="26990"/>
                  </a:moveTo>
                  <a:lnTo>
                    <a:pt x="12700" y="13495"/>
                  </a:lnTo>
                  <a:lnTo>
                    <a:pt x="25400" y="13495"/>
                  </a:lnTo>
                  <a:lnTo>
                    <a:pt x="25400" y="3219925"/>
                  </a:lnTo>
                  <a:lnTo>
                    <a:pt x="12700" y="3219925"/>
                  </a:lnTo>
                  <a:lnTo>
                    <a:pt x="12700" y="3206430"/>
                  </a:lnTo>
                  <a:lnTo>
                    <a:pt x="7236460" y="3206430"/>
                  </a:lnTo>
                  <a:lnTo>
                    <a:pt x="7236460" y="3219925"/>
                  </a:lnTo>
                  <a:lnTo>
                    <a:pt x="7223760" y="3219925"/>
                  </a:lnTo>
                  <a:lnTo>
                    <a:pt x="7223760" y="13495"/>
                  </a:lnTo>
                  <a:lnTo>
                    <a:pt x="7236460" y="13495"/>
                  </a:lnTo>
                  <a:lnTo>
                    <a:pt x="7236460" y="26990"/>
                  </a:lnTo>
                  <a:lnTo>
                    <a:pt x="12700" y="2699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2003914" y="4898300"/>
            <a:ext cx="133368" cy="2363540"/>
            <a:chOff x="0" y="0"/>
            <a:chExt cx="171704" cy="304292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12700" y="1270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F97066"/>
            </a:solidFill>
          </p:spPr>
        </p:sp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171704" cy="3042920"/>
            </a:xfrm>
            <a:custGeom>
              <a:avLst/>
              <a:gdLst/>
              <a:ahLst/>
              <a:cxnLst/>
              <a:rect r="r" b="b" t="t" l="l"/>
              <a:pathLst>
                <a:path h="30429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030220"/>
                  </a:lnTo>
                  <a:cubicBezTo>
                    <a:pt x="171704" y="3037205"/>
                    <a:pt x="165989" y="3042920"/>
                    <a:pt x="159004" y="3042920"/>
                  </a:cubicBezTo>
                  <a:lnTo>
                    <a:pt x="12700" y="3042920"/>
                  </a:lnTo>
                  <a:cubicBezTo>
                    <a:pt x="5715" y="3042920"/>
                    <a:pt x="0" y="3037205"/>
                    <a:pt x="0" y="3030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030220"/>
                  </a:lnTo>
                  <a:lnTo>
                    <a:pt x="12700" y="3030220"/>
                  </a:lnTo>
                  <a:lnTo>
                    <a:pt x="12700" y="3017520"/>
                  </a:lnTo>
                  <a:lnTo>
                    <a:pt x="159004" y="3017520"/>
                  </a:lnTo>
                  <a:lnTo>
                    <a:pt x="159004" y="3030220"/>
                  </a:lnTo>
                  <a:lnTo>
                    <a:pt x="146304" y="30302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97066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2368901" y="5121238"/>
            <a:ext cx="5042746" cy="576998"/>
            <a:chOff x="0" y="0"/>
            <a:chExt cx="6492240" cy="742851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6492240" cy="742851"/>
            </a:xfrm>
            <a:custGeom>
              <a:avLst/>
              <a:gdLst/>
              <a:ahLst/>
              <a:cxnLst/>
              <a:rect r="r" b="b" t="t" l="l"/>
              <a:pathLst>
                <a:path h="742851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209" r="0" b="-113374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66675"/>
              <a:ext cx="649224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466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LCP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2368901" y="5610750"/>
            <a:ext cx="2769959" cy="1163860"/>
            <a:chOff x="0" y="0"/>
            <a:chExt cx="3566160" cy="149840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566160" cy="1498402"/>
            </a:xfrm>
            <a:custGeom>
              <a:avLst/>
              <a:gdLst/>
              <a:ahLst/>
              <a:cxnLst/>
              <a:rect r="r" b="b" t="t" l="l"/>
              <a:pathLst>
                <a:path h="149840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6" r="0" b="10908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114300"/>
              <a:ext cx="356616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2.2 </a:t>
              </a:r>
              <a:r>
                <a:rPr lang="en-US" sz="5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5209885" y="5462551"/>
            <a:ext cx="2130738" cy="576998"/>
            <a:chOff x="0" y="0"/>
            <a:chExt cx="2743200" cy="742851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743200" cy="742851"/>
            </a:xfrm>
            <a:custGeom>
              <a:avLst/>
              <a:gdLst/>
              <a:ahLst/>
              <a:cxnLst/>
              <a:rect r="r" b="b" t="t" l="l"/>
              <a:pathLst>
                <a:path h="742851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81" r="0" b="-2727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66675"/>
              <a:ext cx="2743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 spc="622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</a:t>
              </a:r>
            </a:p>
          </p:txBody>
        </p:sp>
      </p:grpSp>
      <p:sp>
        <p:nvSpPr>
          <p:cNvPr name="TextBox 177" id="177"/>
          <p:cNvSpPr txBox="true"/>
          <p:nvPr/>
        </p:nvSpPr>
        <p:spPr>
          <a:xfrm rot="0">
            <a:off x="15280909" y="5879884"/>
            <a:ext cx="2130738" cy="49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true">
                <a:solidFill>
                  <a:srgbClr val="1E29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2.5 s</a:t>
            </a:r>
          </a:p>
        </p:txBody>
      </p:sp>
      <p:grpSp>
        <p:nvGrpSpPr>
          <p:cNvPr name="Group 178" id="178"/>
          <p:cNvGrpSpPr/>
          <p:nvPr/>
        </p:nvGrpSpPr>
        <p:grpSpPr>
          <a:xfrm rot="0">
            <a:off x="16914475" y="5618410"/>
            <a:ext cx="426148" cy="426148"/>
            <a:chOff x="0" y="0"/>
            <a:chExt cx="548640" cy="548640"/>
          </a:xfrm>
        </p:grpSpPr>
        <p:sp>
          <p:nvSpPr>
            <p:cNvPr name="Freeform 179" id="179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80" id="180"/>
          <p:cNvSpPr txBox="true"/>
          <p:nvPr/>
        </p:nvSpPr>
        <p:spPr>
          <a:xfrm rot="0">
            <a:off x="12368901" y="6484580"/>
            <a:ext cx="5042746" cy="92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i="true">
                <a:solidFill>
                  <a:srgbClr val="47556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Loads fast on weaker phones and weak connectivity</a:t>
            </a:r>
          </a:p>
        </p:txBody>
      </p:sp>
      <p:grpSp>
        <p:nvGrpSpPr>
          <p:cNvPr name="Group 181" id="181"/>
          <p:cNvGrpSpPr/>
          <p:nvPr/>
        </p:nvGrpSpPr>
        <p:grpSpPr>
          <a:xfrm rot="0">
            <a:off x="355882" y="7526209"/>
            <a:ext cx="17278703" cy="1999666"/>
            <a:chOff x="0" y="0"/>
            <a:chExt cx="22245320" cy="2574453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12966" y="12213"/>
              <a:ext cx="22219387" cy="2550027"/>
            </a:xfrm>
            <a:custGeom>
              <a:avLst/>
              <a:gdLst/>
              <a:ahLst/>
              <a:cxnLst/>
              <a:rect r="r" b="b" t="t" l="l"/>
              <a:pathLst>
                <a:path h="2550027" w="22219387">
                  <a:moveTo>
                    <a:pt x="0" y="0"/>
                  </a:moveTo>
                  <a:lnTo>
                    <a:pt x="22219387" y="0"/>
                  </a:lnTo>
                  <a:lnTo>
                    <a:pt x="22219387" y="2550027"/>
                  </a:lnTo>
                  <a:lnTo>
                    <a:pt x="0" y="2550027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22245320" cy="2574453"/>
            </a:xfrm>
            <a:custGeom>
              <a:avLst/>
              <a:gdLst/>
              <a:ahLst/>
              <a:cxnLst/>
              <a:rect r="r" b="b" t="t" l="l"/>
              <a:pathLst>
                <a:path h="2574453" w="22245320">
                  <a:moveTo>
                    <a:pt x="12966" y="0"/>
                  </a:moveTo>
                  <a:lnTo>
                    <a:pt x="22232353" y="0"/>
                  </a:lnTo>
                  <a:cubicBezTo>
                    <a:pt x="22239486" y="0"/>
                    <a:pt x="22245320" y="5496"/>
                    <a:pt x="22245320" y="12213"/>
                  </a:cubicBezTo>
                  <a:lnTo>
                    <a:pt x="22245320" y="2562240"/>
                  </a:lnTo>
                  <a:cubicBezTo>
                    <a:pt x="22245320" y="2568957"/>
                    <a:pt x="22239486" y="2574453"/>
                    <a:pt x="22232353" y="2574453"/>
                  </a:cubicBezTo>
                  <a:lnTo>
                    <a:pt x="12966" y="2574453"/>
                  </a:lnTo>
                  <a:cubicBezTo>
                    <a:pt x="5835" y="2574453"/>
                    <a:pt x="0" y="2568957"/>
                    <a:pt x="0" y="2562240"/>
                  </a:cubicBezTo>
                  <a:lnTo>
                    <a:pt x="0" y="12213"/>
                  </a:lnTo>
                  <a:cubicBezTo>
                    <a:pt x="0" y="5496"/>
                    <a:pt x="5835" y="0"/>
                    <a:pt x="12966" y="0"/>
                  </a:cubicBezTo>
                  <a:moveTo>
                    <a:pt x="12966" y="24426"/>
                  </a:moveTo>
                  <a:lnTo>
                    <a:pt x="12966" y="12213"/>
                  </a:lnTo>
                  <a:lnTo>
                    <a:pt x="25933" y="12213"/>
                  </a:lnTo>
                  <a:lnTo>
                    <a:pt x="25933" y="2562240"/>
                  </a:lnTo>
                  <a:lnTo>
                    <a:pt x="12966" y="2562240"/>
                  </a:lnTo>
                  <a:lnTo>
                    <a:pt x="12966" y="2550027"/>
                  </a:lnTo>
                  <a:lnTo>
                    <a:pt x="22232353" y="2550027"/>
                  </a:lnTo>
                  <a:lnTo>
                    <a:pt x="22232353" y="2562240"/>
                  </a:lnTo>
                  <a:lnTo>
                    <a:pt x="22219386" y="2562240"/>
                  </a:lnTo>
                  <a:lnTo>
                    <a:pt x="22219386" y="12213"/>
                  </a:lnTo>
                  <a:lnTo>
                    <a:pt x="22232353" y="12213"/>
                  </a:lnTo>
                  <a:lnTo>
                    <a:pt x="22232353" y="24426"/>
                  </a:lnTo>
                  <a:lnTo>
                    <a:pt x="12966" y="24426"/>
                  </a:lnTo>
                  <a:close/>
                </a:path>
              </a:pathLst>
            </a:custGeom>
            <a:solidFill>
              <a:srgbClr val="0F2A47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1136205" y="7632158"/>
            <a:ext cx="5486400" cy="557138"/>
            <a:chOff x="0" y="0"/>
            <a:chExt cx="7315200" cy="742851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795" r="0" b="-134961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spc="6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Sustained load test</a:t>
              </a:r>
            </a:p>
          </p:txBody>
        </p:sp>
      </p:grpSp>
      <p:sp>
        <p:nvSpPr>
          <p:cNvPr name="TextBox 187" id="187"/>
          <p:cNvSpPr txBox="true"/>
          <p:nvPr/>
        </p:nvSpPr>
        <p:spPr>
          <a:xfrm rot="0">
            <a:off x="1136205" y="7969343"/>
            <a:ext cx="41148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EDE9F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120 rps</a:t>
            </a:r>
          </a:p>
        </p:txBody>
      </p:sp>
      <p:grpSp>
        <p:nvGrpSpPr>
          <p:cNvPr name="Group 188" id="188"/>
          <p:cNvGrpSpPr/>
          <p:nvPr/>
        </p:nvGrpSpPr>
        <p:grpSpPr>
          <a:xfrm rot="0">
            <a:off x="1136205" y="8866598"/>
            <a:ext cx="5486400" cy="557138"/>
            <a:chOff x="0" y="0"/>
            <a:chExt cx="7315200" cy="74285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50" r="0" b="-128806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8FA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blended healthcare workload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7376985" y="7632158"/>
            <a:ext cx="5486400" cy="557138"/>
            <a:chOff x="0" y="0"/>
            <a:chExt cx="7315200" cy="74285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795" r="0" b="-13496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spc="6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Failure rate</a:t>
              </a:r>
            </a:p>
          </p:txBody>
        </p:sp>
      </p:grpSp>
      <p:sp>
        <p:nvSpPr>
          <p:cNvPr name="TextBox 194" id="194"/>
          <p:cNvSpPr txBox="true"/>
          <p:nvPr/>
        </p:nvSpPr>
        <p:spPr>
          <a:xfrm rot="0">
            <a:off x="7376985" y="7969343"/>
            <a:ext cx="41148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b="true" sz="6399">
                <a:solidFill>
                  <a:srgbClr val="EDE9F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&lt; 0.5%</a:t>
            </a:r>
          </a:p>
        </p:txBody>
      </p:sp>
      <p:grpSp>
        <p:nvGrpSpPr>
          <p:cNvPr name="Group 195" id="195"/>
          <p:cNvGrpSpPr/>
          <p:nvPr/>
        </p:nvGrpSpPr>
        <p:grpSpPr>
          <a:xfrm rot="0">
            <a:off x="6999795" y="8866598"/>
            <a:ext cx="5486400" cy="557138"/>
            <a:chOff x="0" y="0"/>
            <a:chExt cx="7315200" cy="742851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7315200" cy="742851"/>
            </a:xfrm>
            <a:custGeom>
              <a:avLst/>
              <a:gdLst/>
              <a:ahLst/>
              <a:cxnLst/>
              <a:rect r="r" b="b" t="t" l="l"/>
              <a:pathLst>
                <a:path h="74285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950" r="0" b="-128806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66675"/>
              <a:ext cx="73152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8FA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staged production traffic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1844210" y="7628348"/>
            <a:ext cx="6025896" cy="557138"/>
            <a:chOff x="0" y="0"/>
            <a:chExt cx="8034528" cy="742851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8034528" cy="742851"/>
            </a:xfrm>
            <a:custGeom>
              <a:avLst/>
              <a:gdLst/>
              <a:ahLst/>
              <a:cxnLst/>
              <a:rect r="r" b="b" t="t" l="l"/>
              <a:pathLst>
                <a:path h="742851" w="8034528">
                  <a:moveTo>
                    <a:pt x="0" y="0"/>
                  </a:moveTo>
                  <a:lnTo>
                    <a:pt x="8034528" y="0"/>
                  </a:lnTo>
                  <a:lnTo>
                    <a:pt x="8034528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810" r="20333" b="-110976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66675"/>
              <a:ext cx="8034528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spc="699">
                  <a:solidFill>
                    <a:srgbClr val="CCFB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Critical journey passes</a:t>
              </a:r>
            </a:p>
          </p:txBody>
        </p:sp>
      </p:grpSp>
      <p:sp>
        <p:nvSpPr>
          <p:cNvPr name="TextBox 201" id="201"/>
          <p:cNvSpPr txBox="true"/>
          <p:nvPr/>
        </p:nvSpPr>
        <p:spPr>
          <a:xfrm rot="0">
            <a:off x="11955013" y="8046421"/>
            <a:ext cx="41148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b="true" sz="6399">
                <a:solidFill>
                  <a:srgbClr val="EDE9F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</a:t>
            </a:r>
          </a:p>
        </p:txBody>
      </p:sp>
      <p:grpSp>
        <p:nvGrpSpPr>
          <p:cNvPr name="Group 202" id="202"/>
          <p:cNvGrpSpPr/>
          <p:nvPr/>
        </p:nvGrpSpPr>
        <p:grpSpPr>
          <a:xfrm rot="0">
            <a:off x="11955013" y="8866598"/>
            <a:ext cx="4800600" cy="557138"/>
            <a:chOff x="0" y="0"/>
            <a:chExt cx="6400800" cy="742851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6400800" cy="742851"/>
            </a:xfrm>
            <a:custGeom>
              <a:avLst/>
              <a:gdLst/>
              <a:ahLst/>
              <a:cxnLst/>
              <a:rect r="r" b="b" t="t" l="l"/>
              <a:pathLst>
                <a:path h="742851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65" r="0" b="-104821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66675"/>
              <a:ext cx="6400800" cy="809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8FA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Playwright E2E + security suites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348" y="1875257"/>
            <a:ext cx="16459200" cy="720403"/>
            <a:chOff x="0" y="0"/>
            <a:chExt cx="21945600" cy="960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960537"/>
            </a:xfrm>
            <a:custGeom>
              <a:avLst/>
              <a:gdLst/>
              <a:ahLst/>
              <a:cxnLst/>
              <a:rect r="r" b="b" t="t" l="l"/>
              <a:pathLst>
                <a:path h="96053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7100" r="0" b="-3832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945600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These are the decisions where 'first-principles thinking' replaced 'pick a library'.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8620" y="2595660"/>
            <a:ext cx="3416304" cy="6930216"/>
            <a:chOff x="0" y="0"/>
            <a:chExt cx="4125528" cy="8368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771" y="12875"/>
              <a:ext cx="4101986" cy="8343175"/>
            </a:xfrm>
            <a:custGeom>
              <a:avLst/>
              <a:gdLst/>
              <a:ahLst/>
              <a:cxnLst/>
              <a:rect r="r" b="b" t="t" l="l"/>
              <a:pathLst>
                <a:path h="8343175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25528" cy="8368926"/>
            </a:xfrm>
            <a:custGeom>
              <a:avLst/>
              <a:gdLst/>
              <a:ahLst/>
              <a:cxnLst/>
              <a:rect r="r" b="b" t="t" l="l"/>
              <a:pathLst>
                <a:path h="8368926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8620" y="2595660"/>
            <a:ext cx="3416304" cy="1611163"/>
            <a:chOff x="0" y="0"/>
            <a:chExt cx="4125528" cy="1945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771" y="12700"/>
              <a:ext cx="410198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255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5862" y="2909058"/>
            <a:ext cx="701820" cy="757205"/>
            <a:chOff x="0" y="0"/>
            <a:chExt cx="847518" cy="9144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47518" cy="914400"/>
            </a:xfrm>
            <a:custGeom>
              <a:avLst/>
              <a:gdLst/>
              <a:ahLst/>
              <a:cxnLst/>
              <a:rect r="r" b="b" t="t" l="l"/>
              <a:pathLst>
                <a:path h="914400" w="847518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945" t="0" r="-394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78732" y="3666263"/>
            <a:ext cx="3116081" cy="641623"/>
            <a:chOff x="0" y="0"/>
            <a:chExt cx="3762979" cy="774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62978" cy="774824"/>
            </a:xfrm>
            <a:custGeom>
              <a:avLst/>
              <a:gdLst/>
              <a:ahLst/>
              <a:cxnLst/>
              <a:rect r="r" b="b" t="t" l="l"/>
              <a:pathLst>
                <a:path h="774824" w="3762978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92" r="-7891" b="-4930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Slot consistency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19096" y="4206823"/>
            <a:ext cx="2835353" cy="641623"/>
            <a:chOff x="0" y="0"/>
            <a:chExt cx="3423972" cy="774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3972" cy="774824"/>
            </a:xfrm>
            <a:custGeom>
              <a:avLst/>
              <a:gdLst/>
              <a:ahLst/>
              <a:cxnLst/>
              <a:rect r="r" b="b" t="t" l="l"/>
              <a:pathLst>
                <a:path h="7748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396" r="-7891" b="-2240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19096" y="4744920"/>
            <a:ext cx="3125829" cy="150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oncurrency causes booking conflicts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09348" y="6608844"/>
            <a:ext cx="2854848" cy="51322"/>
            <a:chOff x="0" y="0"/>
            <a:chExt cx="3447514" cy="619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1771" y="12700"/>
              <a:ext cx="3423972" cy="36576"/>
            </a:xfrm>
            <a:custGeom>
              <a:avLst/>
              <a:gdLst/>
              <a:ahLst/>
              <a:cxnLst/>
              <a:rect r="r" b="b" t="t" l="l"/>
              <a:pathLst>
                <a:path h="36576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47514" cy="61976"/>
            </a:xfrm>
            <a:custGeom>
              <a:avLst/>
              <a:gdLst/>
              <a:ahLst/>
              <a:cxnLst/>
              <a:rect r="r" b="b" t="t" l="l"/>
              <a:pathLst>
                <a:path h="61976" w="3447514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19096" y="6770802"/>
            <a:ext cx="2835353" cy="1125393"/>
            <a:chOff x="0" y="0"/>
            <a:chExt cx="3423972" cy="1359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23972" cy="1359024"/>
            </a:xfrm>
            <a:custGeom>
              <a:avLst/>
              <a:gdLst/>
              <a:ahLst/>
              <a:cxnLst/>
              <a:rect r="r" b="b" t="t" l="l"/>
              <a:pathLst>
                <a:path h="13590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44" r="-7891" b="302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19096" y="7972394"/>
            <a:ext cx="2835353" cy="10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true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</a:t>
            </a:r>
            <a:r>
              <a:rPr lang="en-US" sz="3201" i="true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oft holds + real-time sync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907903" y="2595660"/>
            <a:ext cx="3416304" cy="6930216"/>
            <a:chOff x="0" y="0"/>
            <a:chExt cx="4125528" cy="83689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1771" y="12875"/>
              <a:ext cx="4101986" cy="8343175"/>
            </a:xfrm>
            <a:custGeom>
              <a:avLst/>
              <a:gdLst/>
              <a:ahLst/>
              <a:cxnLst/>
              <a:rect r="r" b="b" t="t" l="l"/>
              <a:pathLst>
                <a:path h="8343175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25528" cy="8368926"/>
            </a:xfrm>
            <a:custGeom>
              <a:avLst/>
              <a:gdLst/>
              <a:ahLst/>
              <a:cxnLst/>
              <a:rect r="r" b="b" t="t" l="l"/>
              <a:pathLst>
                <a:path h="8368926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907903" y="2595660"/>
            <a:ext cx="3416304" cy="1611163"/>
            <a:chOff x="0" y="0"/>
            <a:chExt cx="4125528" cy="1945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1771" y="12700"/>
              <a:ext cx="410198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255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265145" y="2909058"/>
            <a:ext cx="701820" cy="757205"/>
            <a:chOff x="0" y="0"/>
            <a:chExt cx="847518" cy="9144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847518" cy="914400"/>
            </a:xfrm>
            <a:custGeom>
              <a:avLst/>
              <a:gdLst/>
              <a:ahLst/>
              <a:cxnLst/>
              <a:rect r="r" b="b" t="t" l="l"/>
              <a:pathLst>
                <a:path h="914400" w="847518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945" t="0" r="-3945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058014" y="3666263"/>
            <a:ext cx="3116081" cy="641623"/>
            <a:chOff x="0" y="0"/>
            <a:chExt cx="3762979" cy="774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62978" cy="774824"/>
            </a:xfrm>
            <a:custGeom>
              <a:avLst/>
              <a:gdLst/>
              <a:ahLst/>
              <a:cxnLst/>
              <a:rect r="r" b="b" t="t" l="l"/>
              <a:pathLst>
                <a:path h="774824" w="3762978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92" r="-7891" b="-4930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Multi-LLM safety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58014" y="4206823"/>
            <a:ext cx="2835353" cy="641623"/>
            <a:chOff x="0" y="0"/>
            <a:chExt cx="3423972" cy="774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23972" cy="774824"/>
            </a:xfrm>
            <a:custGeom>
              <a:avLst/>
              <a:gdLst/>
              <a:ahLst/>
              <a:cxnLst/>
              <a:rect r="r" b="b" t="t" l="l"/>
              <a:pathLst>
                <a:path h="7748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396" r="-7891" b="-2240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4058014" y="4791296"/>
            <a:ext cx="2835353" cy="10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ifferent APIs, limits, formats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188631" y="6608844"/>
            <a:ext cx="2854848" cy="51322"/>
            <a:chOff x="0" y="0"/>
            <a:chExt cx="3447514" cy="6197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1771" y="12700"/>
              <a:ext cx="3423972" cy="36576"/>
            </a:xfrm>
            <a:custGeom>
              <a:avLst/>
              <a:gdLst/>
              <a:ahLst/>
              <a:cxnLst/>
              <a:rect r="r" b="b" t="t" l="l"/>
              <a:pathLst>
                <a:path h="36576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47514" cy="61976"/>
            </a:xfrm>
            <a:custGeom>
              <a:avLst/>
              <a:gdLst/>
              <a:ahLst/>
              <a:cxnLst/>
              <a:rect r="r" b="b" t="t" l="l"/>
              <a:pathLst>
                <a:path h="61976" w="3447514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198379" y="6770802"/>
            <a:ext cx="2835353" cy="1125393"/>
            <a:chOff x="0" y="0"/>
            <a:chExt cx="3423972" cy="13590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23972" cy="1359024"/>
            </a:xfrm>
            <a:custGeom>
              <a:avLst/>
              <a:gdLst/>
              <a:ahLst/>
              <a:cxnLst/>
              <a:rect r="r" b="b" t="t" l="l"/>
              <a:pathLst>
                <a:path h="13590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44" r="-7891" b="302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198379" y="7953344"/>
            <a:ext cx="3126882" cy="10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true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Adapter + schema validation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7487186" y="2595660"/>
            <a:ext cx="3416304" cy="6930216"/>
            <a:chOff x="0" y="0"/>
            <a:chExt cx="4125528" cy="836892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1771" y="12875"/>
              <a:ext cx="4101986" cy="8343175"/>
            </a:xfrm>
            <a:custGeom>
              <a:avLst/>
              <a:gdLst/>
              <a:ahLst/>
              <a:cxnLst/>
              <a:rect r="r" b="b" t="t" l="l"/>
              <a:pathLst>
                <a:path h="8343175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25528" cy="8368926"/>
            </a:xfrm>
            <a:custGeom>
              <a:avLst/>
              <a:gdLst/>
              <a:ahLst/>
              <a:cxnLst/>
              <a:rect r="r" b="b" t="t" l="l"/>
              <a:pathLst>
                <a:path h="8368926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487186" y="2595660"/>
            <a:ext cx="3416304" cy="1611163"/>
            <a:chOff x="0" y="0"/>
            <a:chExt cx="4125528" cy="1945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1771" y="12700"/>
              <a:ext cx="410198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255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844428" y="2909058"/>
            <a:ext cx="701820" cy="757205"/>
            <a:chOff x="0" y="0"/>
            <a:chExt cx="847518" cy="914400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847518" cy="914400"/>
            </a:xfrm>
            <a:custGeom>
              <a:avLst/>
              <a:gdLst/>
              <a:ahLst/>
              <a:cxnLst/>
              <a:rect r="r" b="b" t="t" l="l"/>
              <a:pathLst>
                <a:path h="914400" w="847518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45" t="0" r="-3945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637297" y="3666263"/>
            <a:ext cx="3116081" cy="641623"/>
            <a:chOff x="0" y="0"/>
            <a:chExt cx="3762979" cy="7748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762978" cy="774824"/>
            </a:xfrm>
            <a:custGeom>
              <a:avLst/>
              <a:gdLst/>
              <a:ahLst/>
              <a:cxnLst/>
              <a:rect r="r" b="b" t="t" l="l"/>
              <a:pathLst>
                <a:path h="774824" w="3762978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92" r="-7891" b="-4930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Bilingual OCR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777661" y="4206823"/>
            <a:ext cx="2835353" cy="641623"/>
            <a:chOff x="0" y="0"/>
            <a:chExt cx="3423972" cy="774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23972" cy="774824"/>
            </a:xfrm>
            <a:custGeom>
              <a:avLst/>
              <a:gdLst/>
              <a:ahLst/>
              <a:cxnLst/>
              <a:rect r="r" b="b" t="t" l="l"/>
              <a:pathLst>
                <a:path h="7748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396" r="-7891" b="-2240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7762518" y="4791296"/>
            <a:ext cx="2835353" cy="150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Bangla + English text is hard to read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7767914" y="6608844"/>
            <a:ext cx="2854848" cy="51322"/>
            <a:chOff x="0" y="0"/>
            <a:chExt cx="3447514" cy="6197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1771" y="12700"/>
              <a:ext cx="3423972" cy="36576"/>
            </a:xfrm>
            <a:custGeom>
              <a:avLst/>
              <a:gdLst/>
              <a:ahLst/>
              <a:cxnLst/>
              <a:rect r="r" b="b" t="t" l="l"/>
              <a:pathLst>
                <a:path h="36576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447514" cy="61976"/>
            </a:xfrm>
            <a:custGeom>
              <a:avLst/>
              <a:gdLst/>
              <a:ahLst/>
              <a:cxnLst/>
              <a:rect r="r" b="b" t="t" l="l"/>
              <a:pathLst>
                <a:path h="61976" w="3447514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777661" y="6770802"/>
            <a:ext cx="2835353" cy="1125393"/>
            <a:chOff x="0" y="0"/>
            <a:chExt cx="3423972" cy="13590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23972" cy="1359024"/>
            </a:xfrm>
            <a:custGeom>
              <a:avLst/>
              <a:gdLst/>
              <a:ahLst/>
              <a:cxnLst/>
              <a:rect r="r" b="b" t="t" l="l"/>
              <a:pathLst>
                <a:path h="13590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44" r="-7891" b="3021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7637297" y="7972394"/>
            <a:ext cx="3125829" cy="10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true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YOLO + Azure DI + RapidFuzz pipeline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066468" y="2595660"/>
            <a:ext cx="3416304" cy="6930216"/>
            <a:chOff x="0" y="0"/>
            <a:chExt cx="4125528" cy="836892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1771" y="12875"/>
              <a:ext cx="4101986" cy="8343175"/>
            </a:xfrm>
            <a:custGeom>
              <a:avLst/>
              <a:gdLst/>
              <a:ahLst/>
              <a:cxnLst/>
              <a:rect r="r" b="b" t="t" l="l"/>
              <a:pathLst>
                <a:path h="8343175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25528" cy="8368926"/>
            </a:xfrm>
            <a:custGeom>
              <a:avLst/>
              <a:gdLst/>
              <a:ahLst/>
              <a:cxnLst/>
              <a:rect r="r" b="b" t="t" l="l"/>
              <a:pathLst>
                <a:path h="8368926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066468" y="2595660"/>
            <a:ext cx="3416304" cy="1611163"/>
            <a:chOff x="0" y="0"/>
            <a:chExt cx="4125528" cy="1945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1771" y="12700"/>
              <a:ext cx="410198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255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23711" y="2909058"/>
            <a:ext cx="701820" cy="757205"/>
            <a:chOff x="0" y="0"/>
            <a:chExt cx="847518" cy="914400"/>
          </a:xfrm>
        </p:grpSpPr>
        <p:sp>
          <p:nvSpPr>
            <p:cNvPr name="Freeform 78" id="78" descr="preencoded.png"/>
            <p:cNvSpPr/>
            <p:nvPr/>
          </p:nvSpPr>
          <p:spPr>
            <a:xfrm flipH="false" flipV="false" rot="0">
              <a:off x="0" y="0"/>
              <a:ext cx="847518" cy="914400"/>
            </a:xfrm>
            <a:custGeom>
              <a:avLst/>
              <a:gdLst/>
              <a:ahLst/>
              <a:cxnLst/>
              <a:rect r="r" b="b" t="t" l="l"/>
              <a:pathLst>
                <a:path h="914400" w="847518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45" t="0" r="-3945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216580" y="3666263"/>
            <a:ext cx="3116081" cy="641623"/>
            <a:chOff x="0" y="0"/>
            <a:chExt cx="3762979" cy="7748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762978" cy="774824"/>
            </a:xfrm>
            <a:custGeom>
              <a:avLst/>
              <a:gdLst/>
              <a:ahLst/>
              <a:cxnLst/>
              <a:rect r="r" b="b" t="t" l="l"/>
              <a:pathLst>
                <a:path h="774824" w="3762978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92" r="-7891" b="-4930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Background work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356944" y="4206823"/>
            <a:ext cx="2835353" cy="641623"/>
            <a:chOff x="0" y="0"/>
            <a:chExt cx="3423972" cy="774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23972" cy="774824"/>
            </a:xfrm>
            <a:custGeom>
              <a:avLst/>
              <a:gdLst/>
              <a:ahLst/>
              <a:cxnLst/>
              <a:rect r="r" b="b" t="t" l="l"/>
              <a:pathLst>
                <a:path h="7748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396" r="-7891" b="-2240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1356944" y="4791296"/>
            <a:ext cx="2835353" cy="10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Reminders slow down system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1347196" y="6608844"/>
            <a:ext cx="2854848" cy="51322"/>
            <a:chOff x="0" y="0"/>
            <a:chExt cx="3447514" cy="6197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1771" y="12700"/>
              <a:ext cx="3423972" cy="36576"/>
            </a:xfrm>
            <a:custGeom>
              <a:avLst/>
              <a:gdLst/>
              <a:ahLst/>
              <a:cxnLst/>
              <a:rect r="r" b="b" t="t" l="l"/>
              <a:pathLst>
                <a:path h="36576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447514" cy="61976"/>
            </a:xfrm>
            <a:custGeom>
              <a:avLst/>
              <a:gdLst/>
              <a:ahLst/>
              <a:cxnLst/>
              <a:rect r="r" b="b" t="t" l="l"/>
              <a:pathLst>
                <a:path h="61976" w="3447514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356944" y="6770802"/>
            <a:ext cx="2835353" cy="1125393"/>
            <a:chOff x="0" y="0"/>
            <a:chExt cx="3423972" cy="13590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423972" cy="1359024"/>
            </a:xfrm>
            <a:custGeom>
              <a:avLst/>
              <a:gdLst/>
              <a:ahLst/>
              <a:cxnLst/>
              <a:rect r="r" b="b" t="t" l="l"/>
              <a:pathLst>
                <a:path h="13590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44" r="-7891" b="3021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1356944" y="7972394"/>
            <a:ext cx="3125829" cy="150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true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Lifecycle-managed async lruns in background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14645751" y="2595660"/>
            <a:ext cx="3416304" cy="6930216"/>
            <a:chOff x="0" y="0"/>
            <a:chExt cx="4125528" cy="836892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1771" y="12875"/>
              <a:ext cx="4101986" cy="8343175"/>
            </a:xfrm>
            <a:custGeom>
              <a:avLst/>
              <a:gdLst/>
              <a:ahLst/>
              <a:cxnLst/>
              <a:rect r="r" b="b" t="t" l="l"/>
              <a:pathLst>
                <a:path h="8343175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8343175"/>
                  </a:lnTo>
                  <a:lnTo>
                    <a:pt x="0" y="83431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125528" cy="8368926"/>
            </a:xfrm>
            <a:custGeom>
              <a:avLst/>
              <a:gdLst/>
              <a:ahLst/>
              <a:cxnLst/>
              <a:rect r="r" b="b" t="t" l="l"/>
              <a:pathLst>
                <a:path h="8368926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94"/>
                    <a:pt x="4125528" y="12875"/>
                  </a:cubicBezTo>
                  <a:lnTo>
                    <a:pt x="4125528" y="8356050"/>
                  </a:lnTo>
                  <a:cubicBezTo>
                    <a:pt x="4125528" y="8363131"/>
                    <a:pt x="4120231" y="8368926"/>
                    <a:pt x="4113757" y="8368926"/>
                  </a:cubicBezTo>
                  <a:lnTo>
                    <a:pt x="11771" y="8368926"/>
                  </a:lnTo>
                  <a:cubicBezTo>
                    <a:pt x="5297" y="8368926"/>
                    <a:pt x="0" y="8363131"/>
                    <a:pt x="0" y="8356050"/>
                  </a:cubicBezTo>
                  <a:lnTo>
                    <a:pt x="0" y="12875"/>
                  </a:lnTo>
                  <a:cubicBezTo>
                    <a:pt x="0" y="5794"/>
                    <a:pt x="5297" y="0"/>
                    <a:pt x="11771" y="0"/>
                  </a:cubicBezTo>
                  <a:moveTo>
                    <a:pt x="11771" y="25751"/>
                  </a:moveTo>
                  <a:lnTo>
                    <a:pt x="11771" y="12875"/>
                  </a:lnTo>
                  <a:lnTo>
                    <a:pt x="23542" y="12875"/>
                  </a:lnTo>
                  <a:lnTo>
                    <a:pt x="23542" y="8356050"/>
                  </a:lnTo>
                  <a:lnTo>
                    <a:pt x="11771" y="8356050"/>
                  </a:lnTo>
                  <a:lnTo>
                    <a:pt x="11771" y="8343175"/>
                  </a:lnTo>
                  <a:lnTo>
                    <a:pt x="4113757" y="8343175"/>
                  </a:lnTo>
                  <a:lnTo>
                    <a:pt x="4113757" y="8356050"/>
                  </a:lnTo>
                  <a:lnTo>
                    <a:pt x="4101986" y="8356050"/>
                  </a:lnTo>
                  <a:lnTo>
                    <a:pt x="4101986" y="12875"/>
                  </a:lnTo>
                  <a:lnTo>
                    <a:pt x="4113757" y="12875"/>
                  </a:lnTo>
                  <a:lnTo>
                    <a:pt x="4113757" y="25751"/>
                  </a:lnTo>
                  <a:lnTo>
                    <a:pt x="11771" y="25751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4645751" y="2595660"/>
            <a:ext cx="3416304" cy="1611163"/>
            <a:chOff x="0" y="0"/>
            <a:chExt cx="4125528" cy="1945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1771" y="12700"/>
              <a:ext cx="4101986" cy="1920240"/>
            </a:xfrm>
            <a:custGeom>
              <a:avLst/>
              <a:gdLst/>
              <a:ahLst/>
              <a:cxnLst/>
              <a:rect r="r" b="b" t="t" l="l"/>
              <a:pathLst>
                <a:path h="1920240" w="4101986">
                  <a:moveTo>
                    <a:pt x="0" y="0"/>
                  </a:moveTo>
                  <a:lnTo>
                    <a:pt x="4101986" y="0"/>
                  </a:lnTo>
                  <a:lnTo>
                    <a:pt x="4101986" y="1920240"/>
                  </a:lnTo>
                  <a:lnTo>
                    <a:pt x="0" y="1920240"/>
                  </a:lnTo>
                  <a:close/>
                </a:path>
              </a:pathLst>
            </a:custGeom>
            <a:solidFill>
              <a:srgbClr val="004BF0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125528" cy="1945640"/>
            </a:xfrm>
            <a:custGeom>
              <a:avLst/>
              <a:gdLst/>
              <a:ahLst/>
              <a:cxnLst/>
              <a:rect r="r" b="b" t="t" l="l"/>
              <a:pathLst>
                <a:path h="1945640" w="4125528">
                  <a:moveTo>
                    <a:pt x="11771" y="0"/>
                  </a:moveTo>
                  <a:lnTo>
                    <a:pt x="4113757" y="0"/>
                  </a:lnTo>
                  <a:cubicBezTo>
                    <a:pt x="4120231" y="0"/>
                    <a:pt x="4125528" y="5715"/>
                    <a:pt x="4125528" y="12700"/>
                  </a:cubicBezTo>
                  <a:lnTo>
                    <a:pt x="4125528" y="1932940"/>
                  </a:lnTo>
                  <a:cubicBezTo>
                    <a:pt x="4125528" y="1939925"/>
                    <a:pt x="4120231" y="1945640"/>
                    <a:pt x="4113757" y="1945640"/>
                  </a:cubicBezTo>
                  <a:lnTo>
                    <a:pt x="11771" y="1945640"/>
                  </a:lnTo>
                  <a:cubicBezTo>
                    <a:pt x="5297" y="1945640"/>
                    <a:pt x="0" y="1939925"/>
                    <a:pt x="0" y="1932940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1932940"/>
                  </a:lnTo>
                  <a:lnTo>
                    <a:pt x="11771" y="1932940"/>
                  </a:lnTo>
                  <a:lnTo>
                    <a:pt x="11771" y="1920240"/>
                  </a:lnTo>
                  <a:lnTo>
                    <a:pt x="4113757" y="1920240"/>
                  </a:lnTo>
                  <a:lnTo>
                    <a:pt x="4113757" y="1932940"/>
                  </a:lnTo>
                  <a:lnTo>
                    <a:pt x="4101986" y="1932940"/>
                  </a:lnTo>
                  <a:lnTo>
                    <a:pt x="4101986" y="12700"/>
                  </a:lnTo>
                  <a:lnTo>
                    <a:pt x="4113757" y="12700"/>
                  </a:lnTo>
                  <a:lnTo>
                    <a:pt x="4113757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004BF0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6002993" y="2909058"/>
            <a:ext cx="701820" cy="757205"/>
            <a:chOff x="0" y="0"/>
            <a:chExt cx="847518" cy="914400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847518" cy="914400"/>
            </a:xfrm>
            <a:custGeom>
              <a:avLst/>
              <a:gdLst/>
              <a:ahLst/>
              <a:cxnLst/>
              <a:rect r="r" b="b" t="t" l="l"/>
              <a:pathLst>
                <a:path h="914400" w="847518">
                  <a:moveTo>
                    <a:pt x="0" y="0"/>
                  </a:moveTo>
                  <a:lnTo>
                    <a:pt x="847518" y="0"/>
                  </a:lnTo>
                  <a:lnTo>
                    <a:pt x="84751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945" t="0" r="-3945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795863" y="3666263"/>
            <a:ext cx="3116081" cy="641623"/>
            <a:chOff x="0" y="0"/>
            <a:chExt cx="3762979" cy="77482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762978" cy="774824"/>
            </a:xfrm>
            <a:custGeom>
              <a:avLst/>
              <a:gdLst/>
              <a:ahLst/>
              <a:cxnLst/>
              <a:rect r="r" b="b" t="t" l="l"/>
              <a:pathLst>
                <a:path h="774824" w="3762978">
                  <a:moveTo>
                    <a:pt x="0" y="0"/>
                  </a:moveTo>
                  <a:lnTo>
                    <a:pt x="3762978" y="0"/>
                  </a:lnTo>
                  <a:lnTo>
                    <a:pt x="3762978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892" r="-7891" b="-4930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3762979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 scope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936227" y="4206823"/>
            <a:ext cx="2835353" cy="641623"/>
            <a:chOff x="0" y="0"/>
            <a:chExt cx="3423972" cy="77482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423972" cy="774824"/>
            </a:xfrm>
            <a:custGeom>
              <a:avLst/>
              <a:gdLst/>
              <a:ahLst/>
              <a:cxnLst/>
              <a:rect r="r" b="b" t="t" l="l"/>
              <a:pathLst>
                <a:path h="7748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774824"/>
                  </a:lnTo>
                  <a:lnTo>
                    <a:pt x="0" y="774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3396" r="-7891" b="-2240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57150"/>
              <a:ext cx="3423972" cy="831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F970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15034752" y="4791296"/>
            <a:ext cx="2835353" cy="102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Prototypes aren’t reliable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4926479" y="6608844"/>
            <a:ext cx="2854848" cy="51322"/>
            <a:chOff x="0" y="0"/>
            <a:chExt cx="3447514" cy="6197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1771" y="12700"/>
              <a:ext cx="3423972" cy="36576"/>
            </a:xfrm>
            <a:custGeom>
              <a:avLst/>
              <a:gdLst/>
              <a:ahLst/>
              <a:cxnLst/>
              <a:rect r="r" b="b" t="t" l="l"/>
              <a:pathLst>
                <a:path h="36576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447514" cy="61976"/>
            </a:xfrm>
            <a:custGeom>
              <a:avLst/>
              <a:gdLst/>
              <a:ahLst/>
              <a:cxnLst/>
              <a:rect r="r" b="b" t="t" l="l"/>
              <a:pathLst>
                <a:path h="61976" w="3447514">
                  <a:moveTo>
                    <a:pt x="11771" y="0"/>
                  </a:moveTo>
                  <a:lnTo>
                    <a:pt x="3435743" y="0"/>
                  </a:lnTo>
                  <a:cubicBezTo>
                    <a:pt x="3442217" y="0"/>
                    <a:pt x="3447514" y="5715"/>
                    <a:pt x="3447514" y="12700"/>
                  </a:cubicBezTo>
                  <a:lnTo>
                    <a:pt x="3447514" y="49276"/>
                  </a:lnTo>
                  <a:cubicBezTo>
                    <a:pt x="3447514" y="56261"/>
                    <a:pt x="3442217" y="61976"/>
                    <a:pt x="3435743" y="61976"/>
                  </a:cubicBezTo>
                  <a:lnTo>
                    <a:pt x="11771" y="61976"/>
                  </a:lnTo>
                  <a:cubicBezTo>
                    <a:pt x="5297" y="61976"/>
                    <a:pt x="0" y="56261"/>
                    <a:pt x="0" y="49276"/>
                  </a:cubicBezTo>
                  <a:lnTo>
                    <a:pt x="0" y="12700"/>
                  </a:lnTo>
                  <a:cubicBezTo>
                    <a:pt x="0" y="5715"/>
                    <a:pt x="5297" y="0"/>
                    <a:pt x="11771" y="0"/>
                  </a:cubicBezTo>
                  <a:moveTo>
                    <a:pt x="11771" y="25400"/>
                  </a:moveTo>
                  <a:lnTo>
                    <a:pt x="11771" y="12700"/>
                  </a:lnTo>
                  <a:lnTo>
                    <a:pt x="23542" y="12700"/>
                  </a:lnTo>
                  <a:lnTo>
                    <a:pt x="23542" y="49276"/>
                  </a:lnTo>
                  <a:lnTo>
                    <a:pt x="11771" y="49276"/>
                  </a:lnTo>
                  <a:lnTo>
                    <a:pt x="11771" y="36576"/>
                  </a:lnTo>
                  <a:lnTo>
                    <a:pt x="3435743" y="36576"/>
                  </a:lnTo>
                  <a:lnTo>
                    <a:pt x="3435743" y="49276"/>
                  </a:lnTo>
                  <a:lnTo>
                    <a:pt x="3423972" y="49276"/>
                  </a:lnTo>
                  <a:lnTo>
                    <a:pt x="3423972" y="12700"/>
                  </a:lnTo>
                  <a:lnTo>
                    <a:pt x="3435743" y="12700"/>
                  </a:lnTo>
                  <a:lnTo>
                    <a:pt x="3435743" y="25400"/>
                  </a:lnTo>
                  <a:lnTo>
                    <a:pt x="11771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4936227" y="6770802"/>
            <a:ext cx="2835353" cy="1125393"/>
            <a:chOff x="0" y="0"/>
            <a:chExt cx="3423972" cy="135902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423972" cy="1359024"/>
            </a:xfrm>
            <a:custGeom>
              <a:avLst/>
              <a:gdLst/>
              <a:ahLst/>
              <a:cxnLst/>
              <a:rect r="r" b="b" t="t" l="l"/>
              <a:pathLst>
                <a:path h="1359024" w="3423972">
                  <a:moveTo>
                    <a:pt x="0" y="0"/>
                  </a:moveTo>
                  <a:lnTo>
                    <a:pt x="3423972" y="0"/>
                  </a:lnTo>
                  <a:lnTo>
                    <a:pt x="3423972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144" r="-7891" b="3021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57150"/>
              <a:ext cx="3423972" cy="1416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b="true" sz="2899" spc="966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APPROACH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15034752" y="7972394"/>
            <a:ext cx="2835353" cy="150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3201" i="true">
                <a:solidFill>
                  <a:srgbClr val="1E29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CI/CD + Containerized Deployment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116" id="116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19" id="119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0" id="120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1" id="121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2" id="122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3" id="123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4" id="124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5" id="125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6" id="126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27" id="127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128" id="1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29" id="1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0" id="130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131" id="1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2" id="1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3" id="133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6" id="136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39" id="139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2" id="142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4" id="14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5" id="145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146" id="1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47" id="14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48" id="148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149" id="1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0" id="15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1" id="151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154" id="154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155" id="1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56" id="15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57" id="157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8" id="158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59" id="159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60" id="160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61" id="161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62" id="162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63" id="163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64" id="164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65" id="165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66" id="166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67" id="167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69" id="169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70" id="17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71" id="17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72" id="172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</a:t>
              </a:r>
            </a:p>
          </p:txBody>
        </p:sp>
        <p:sp>
          <p:nvSpPr>
            <p:cNvPr name="TextBox 173" id="173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800100" y="428834"/>
            <a:ext cx="16459200" cy="1450330"/>
            <a:chOff x="0" y="0"/>
            <a:chExt cx="21945600" cy="1933773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Challenges Solved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800100" y="1713733"/>
            <a:ext cx="15255534" cy="23509"/>
            <a:chOff x="0" y="0"/>
            <a:chExt cx="21979471" cy="33871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sp>
        <p:nvSpPr>
          <p:cNvPr name="Freeform 179" id="179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&amp; Future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1" id="11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49" id="49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236181" y="2212330"/>
            <a:ext cx="5824318" cy="7313545"/>
            <a:chOff x="0" y="0"/>
            <a:chExt cx="7249160" cy="910270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2700" y="12483"/>
              <a:ext cx="7223760" cy="9077740"/>
            </a:xfrm>
            <a:custGeom>
              <a:avLst/>
              <a:gdLst/>
              <a:ahLst/>
              <a:cxnLst/>
              <a:rect r="r" b="b" t="t" l="l"/>
              <a:pathLst>
                <a:path h="90777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077740"/>
                  </a:lnTo>
                  <a:lnTo>
                    <a:pt x="0" y="9077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249160" cy="9102706"/>
            </a:xfrm>
            <a:custGeom>
              <a:avLst/>
              <a:gdLst/>
              <a:ahLst/>
              <a:cxnLst/>
              <a:rect r="r" b="b" t="t" l="l"/>
              <a:pathLst>
                <a:path h="9102706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5617"/>
                    <a:pt x="7249160" y="12483"/>
                  </a:cubicBezTo>
                  <a:lnTo>
                    <a:pt x="7249160" y="9090223"/>
                  </a:lnTo>
                  <a:cubicBezTo>
                    <a:pt x="7249160" y="9097089"/>
                    <a:pt x="7243445" y="9102706"/>
                    <a:pt x="7236460" y="9102706"/>
                  </a:cubicBezTo>
                  <a:lnTo>
                    <a:pt x="12700" y="9102706"/>
                  </a:lnTo>
                  <a:cubicBezTo>
                    <a:pt x="5715" y="9102706"/>
                    <a:pt x="0" y="9097089"/>
                    <a:pt x="0" y="9090223"/>
                  </a:cubicBezTo>
                  <a:lnTo>
                    <a:pt x="0" y="12483"/>
                  </a:lnTo>
                  <a:cubicBezTo>
                    <a:pt x="0" y="5617"/>
                    <a:pt x="5715" y="0"/>
                    <a:pt x="12700" y="0"/>
                  </a:cubicBezTo>
                  <a:moveTo>
                    <a:pt x="12700" y="24966"/>
                  </a:moveTo>
                  <a:lnTo>
                    <a:pt x="12700" y="12483"/>
                  </a:lnTo>
                  <a:lnTo>
                    <a:pt x="25400" y="12483"/>
                  </a:lnTo>
                  <a:lnTo>
                    <a:pt x="25400" y="9090223"/>
                  </a:lnTo>
                  <a:lnTo>
                    <a:pt x="12700" y="9090223"/>
                  </a:lnTo>
                  <a:lnTo>
                    <a:pt x="12700" y="9077740"/>
                  </a:lnTo>
                  <a:lnTo>
                    <a:pt x="7236460" y="9077740"/>
                  </a:lnTo>
                  <a:lnTo>
                    <a:pt x="7236460" y="9090223"/>
                  </a:lnTo>
                  <a:lnTo>
                    <a:pt x="7223760" y="9090223"/>
                  </a:lnTo>
                  <a:lnTo>
                    <a:pt x="7223760" y="12483"/>
                  </a:lnTo>
                  <a:lnTo>
                    <a:pt x="7236460" y="12483"/>
                  </a:lnTo>
                  <a:lnTo>
                    <a:pt x="7236460" y="24966"/>
                  </a:lnTo>
                  <a:lnTo>
                    <a:pt x="12700" y="249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36181" y="1907530"/>
            <a:ext cx="5824318" cy="1112212"/>
            <a:chOff x="0" y="0"/>
            <a:chExt cx="7249160" cy="13843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7048"/>
              <a:ext cx="7223760" cy="1350204"/>
            </a:xfrm>
            <a:custGeom>
              <a:avLst/>
              <a:gdLst/>
              <a:ahLst/>
              <a:cxnLst/>
              <a:rect r="r" b="b" t="t" l="l"/>
              <a:pathLst>
                <a:path h="135020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350204"/>
                  </a:lnTo>
                  <a:lnTo>
                    <a:pt x="0" y="1350204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249160" cy="1384300"/>
            </a:xfrm>
            <a:custGeom>
              <a:avLst/>
              <a:gdLst/>
              <a:ahLst/>
              <a:cxnLst/>
              <a:rect r="r" b="b" t="t" l="l"/>
              <a:pathLst>
                <a:path h="138430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7672"/>
                    <a:pt x="7249160" y="17048"/>
                  </a:cubicBezTo>
                  <a:lnTo>
                    <a:pt x="7249160" y="1367252"/>
                  </a:lnTo>
                  <a:cubicBezTo>
                    <a:pt x="7249160" y="1376628"/>
                    <a:pt x="7243445" y="1384300"/>
                    <a:pt x="7236460" y="1384300"/>
                  </a:cubicBezTo>
                  <a:lnTo>
                    <a:pt x="12700" y="1384300"/>
                  </a:lnTo>
                  <a:cubicBezTo>
                    <a:pt x="5715" y="1384300"/>
                    <a:pt x="0" y="1376628"/>
                    <a:pt x="0" y="1367252"/>
                  </a:cubicBezTo>
                  <a:lnTo>
                    <a:pt x="0" y="17048"/>
                  </a:lnTo>
                  <a:cubicBezTo>
                    <a:pt x="0" y="7672"/>
                    <a:pt x="5715" y="0"/>
                    <a:pt x="12700" y="0"/>
                  </a:cubicBezTo>
                  <a:moveTo>
                    <a:pt x="12700" y="34096"/>
                  </a:moveTo>
                  <a:lnTo>
                    <a:pt x="12700" y="17048"/>
                  </a:lnTo>
                  <a:lnTo>
                    <a:pt x="25400" y="17048"/>
                  </a:lnTo>
                  <a:lnTo>
                    <a:pt x="25400" y="1367252"/>
                  </a:lnTo>
                  <a:lnTo>
                    <a:pt x="12700" y="1367252"/>
                  </a:lnTo>
                  <a:lnTo>
                    <a:pt x="12700" y="1350204"/>
                  </a:lnTo>
                  <a:lnTo>
                    <a:pt x="7236460" y="1350204"/>
                  </a:lnTo>
                  <a:lnTo>
                    <a:pt x="7236460" y="1367252"/>
                  </a:lnTo>
                  <a:lnTo>
                    <a:pt x="7223760" y="1367252"/>
                  </a:lnTo>
                  <a:lnTo>
                    <a:pt x="7223760" y="17048"/>
                  </a:lnTo>
                  <a:lnTo>
                    <a:pt x="7236460" y="17048"/>
                  </a:lnTo>
                  <a:lnTo>
                    <a:pt x="7236460" y="34096"/>
                  </a:lnTo>
                  <a:lnTo>
                    <a:pt x="12700" y="34096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36181" y="2059566"/>
            <a:ext cx="5803911" cy="808139"/>
            <a:chOff x="0" y="0"/>
            <a:chExt cx="7223760" cy="1005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223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37" r="0" b="-89937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722376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106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IT MATTERS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13721" y="3398009"/>
            <a:ext cx="323256" cy="323256"/>
            <a:chOff x="0" y="0"/>
            <a:chExt cx="402336" cy="402336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054524" y="3267392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Continuity of care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13721" y="4646952"/>
            <a:ext cx="323256" cy="323256"/>
            <a:chOff x="0" y="0"/>
            <a:chExt cx="402336" cy="402336"/>
          </a:xfrm>
        </p:grpSpPr>
        <p:sp>
          <p:nvSpPr>
            <p:cNvPr name="Freeform 80" id="80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054524" y="4516335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Fewer medication errors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13721" y="5895895"/>
            <a:ext cx="323256" cy="323256"/>
            <a:chOff x="0" y="0"/>
            <a:chExt cx="402336" cy="402336"/>
          </a:xfrm>
        </p:grpSpPr>
        <p:sp>
          <p:nvSpPr>
            <p:cNvPr name="Freeform 83" id="83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054524" y="5765278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Bilingual access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13721" y="7144838"/>
            <a:ext cx="323256" cy="323256"/>
            <a:chOff x="0" y="0"/>
            <a:chExt cx="402336" cy="402336"/>
          </a:xfrm>
        </p:grpSpPr>
        <p:sp>
          <p:nvSpPr>
            <p:cNvPr name="Freeform 86" id="86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054524" y="7014221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autonomy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613721" y="8393781"/>
            <a:ext cx="323256" cy="323256"/>
            <a:chOff x="0" y="0"/>
            <a:chExt cx="402336" cy="402336"/>
          </a:xfrm>
        </p:grpSpPr>
        <p:sp>
          <p:nvSpPr>
            <p:cNvPr name="Freeform 89" id="89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054524" y="8263163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Reusable engineering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6260493" y="2212330"/>
            <a:ext cx="5824318" cy="7313545"/>
            <a:chOff x="0" y="0"/>
            <a:chExt cx="7249160" cy="910270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2700" y="12483"/>
              <a:ext cx="7223760" cy="9077740"/>
            </a:xfrm>
            <a:custGeom>
              <a:avLst/>
              <a:gdLst/>
              <a:ahLst/>
              <a:cxnLst/>
              <a:rect r="r" b="b" t="t" l="l"/>
              <a:pathLst>
                <a:path h="90777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077740"/>
                  </a:lnTo>
                  <a:lnTo>
                    <a:pt x="0" y="9077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249160" cy="9102706"/>
            </a:xfrm>
            <a:custGeom>
              <a:avLst/>
              <a:gdLst/>
              <a:ahLst/>
              <a:cxnLst/>
              <a:rect r="r" b="b" t="t" l="l"/>
              <a:pathLst>
                <a:path h="9102706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5617"/>
                    <a:pt x="7249160" y="12483"/>
                  </a:cubicBezTo>
                  <a:lnTo>
                    <a:pt x="7249160" y="9090223"/>
                  </a:lnTo>
                  <a:cubicBezTo>
                    <a:pt x="7249160" y="9097089"/>
                    <a:pt x="7243445" y="9102706"/>
                    <a:pt x="7236460" y="9102706"/>
                  </a:cubicBezTo>
                  <a:lnTo>
                    <a:pt x="12700" y="9102706"/>
                  </a:lnTo>
                  <a:cubicBezTo>
                    <a:pt x="5715" y="9102706"/>
                    <a:pt x="0" y="9097089"/>
                    <a:pt x="0" y="9090223"/>
                  </a:cubicBezTo>
                  <a:lnTo>
                    <a:pt x="0" y="12483"/>
                  </a:lnTo>
                  <a:cubicBezTo>
                    <a:pt x="0" y="5617"/>
                    <a:pt x="5715" y="0"/>
                    <a:pt x="12700" y="0"/>
                  </a:cubicBezTo>
                  <a:moveTo>
                    <a:pt x="12700" y="24966"/>
                  </a:moveTo>
                  <a:lnTo>
                    <a:pt x="12700" y="12483"/>
                  </a:lnTo>
                  <a:lnTo>
                    <a:pt x="25400" y="12483"/>
                  </a:lnTo>
                  <a:lnTo>
                    <a:pt x="25400" y="9090223"/>
                  </a:lnTo>
                  <a:lnTo>
                    <a:pt x="12700" y="9090223"/>
                  </a:lnTo>
                  <a:lnTo>
                    <a:pt x="12700" y="9077740"/>
                  </a:lnTo>
                  <a:lnTo>
                    <a:pt x="7236460" y="9077740"/>
                  </a:lnTo>
                  <a:lnTo>
                    <a:pt x="7236460" y="9090223"/>
                  </a:lnTo>
                  <a:lnTo>
                    <a:pt x="7223760" y="9090223"/>
                  </a:lnTo>
                  <a:lnTo>
                    <a:pt x="7223760" y="12483"/>
                  </a:lnTo>
                  <a:lnTo>
                    <a:pt x="7236460" y="12483"/>
                  </a:lnTo>
                  <a:lnTo>
                    <a:pt x="7236460" y="24966"/>
                  </a:lnTo>
                  <a:lnTo>
                    <a:pt x="12700" y="249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260493" y="1907530"/>
            <a:ext cx="5824318" cy="1112212"/>
            <a:chOff x="0" y="0"/>
            <a:chExt cx="7249160" cy="13843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2700" y="17048"/>
              <a:ext cx="7223760" cy="1350204"/>
            </a:xfrm>
            <a:custGeom>
              <a:avLst/>
              <a:gdLst/>
              <a:ahLst/>
              <a:cxnLst/>
              <a:rect r="r" b="b" t="t" l="l"/>
              <a:pathLst>
                <a:path h="135020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350204"/>
                  </a:lnTo>
                  <a:lnTo>
                    <a:pt x="0" y="135020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249160" cy="1384300"/>
            </a:xfrm>
            <a:custGeom>
              <a:avLst/>
              <a:gdLst/>
              <a:ahLst/>
              <a:cxnLst/>
              <a:rect r="r" b="b" t="t" l="l"/>
              <a:pathLst>
                <a:path h="138430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7672"/>
                    <a:pt x="7249160" y="17048"/>
                  </a:cubicBezTo>
                  <a:lnTo>
                    <a:pt x="7249160" y="1367252"/>
                  </a:lnTo>
                  <a:cubicBezTo>
                    <a:pt x="7249160" y="1376628"/>
                    <a:pt x="7243445" y="1384300"/>
                    <a:pt x="7236460" y="1384300"/>
                  </a:cubicBezTo>
                  <a:lnTo>
                    <a:pt x="12700" y="1384300"/>
                  </a:lnTo>
                  <a:cubicBezTo>
                    <a:pt x="5715" y="1384300"/>
                    <a:pt x="0" y="1376628"/>
                    <a:pt x="0" y="1367252"/>
                  </a:cubicBezTo>
                  <a:lnTo>
                    <a:pt x="0" y="17048"/>
                  </a:lnTo>
                  <a:cubicBezTo>
                    <a:pt x="0" y="7672"/>
                    <a:pt x="5715" y="0"/>
                    <a:pt x="12700" y="0"/>
                  </a:cubicBezTo>
                  <a:moveTo>
                    <a:pt x="12700" y="34096"/>
                  </a:moveTo>
                  <a:lnTo>
                    <a:pt x="12700" y="17048"/>
                  </a:lnTo>
                  <a:lnTo>
                    <a:pt x="25400" y="17048"/>
                  </a:lnTo>
                  <a:lnTo>
                    <a:pt x="25400" y="1367252"/>
                  </a:lnTo>
                  <a:lnTo>
                    <a:pt x="12700" y="1367252"/>
                  </a:lnTo>
                  <a:lnTo>
                    <a:pt x="12700" y="1350204"/>
                  </a:lnTo>
                  <a:lnTo>
                    <a:pt x="7236460" y="1350204"/>
                  </a:lnTo>
                  <a:lnTo>
                    <a:pt x="7236460" y="1367252"/>
                  </a:lnTo>
                  <a:lnTo>
                    <a:pt x="7223760" y="1367252"/>
                  </a:lnTo>
                  <a:lnTo>
                    <a:pt x="7223760" y="17048"/>
                  </a:lnTo>
                  <a:lnTo>
                    <a:pt x="7236460" y="17048"/>
                  </a:lnTo>
                  <a:lnTo>
                    <a:pt x="7236460" y="34096"/>
                  </a:lnTo>
                  <a:lnTo>
                    <a:pt x="12700" y="3409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6280901" y="1942079"/>
            <a:ext cx="5803911" cy="1129308"/>
            <a:chOff x="0" y="0"/>
            <a:chExt cx="7223760" cy="140557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223760" cy="1405578"/>
            </a:xfrm>
            <a:custGeom>
              <a:avLst/>
              <a:gdLst/>
              <a:ahLst/>
              <a:cxnLst/>
              <a:rect r="r" b="b" t="t" l="l"/>
              <a:pathLst>
                <a:path h="1405578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405578"/>
                  </a:lnTo>
                  <a:lnTo>
                    <a:pt x="0" y="1405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60" r="0" b="-3592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7223760" cy="14627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106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DIDN'T SOLVE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638033" y="3398009"/>
            <a:ext cx="323256" cy="323256"/>
            <a:chOff x="0" y="0"/>
            <a:chExt cx="402336" cy="402336"/>
          </a:xfrm>
        </p:grpSpPr>
        <p:sp>
          <p:nvSpPr>
            <p:cNvPr name="Freeform 101" id="101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7078836" y="3267392"/>
            <a:ext cx="47753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OCR drops on poor handwriting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6638033" y="4646952"/>
            <a:ext cx="323256" cy="323256"/>
            <a:chOff x="0" y="0"/>
            <a:chExt cx="402336" cy="402336"/>
          </a:xfrm>
        </p:grpSpPr>
        <p:sp>
          <p:nvSpPr>
            <p:cNvPr name="Freeform 104" id="104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7078836" y="4516335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Specialised clinical queries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6638033" y="5895895"/>
            <a:ext cx="323256" cy="323256"/>
            <a:chOff x="0" y="0"/>
            <a:chExt cx="402336" cy="402336"/>
          </a:xfrm>
        </p:grpSpPr>
        <p:sp>
          <p:nvSpPr>
            <p:cNvPr name="Freeform 107" id="107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8" id="108"/>
          <p:cNvSpPr txBox="true"/>
          <p:nvPr/>
        </p:nvSpPr>
        <p:spPr>
          <a:xfrm rot="0">
            <a:off x="7078836" y="5765278"/>
            <a:ext cx="47753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depends on Supabase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6638033" y="7144838"/>
            <a:ext cx="323256" cy="323256"/>
            <a:chOff x="0" y="0"/>
            <a:chExt cx="402336" cy="402336"/>
          </a:xfrm>
        </p:grpSpPr>
        <p:sp>
          <p:nvSpPr>
            <p:cNvPr name="Freeform 110" id="110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7078836" y="7014221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Small OCR eval corpus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6638033" y="8393781"/>
            <a:ext cx="323256" cy="323256"/>
            <a:chOff x="0" y="0"/>
            <a:chExt cx="402336" cy="402336"/>
          </a:xfrm>
        </p:grpSpPr>
        <p:sp>
          <p:nvSpPr>
            <p:cNvPr name="Freeform 113" id="113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14" id="114"/>
          <p:cNvSpPr txBox="true"/>
          <p:nvPr/>
        </p:nvSpPr>
        <p:spPr>
          <a:xfrm rot="0">
            <a:off x="7078836" y="8263163"/>
            <a:ext cx="47753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third-party security audit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12284806" y="2212330"/>
            <a:ext cx="5824318" cy="7313545"/>
            <a:chOff x="0" y="0"/>
            <a:chExt cx="7249160" cy="910270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2700" y="12483"/>
              <a:ext cx="7223760" cy="9077740"/>
            </a:xfrm>
            <a:custGeom>
              <a:avLst/>
              <a:gdLst/>
              <a:ahLst/>
              <a:cxnLst/>
              <a:rect r="r" b="b" t="t" l="l"/>
              <a:pathLst>
                <a:path h="90777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9077740"/>
                  </a:lnTo>
                  <a:lnTo>
                    <a:pt x="0" y="90777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249160" cy="9102706"/>
            </a:xfrm>
            <a:custGeom>
              <a:avLst/>
              <a:gdLst/>
              <a:ahLst/>
              <a:cxnLst/>
              <a:rect r="r" b="b" t="t" l="l"/>
              <a:pathLst>
                <a:path h="9102706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5617"/>
                    <a:pt x="7249160" y="12483"/>
                  </a:cubicBezTo>
                  <a:lnTo>
                    <a:pt x="7249160" y="9090223"/>
                  </a:lnTo>
                  <a:cubicBezTo>
                    <a:pt x="7249160" y="9097089"/>
                    <a:pt x="7243445" y="9102706"/>
                    <a:pt x="7236460" y="9102706"/>
                  </a:cubicBezTo>
                  <a:lnTo>
                    <a:pt x="12700" y="9102706"/>
                  </a:lnTo>
                  <a:cubicBezTo>
                    <a:pt x="5715" y="9102706"/>
                    <a:pt x="0" y="9097089"/>
                    <a:pt x="0" y="9090223"/>
                  </a:cubicBezTo>
                  <a:lnTo>
                    <a:pt x="0" y="12483"/>
                  </a:lnTo>
                  <a:cubicBezTo>
                    <a:pt x="0" y="5617"/>
                    <a:pt x="5715" y="0"/>
                    <a:pt x="12700" y="0"/>
                  </a:cubicBezTo>
                  <a:moveTo>
                    <a:pt x="12700" y="24966"/>
                  </a:moveTo>
                  <a:lnTo>
                    <a:pt x="12700" y="12483"/>
                  </a:lnTo>
                  <a:lnTo>
                    <a:pt x="25400" y="12483"/>
                  </a:lnTo>
                  <a:lnTo>
                    <a:pt x="25400" y="9090223"/>
                  </a:lnTo>
                  <a:lnTo>
                    <a:pt x="12700" y="9090223"/>
                  </a:lnTo>
                  <a:lnTo>
                    <a:pt x="12700" y="9077740"/>
                  </a:lnTo>
                  <a:lnTo>
                    <a:pt x="7236460" y="9077740"/>
                  </a:lnTo>
                  <a:lnTo>
                    <a:pt x="7236460" y="9090223"/>
                  </a:lnTo>
                  <a:lnTo>
                    <a:pt x="7223760" y="9090223"/>
                  </a:lnTo>
                  <a:lnTo>
                    <a:pt x="7223760" y="12483"/>
                  </a:lnTo>
                  <a:lnTo>
                    <a:pt x="7236460" y="12483"/>
                  </a:lnTo>
                  <a:lnTo>
                    <a:pt x="7236460" y="24966"/>
                  </a:lnTo>
                  <a:lnTo>
                    <a:pt x="12700" y="24966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2284806" y="1907530"/>
            <a:ext cx="5824318" cy="1112212"/>
            <a:chOff x="0" y="0"/>
            <a:chExt cx="7249160" cy="13843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2700" y="17048"/>
              <a:ext cx="7223760" cy="1350204"/>
            </a:xfrm>
            <a:custGeom>
              <a:avLst/>
              <a:gdLst/>
              <a:ahLst/>
              <a:cxnLst/>
              <a:rect r="r" b="b" t="t" l="l"/>
              <a:pathLst>
                <a:path h="1350204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350204"/>
                  </a:lnTo>
                  <a:lnTo>
                    <a:pt x="0" y="1350204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249160" cy="1384300"/>
            </a:xfrm>
            <a:custGeom>
              <a:avLst/>
              <a:gdLst/>
              <a:ahLst/>
              <a:cxnLst/>
              <a:rect r="r" b="b" t="t" l="l"/>
              <a:pathLst>
                <a:path h="1384300" w="7249160">
                  <a:moveTo>
                    <a:pt x="12700" y="0"/>
                  </a:moveTo>
                  <a:lnTo>
                    <a:pt x="7236460" y="0"/>
                  </a:lnTo>
                  <a:cubicBezTo>
                    <a:pt x="7243445" y="0"/>
                    <a:pt x="7249160" y="7672"/>
                    <a:pt x="7249160" y="17048"/>
                  </a:cubicBezTo>
                  <a:lnTo>
                    <a:pt x="7249160" y="1367252"/>
                  </a:lnTo>
                  <a:cubicBezTo>
                    <a:pt x="7249160" y="1376628"/>
                    <a:pt x="7243445" y="1384300"/>
                    <a:pt x="7236460" y="1384300"/>
                  </a:cubicBezTo>
                  <a:lnTo>
                    <a:pt x="12700" y="1384300"/>
                  </a:lnTo>
                  <a:cubicBezTo>
                    <a:pt x="5715" y="1384300"/>
                    <a:pt x="0" y="1376628"/>
                    <a:pt x="0" y="1367252"/>
                  </a:cubicBezTo>
                  <a:lnTo>
                    <a:pt x="0" y="17048"/>
                  </a:lnTo>
                  <a:cubicBezTo>
                    <a:pt x="0" y="7672"/>
                    <a:pt x="5715" y="0"/>
                    <a:pt x="12700" y="0"/>
                  </a:cubicBezTo>
                  <a:moveTo>
                    <a:pt x="12700" y="34096"/>
                  </a:moveTo>
                  <a:lnTo>
                    <a:pt x="12700" y="17048"/>
                  </a:lnTo>
                  <a:lnTo>
                    <a:pt x="25400" y="17048"/>
                  </a:lnTo>
                  <a:lnTo>
                    <a:pt x="25400" y="1367252"/>
                  </a:lnTo>
                  <a:lnTo>
                    <a:pt x="12700" y="1367252"/>
                  </a:lnTo>
                  <a:lnTo>
                    <a:pt x="12700" y="1350204"/>
                  </a:lnTo>
                  <a:lnTo>
                    <a:pt x="7236460" y="1350204"/>
                  </a:lnTo>
                  <a:lnTo>
                    <a:pt x="7236460" y="1367252"/>
                  </a:lnTo>
                  <a:lnTo>
                    <a:pt x="7223760" y="1367252"/>
                  </a:lnTo>
                  <a:lnTo>
                    <a:pt x="7223760" y="17048"/>
                  </a:lnTo>
                  <a:lnTo>
                    <a:pt x="7236460" y="17048"/>
                  </a:lnTo>
                  <a:lnTo>
                    <a:pt x="7236460" y="34096"/>
                  </a:lnTo>
                  <a:lnTo>
                    <a:pt x="12700" y="34096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2356493" y="2059566"/>
            <a:ext cx="5803911" cy="808139"/>
            <a:chOff x="0" y="0"/>
            <a:chExt cx="7223760" cy="1005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7223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37" r="0" b="-8993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57150"/>
              <a:ext cx="722376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106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NEXT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2662345" y="3398009"/>
            <a:ext cx="323256" cy="323256"/>
            <a:chOff x="0" y="0"/>
            <a:chExt cx="402336" cy="402336"/>
          </a:xfrm>
        </p:grpSpPr>
        <p:sp>
          <p:nvSpPr>
            <p:cNvPr name="Freeform 125" id="125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26" id="126"/>
          <p:cNvSpPr txBox="true"/>
          <p:nvPr/>
        </p:nvSpPr>
        <p:spPr>
          <a:xfrm rot="0">
            <a:off x="13103149" y="3267392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 payment integration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2662345" y="4646952"/>
            <a:ext cx="323256" cy="323256"/>
            <a:chOff x="0" y="0"/>
            <a:chExt cx="402336" cy="402336"/>
          </a:xfrm>
        </p:grpSpPr>
        <p:sp>
          <p:nvSpPr>
            <p:cNvPr name="Freeform 128" id="128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29" id="129"/>
          <p:cNvSpPr txBox="true"/>
          <p:nvPr/>
        </p:nvSpPr>
        <p:spPr>
          <a:xfrm rot="0">
            <a:off x="13103149" y="4516335"/>
            <a:ext cx="47753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WebRTC video consultations</a:t>
            </a:r>
          </a:p>
        </p:txBody>
      </p:sp>
      <p:grpSp>
        <p:nvGrpSpPr>
          <p:cNvPr name="Group 130" id="130"/>
          <p:cNvGrpSpPr/>
          <p:nvPr/>
        </p:nvGrpSpPr>
        <p:grpSpPr>
          <a:xfrm rot="0">
            <a:off x="12662345" y="5895895"/>
            <a:ext cx="323256" cy="323256"/>
            <a:chOff x="0" y="0"/>
            <a:chExt cx="402336" cy="402336"/>
          </a:xfrm>
        </p:grpSpPr>
        <p:sp>
          <p:nvSpPr>
            <p:cNvPr name="Freeform 131" id="131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32" id="132"/>
          <p:cNvSpPr txBox="true"/>
          <p:nvPr/>
        </p:nvSpPr>
        <p:spPr>
          <a:xfrm rot="0">
            <a:off x="13103149" y="5765278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Pharmacy integration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12662345" y="7144838"/>
            <a:ext cx="323256" cy="323256"/>
            <a:chOff x="0" y="0"/>
            <a:chExt cx="402336" cy="402336"/>
          </a:xfrm>
        </p:grpSpPr>
        <p:sp>
          <p:nvSpPr>
            <p:cNvPr name="Freeform 134" id="134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35" id="135"/>
          <p:cNvSpPr txBox="true"/>
          <p:nvPr/>
        </p:nvSpPr>
        <p:spPr>
          <a:xfrm rot="0">
            <a:off x="13103149" y="7014221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Family-member profiles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12662345" y="8393781"/>
            <a:ext cx="323256" cy="323256"/>
            <a:chOff x="0" y="0"/>
            <a:chExt cx="402336" cy="402336"/>
          </a:xfrm>
        </p:grpSpPr>
        <p:sp>
          <p:nvSpPr>
            <p:cNvPr name="Freeform 137" id="137" descr="preencoded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38" id="138"/>
          <p:cNvSpPr txBox="true"/>
          <p:nvPr/>
        </p:nvSpPr>
        <p:spPr>
          <a:xfrm rot="0">
            <a:off x="13103149" y="8263163"/>
            <a:ext cx="4775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2A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Predictive health analytics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03120"/>
            <a:ext cx="16459200" cy="883667"/>
            <a:chOff x="0" y="0"/>
            <a:chExt cx="21945600" cy="11782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178223"/>
            </a:xfrm>
            <a:custGeom>
              <a:avLst/>
              <a:gdLst/>
              <a:ahLst/>
              <a:cxnLst/>
              <a:rect r="r" b="b" t="t" l="l"/>
              <a:pathLst>
                <a:path h="117822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78223"/>
                  </a:lnTo>
                  <a:lnTo>
                    <a:pt x="0" y="1178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63" r="0" b="-30949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945600" cy="1254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five primary objectives achieved: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3108960"/>
            <a:ext cx="16184880" cy="4630103"/>
            <a:chOff x="0" y="0"/>
            <a:chExt cx="21579840" cy="61734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106439"/>
              <a:ext cx="975360" cy="851513"/>
              <a:chOff x="0" y="0"/>
              <a:chExt cx="975360" cy="85151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75360" cy="851513"/>
              </a:xfrm>
              <a:custGeom>
                <a:avLst/>
                <a:gdLst/>
                <a:ahLst/>
                <a:cxnLst/>
                <a:rect r="r" b="b" t="t" l="l"/>
                <a:pathLst>
                  <a:path h="851513" w="975360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975360" cy="960537"/>
              <a:chOff x="0" y="0"/>
              <a:chExt cx="975360" cy="96053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75360" cy="960537"/>
              </a:xfrm>
              <a:custGeom>
                <a:avLst/>
                <a:gdLst/>
                <a:ahLst/>
                <a:cxnLst/>
                <a:rect r="r" b="b" t="t" l="l"/>
                <a:pathLst>
                  <a:path h="960537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-1543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341120" y="0"/>
              <a:ext cx="20238720" cy="1064392"/>
              <a:chOff x="0" y="0"/>
              <a:chExt cx="20238720" cy="106439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0238720" cy="1064392"/>
              </a:xfrm>
              <a:custGeom>
                <a:avLst/>
                <a:gdLst/>
                <a:ahLst/>
                <a:cxnLst/>
                <a:rect r="r" b="b" t="t" l="l"/>
                <a:pathLst>
                  <a:path h="1064392" w="20238720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3223" r="0" b="-327767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Unified role-based platform for patients, doctors and administrators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383709"/>
              <a:ext cx="975360" cy="851513"/>
              <a:chOff x="0" y="0"/>
              <a:chExt cx="975360" cy="85151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75360" cy="851513"/>
              </a:xfrm>
              <a:custGeom>
                <a:avLst/>
                <a:gdLst/>
                <a:ahLst/>
                <a:cxnLst/>
                <a:rect r="r" b="b" t="t" l="l"/>
                <a:pathLst>
                  <a:path h="851513" w="975360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1274686"/>
              <a:ext cx="975360" cy="960537"/>
              <a:chOff x="0" y="0"/>
              <a:chExt cx="975360" cy="96053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75360" cy="960537"/>
              </a:xfrm>
              <a:custGeom>
                <a:avLst/>
                <a:gdLst/>
                <a:ahLst/>
                <a:cxnLst/>
                <a:rect r="r" b="b" t="t" l="l"/>
                <a:pathLst>
                  <a:path h="960537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-1543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341120" y="1277270"/>
              <a:ext cx="20238720" cy="1064392"/>
              <a:chOff x="0" y="0"/>
              <a:chExt cx="20238720" cy="106439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0238720" cy="1064392"/>
              </a:xfrm>
              <a:custGeom>
                <a:avLst/>
                <a:gdLst/>
                <a:ahLst/>
                <a:cxnLst/>
                <a:rect r="r" b="b" t="t" l="l"/>
                <a:pathLst>
                  <a:path h="1064392" w="20238720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3223" r="0" b="-327767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AI-powered search and Chorui assistant with safety guardrails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2660979"/>
              <a:ext cx="975360" cy="851513"/>
              <a:chOff x="0" y="0"/>
              <a:chExt cx="975360" cy="85151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75360" cy="851513"/>
              </a:xfrm>
              <a:custGeom>
                <a:avLst/>
                <a:gdLst/>
                <a:ahLst/>
                <a:cxnLst/>
                <a:rect r="r" b="b" t="t" l="l"/>
                <a:pathLst>
                  <a:path h="851513" w="975360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2551955"/>
              <a:ext cx="975360" cy="960537"/>
              <a:chOff x="0" y="0"/>
              <a:chExt cx="975360" cy="96053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75360" cy="960537"/>
              </a:xfrm>
              <a:custGeom>
                <a:avLst/>
                <a:gdLst/>
                <a:ahLst/>
                <a:cxnLst/>
                <a:rect r="r" b="b" t="t" l="l"/>
                <a:pathLst>
                  <a:path h="960537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-1543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341120" y="2554540"/>
              <a:ext cx="20238720" cy="1064392"/>
              <a:chOff x="0" y="0"/>
              <a:chExt cx="20238720" cy="106439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238720" cy="1064392"/>
              </a:xfrm>
              <a:custGeom>
                <a:avLst/>
                <a:gdLst/>
                <a:ahLst/>
                <a:cxnLst/>
                <a:rect r="r" b="b" t="t" l="l"/>
                <a:pathLst>
                  <a:path h="1064392" w="20238720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3223" r="0" b="-327767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Prescription OCR pipeline: 92% medicine-name accuracy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3938249"/>
              <a:ext cx="975360" cy="851513"/>
              <a:chOff x="0" y="0"/>
              <a:chExt cx="975360" cy="85151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75360" cy="851513"/>
              </a:xfrm>
              <a:custGeom>
                <a:avLst/>
                <a:gdLst/>
                <a:ahLst/>
                <a:cxnLst/>
                <a:rect r="r" b="b" t="t" l="l"/>
                <a:pathLst>
                  <a:path h="851513" w="975360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3829225"/>
              <a:ext cx="975360" cy="960537"/>
              <a:chOff x="0" y="0"/>
              <a:chExt cx="975360" cy="96053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975360" cy="960537"/>
              </a:xfrm>
              <a:custGeom>
                <a:avLst/>
                <a:gdLst/>
                <a:ahLst/>
                <a:cxnLst/>
                <a:rect r="r" b="b" t="t" l="l"/>
                <a:pathLst>
                  <a:path h="960537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-1543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341120" y="3831810"/>
              <a:ext cx="20238720" cy="1064392"/>
              <a:chOff x="0" y="0"/>
              <a:chExt cx="20238720" cy="106439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0238720" cy="1064392"/>
              </a:xfrm>
              <a:custGeom>
                <a:avLst/>
                <a:gdLst/>
                <a:ahLst/>
                <a:cxnLst/>
                <a:rect r="r" b="b" t="t" l="l"/>
                <a:pathLst>
                  <a:path h="1064392" w="20238720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3223" r="0" b="-327767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Real-time appointment sync with sub-second slot updates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5215519"/>
              <a:ext cx="975360" cy="851513"/>
              <a:chOff x="0" y="0"/>
              <a:chExt cx="975360" cy="851513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75360" cy="851513"/>
              </a:xfrm>
              <a:custGeom>
                <a:avLst/>
                <a:gdLst/>
                <a:ahLst/>
                <a:cxnLst/>
                <a:rect r="r" b="b" t="t" l="l"/>
                <a:pathLst>
                  <a:path h="851513" w="975360">
                    <a:moveTo>
                      <a:pt x="0" y="425757"/>
                    </a:moveTo>
                    <a:cubicBezTo>
                      <a:pt x="0" y="190593"/>
                      <a:pt x="218313" y="0"/>
                      <a:pt x="487680" y="0"/>
                    </a:cubicBezTo>
                    <a:cubicBezTo>
                      <a:pt x="757047" y="0"/>
                      <a:pt x="975360" y="190593"/>
                      <a:pt x="975360" y="425757"/>
                    </a:cubicBezTo>
                    <a:cubicBezTo>
                      <a:pt x="975360" y="660921"/>
                      <a:pt x="757047" y="851513"/>
                      <a:pt x="487680" y="851513"/>
                    </a:cubicBezTo>
                    <a:cubicBezTo>
                      <a:pt x="218313" y="851513"/>
                      <a:pt x="0" y="660921"/>
                      <a:pt x="0" y="425757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5106495"/>
              <a:ext cx="975360" cy="960537"/>
              <a:chOff x="0" y="0"/>
              <a:chExt cx="975360" cy="96053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75360" cy="960537"/>
              </a:xfrm>
              <a:custGeom>
                <a:avLst/>
                <a:gdLst/>
                <a:ahLst/>
                <a:cxnLst/>
                <a:rect r="r" b="b" t="t" l="l"/>
                <a:pathLst>
                  <a:path h="960537" w="975360">
                    <a:moveTo>
                      <a:pt x="0" y="0"/>
                    </a:moveTo>
                    <a:lnTo>
                      <a:pt x="975360" y="0"/>
                    </a:lnTo>
                    <a:lnTo>
                      <a:pt x="975360" y="960537"/>
                    </a:lnTo>
                    <a:lnTo>
                      <a:pt x="0" y="96053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t="0" r="-78303" b="-1543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66675"/>
                <a:ext cx="975360" cy="102721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✓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341120" y="5109079"/>
              <a:ext cx="20238720" cy="1064392"/>
              <a:chOff x="0" y="0"/>
              <a:chExt cx="20238720" cy="106439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0238720" cy="1064392"/>
              </a:xfrm>
              <a:custGeom>
                <a:avLst/>
                <a:gdLst/>
                <a:ahLst/>
                <a:cxnLst/>
                <a:rect r="r" b="b" t="t" l="l"/>
                <a:pathLst>
                  <a:path h="1064392" w="20238720">
                    <a:moveTo>
                      <a:pt x="0" y="0"/>
                    </a:moveTo>
                    <a:lnTo>
                      <a:pt x="20238720" y="0"/>
                    </a:lnTo>
                    <a:lnTo>
                      <a:pt x="20238720" y="1064392"/>
                    </a:lnTo>
                    <a:lnTo>
                      <a:pt x="0" y="10643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313223" r="0" b="-327767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66675"/>
                <a:ext cx="20238720" cy="11310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Production deployment on Azure with CI/CD and observability</a:t>
                </a:r>
              </a:p>
            </p:txBody>
          </p:sp>
        </p:grpSp>
      </p:grpSp>
      <p:grpSp>
        <p:nvGrpSpPr>
          <p:cNvPr name="Group 51" id="51"/>
          <p:cNvGrpSpPr/>
          <p:nvPr/>
        </p:nvGrpSpPr>
        <p:grpSpPr>
          <a:xfrm rot="0">
            <a:off x="1031173" y="8043863"/>
            <a:ext cx="16484603" cy="1122683"/>
            <a:chOff x="0" y="0"/>
            <a:chExt cx="21979471" cy="1496911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21979471" cy="1496911"/>
              <a:chOff x="0" y="0"/>
              <a:chExt cx="21979471" cy="149691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16891" y="16891"/>
                <a:ext cx="21945599" cy="1463040"/>
              </a:xfrm>
              <a:custGeom>
                <a:avLst/>
                <a:gdLst/>
                <a:ahLst/>
                <a:cxnLst/>
                <a:rect r="r" b="b" t="t" l="l"/>
                <a:pathLst>
                  <a:path h="1463040" w="21945599">
                    <a:moveTo>
                      <a:pt x="0" y="0"/>
                    </a:moveTo>
                    <a:lnTo>
                      <a:pt x="21945599" y="0"/>
                    </a:lnTo>
                    <a:lnTo>
                      <a:pt x="21945599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solidFill>
                <a:srgbClr val="DBEAFE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1979382" cy="1496822"/>
              </a:xfrm>
              <a:custGeom>
                <a:avLst/>
                <a:gdLst/>
                <a:ahLst/>
                <a:cxnLst/>
                <a:rect r="r" b="b" t="t" l="l"/>
                <a:pathLst>
                  <a:path h="1496822" w="21979382">
                    <a:moveTo>
                      <a:pt x="16891" y="0"/>
                    </a:moveTo>
                    <a:lnTo>
                      <a:pt x="21962490" y="0"/>
                    </a:lnTo>
                    <a:cubicBezTo>
                      <a:pt x="21971890" y="0"/>
                      <a:pt x="21979382" y="7620"/>
                      <a:pt x="21979382" y="16891"/>
                    </a:cubicBezTo>
                    <a:lnTo>
                      <a:pt x="21979382" y="1479931"/>
                    </a:lnTo>
                    <a:cubicBezTo>
                      <a:pt x="21979382" y="1489329"/>
                      <a:pt x="21971763" y="1496822"/>
                      <a:pt x="21962490" y="1496822"/>
                    </a:cubicBezTo>
                    <a:lnTo>
                      <a:pt x="16891" y="1496822"/>
                    </a:lnTo>
                    <a:cubicBezTo>
                      <a:pt x="7493" y="1496822"/>
                      <a:pt x="0" y="1489202"/>
                      <a:pt x="0" y="147993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479931"/>
                    </a:lnTo>
                    <a:lnTo>
                      <a:pt x="16891" y="1479931"/>
                    </a:lnTo>
                    <a:lnTo>
                      <a:pt x="16891" y="1463040"/>
                    </a:lnTo>
                    <a:lnTo>
                      <a:pt x="21962490" y="1463040"/>
                    </a:lnTo>
                    <a:lnTo>
                      <a:pt x="21962490" y="1479931"/>
                    </a:lnTo>
                    <a:lnTo>
                      <a:pt x="21945600" y="1479931"/>
                    </a:lnTo>
                    <a:lnTo>
                      <a:pt x="21945600" y="16891"/>
                    </a:lnTo>
                    <a:lnTo>
                      <a:pt x="21962490" y="16891"/>
                    </a:lnTo>
                    <a:lnTo>
                      <a:pt x="21962490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16929" y="33871"/>
              <a:ext cx="21457920" cy="1463040"/>
              <a:chOff x="0" y="0"/>
              <a:chExt cx="21457920" cy="146304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1457920" cy="1463040"/>
              </a:xfrm>
              <a:custGeom>
                <a:avLst/>
                <a:gdLst/>
                <a:ahLst/>
                <a:cxnLst/>
                <a:rect r="r" b="b" t="t" l="l"/>
                <a:pathLst>
                  <a:path h="1463040" w="21457920">
                    <a:moveTo>
                      <a:pt x="0" y="0"/>
                    </a:moveTo>
                    <a:lnTo>
                      <a:pt x="21457920" y="0"/>
                    </a:lnTo>
                    <a:lnTo>
                      <a:pt x="21457920" y="1463040"/>
                    </a:lnTo>
                    <a:lnTo>
                      <a:pt x="0" y="14630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5780" r="0" b="-235780"/>
                </a:stretch>
              </a:blip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21457920" cy="15106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041F5A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Key contribution: </a:t>
                </a:r>
                <a:r>
                  <a:rPr lang="en-US" sz="2799">
                    <a:solidFill>
                      <a:srgbClr val="1A1A1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 unified, consent-aware healthcare platform grounded in Bangladeshi clinical realities with reusable safety-bounded AI patterns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5931517" y="-335474"/>
            <a:ext cx="6424976" cy="1052773"/>
            <a:chOff x="0" y="0"/>
            <a:chExt cx="8566635" cy="1403697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8566635" cy="1403697"/>
              <a:chOff x="0" y="0"/>
              <a:chExt cx="2105545" cy="345007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105545" cy="345007"/>
              </a:xfrm>
              <a:custGeom>
                <a:avLst/>
                <a:gdLst/>
                <a:ahLst/>
                <a:cxnLst/>
                <a:rect r="r" b="b" t="t" l="l"/>
                <a:pathLst>
                  <a:path h="345007" w="2105545">
                    <a:moveTo>
                      <a:pt x="1902345" y="0"/>
                    </a:moveTo>
                    <a:cubicBezTo>
                      <a:pt x="2014569" y="0"/>
                      <a:pt x="2105545" y="77232"/>
                      <a:pt x="2105545" y="172503"/>
                    </a:cubicBezTo>
                    <a:cubicBezTo>
                      <a:pt x="2105545" y="267774"/>
                      <a:pt x="2014569" y="345007"/>
                      <a:pt x="1902345" y="345007"/>
                    </a:cubicBezTo>
                    <a:lnTo>
                      <a:pt x="203200" y="345007"/>
                    </a:lnTo>
                    <a:cubicBezTo>
                      <a:pt x="90976" y="345007"/>
                      <a:pt x="0" y="267774"/>
                      <a:pt x="0" y="172503"/>
                    </a:cubicBezTo>
                    <a:cubicBezTo>
                      <a:pt x="0" y="7723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5F3FF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57150"/>
                <a:ext cx="2105545" cy="402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62" id="62"/>
            <p:cNvSpPr/>
            <p:nvPr/>
          </p:nvSpPr>
          <p:spPr>
            <a:xfrm>
              <a:off x="905818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>
              <a:off x="1726601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2545770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>
              <a:off x="3366553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>
              <a:off x="4187336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>
              <a:off x="5006505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>
              <a:off x="5825674" y="878581"/>
              <a:ext cx="165942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>
              <a:off x="6564547" y="878581"/>
              <a:ext cx="248616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0" id="70"/>
            <p:cNvGrpSpPr/>
            <p:nvPr/>
          </p:nvGrpSpPr>
          <p:grpSpPr>
            <a:xfrm rot="0">
              <a:off x="250977" y="551161"/>
              <a:ext cx="654842" cy="654842"/>
              <a:chOff x="0" y="0"/>
              <a:chExt cx="812800" cy="8128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1071760" y="551161"/>
              <a:ext cx="654842" cy="654842"/>
              <a:chOff x="0" y="0"/>
              <a:chExt cx="812800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892543" y="551161"/>
              <a:ext cx="654842" cy="654842"/>
              <a:chOff x="0" y="0"/>
              <a:chExt cx="812800" cy="8128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2711712" y="551161"/>
              <a:ext cx="654842" cy="654842"/>
              <a:chOff x="0" y="0"/>
              <a:chExt cx="812800" cy="8128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3532495" y="551161"/>
              <a:ext cx="654842" cy="654842"/>
              <a:chOff x="0" y="0"/>
              <a:chExt cx="812800" cy="812800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4353278" y="551161"/>
              <a:ext cx="654842" cy="654842"/>
              <a:chOff x="0" y="0"/>
              <a:chExt cx="812800" cy="81280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5172447" y="551161"/>
              <a:ext cx="654842" cy="654842"/>
              <a:chOff x="0" y="0"/>
              <a:chExt cx="812800" cy="8128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5991616" y="551161"/>
              <a:ext cx="654842" cy="654842"/>
              <a:chOff x="0" y="0"/>
              <a:chExt cx="812800" cy="81280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6813163" y="551161"/>
              <a:ext cx="654842" cy="654842"/>
              <a:chOff x="0" y="0"/>
              <a:chExt cx="812800" cy="81280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7631312" y="551161"/>
              <a:ext cx="654842" cy="654842"/>
              <a:chOff x="0" y="0"/>
              <a:chExt cx="812800" cy="812800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004BF0"/>
                </a:solidFill>
                <a:prstDash val="solid"/>
                <a:miter/>
              </a:ln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19"/>
                  </a:lnSpc>
                </a:pPr>
              </a:p>
            </p:txBody>
          </p:sp>
        </p:grpSp>
        <p:sp>
          <p:nvSpPr>
            <p:cNvPr name="AutoShape 100" id="100"/>
            <p:cNvSpPr/>
            <p:nvPr/>
          </p:nvSpPr>
          <p:spPr>
            <a:xfrm>
              <a:off x="7302063" y="878581"/>
              <a:ext cx="329248" cy="0"/>
            </a:xfrm>
            <a:prstGeom prst="line">
              <a:avLst/>
            </a:prstGeom>
            <a:ln cap="flat" w="40827">
              <a:solidFill>
                <a:srgbClr val="004B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1" id="101"/>
            <p:cNvSpPr txBox="true"/>
            <p:nvPr/>
          </p:nvSpPr>
          <p:spPr>
            <a:xfrm rot="0">
              <a:off x="495302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1326449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212072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295734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379395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  <p:sp>
          <p:nvSpPr>
            <p:cNvPr name="TextBox 106" id="106"/>
            <p:cNvSpPr txBox="true"/>
            <p:nvPr/>
          </p:nvSpPr>
          <p:spPr>
            <a:xfrm rot="0">
              <a:off x="4592465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5429078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  <p:sp>
          <p:nvSpPr>
            <p:cNvPr name="TextBox 108" id="108"/>
            <p:cNvSpPr txBox="true"/>
            <p:nvPr/>
          </p:nvSpPr>
          <p:spPr>
            <a:xfrm rot="0">
              <a:off x="6227590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  <p:sp>
          <p:nvSpPr>
            <p:cNvPr name="TextBox 109" id="109"/>
            <p:cNvSpPr txBox="true"/>
            <p:nvPr/>
          </p:nvSpPr>
          <p:spPr>
            <a:xfrm rot="0">
              <a:off x="7064203" y="638175"/>
              <a:ext cx="18891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0">
              <a:off x="7768339" y="638175"/>
              <a:ext cx="37766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12" id="112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15" id="115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</a:t>
              </a:r>
            </a:p>
          </p:txBody>
        </p:sp>
        <p:sp>
          <p:nvSpPr>
            <p:cNvPr name="TextBox 116" id="116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117" id="117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450330"/>
            <a:chOff x="0" y="0"/>
            <a:chExt cx="21945600" cy="1933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33773"/>
            </a:xfrm>
            <a:custGeom>
              <a:avLst/>
              <a:gdLst/>
              <a:ahLst/>
              <a:cxnLst/>
              <a:rect r="r" b="b" t="t" l="l"/>
              <a:pathLst>
                <a:path h="19337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146" r="0" b="-16210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2076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669799"/>
            <a:ext cx="16484603" cy="25403"/>
            <a:chOff x="0" y="0"/>
            <a:chExt cx="21979471" cy="33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0"/>
              <a:ext cx="21945599" cy="33909"/>
            </a:xfrm>
            <a:custGeom>
              <a:avLst/>
              <a:gdLst/>
              <a:ahLst/>
              <a:cxnLst/>
              <a:rect r="r" b="b" t="t" l="l"/>
              <a:pathLst>
                <a:path h="33909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041F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4971" y="1577340"/>
            <a:ext cx="16093440" cy="7680960"/>
            <a:chOff x="0" y="0"/>
            <a:chExt cx="21457920" cy="10241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241280"/>
                  </a:lnTo>
                  <a:lnTo>
                    <a:pt x="0" y="10241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457920" cy="10307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 WHO, "Global Strategy on Digital Health 2020–2025", 2023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[2] MoHFW Bangladesh, "Health Sector Development Programme", 2022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[6] Esteva et al., "A Guide to Deep Learning in Healthcare", Nature Medicine, 2019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[7] Topol, "High-Performance Medicine", Nature Medicine, 2019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[11] Redmon et al., "You Only Look Once", CVPR, 2016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[12] Microsoft, "Azure AI Document Intelligence",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[13] Ramírez, "FastAPI Documentation",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[14] Vercel, "Next.js Documentation",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[16] Supabase, "Platform Documentation",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[22] Serwist, "Service Worker Framework", 2024</a:t>
              </a:r>
            </a:p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[29] Bangladesh Government, "Digital Security Act", 2018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3275" y="9525875"/>
            <a:ext cx="17716831" cy="761125"/>
            <a:chOff x="0" y="0"/>
            <a:chExt cx="23622441" cy="101483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14833" cy="1014833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 w="66675" cap="sq">
                <a:solidFill>
                  <a:srgbClr val="DBEAFE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97908" y="189916"/>
              <a:ext cx="619018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1095299" y="189916"/>
              <a:ext cx="252714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April, 2026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922428" y="178876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6"/>
                </a:lnTo>
                <a:lnTo>
                  <a:pt x="0" y="118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743200"/>
            <a:ext cx="16459200" cy="2093863"/>
            <a:chOff x="0" y="0"/>
            <a:chExt cx="21945600" cy="2791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791817"/>
            </a:xfrm>
            <a:custGeom>
              <a:avLst/>
              <a:gdLst/>
              <a:ahLst/>
              <a:cxnLst/>
              <a:rect r="r" b="b" t="t" l="l"/>
              <a:pathLst>
                <a:path h="279181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791817"/>
                  </a:lnTo>
                  <a:lnTo>
                    <a:pt x="0" y="2791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95" r="0" b="-9683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09550"/>
              <a:ext cx="21945600" cy="3001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041F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75397" y="4912357"/>
            <a:ext cx="5537197" cy="50797"/>
            <a:chOff x="0" y="0"/>
            <a:chExt cx="7382929" cy="67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3909" y="0"/>
              <a:ext cx="7315200" cy="67691"/>
            </a:xfrm>
            <a:custGeom>
              <a:avLst/>
              <a:gdLst/>
              <a:ahLst/>
              <a:cxnLst/>
              <a:rect r="r" b="b" t="t" l="l"/>
              <a:pathLst>
                <a:path h="6769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5303520"/>
            <a:ext cx="16459200" cy="1097280"/>
            <a:chOff x="0" y="0"/>
            <a:chExt cx="219456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6766560"/>
            <a:ext cx="16459200" cy="1463040"/>
            <a:chOff x="0" y="0"/>
            <a:chExt cx="219456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4560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Sarwad Hasan Siddiqui (2107006)  |  Adiba Tahsin (2107031)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Supervisor: Mr. Kazi Saeid Alam Utsha  |  CSE, KUET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50652" y="1745903"/>
            <a:ext cx="1186696" cy="1186696"/>
          </a:xfrm>
          <a:custGeom>
            <a:avLst/>
            <a:gdLst/>
            <a:ahLst/>
            <a:cxnLst/>
            <a:rect r="r" b="b" t="t" l="l"/>
            <a:pathLst>
              <a:path h="1186696" w="1186696">
                <a:moveTo>
                  <a:pt x="0" y="0"/>
                </a:moveTo>
                <a:lnTo>
                  <a:pt x="1186696" y="0"/>
                </a:lnTo>
                <a:lnTo>
                  <a:pt x="1186696" y="1186695"/>
                </a:lnTo>
                <a:lnTo>
                  <a:pt x="0" y="1186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DAHH7VhSY9s</dc:identifier>
  <dcterms:modified xsi:type="dcterms:W3CDTF">2011-08-01T06:04:30Z</dcterms:modified>
  <cp:revision>1</cp:revision>
  <dc:title>Medora_Presentation.pptx</dc:title>
</cp:coreProperties>
</file>